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70" r:id="rId22"/>
    <p:sldId id="271" r:id="rId23"/>
    <p:sldId id="259" r:id="rId11"/>
    <p:sldId id="260" r:id="rId12"/>
    <p:sldId id="272" r:id="rId24"/>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SPEECH</a:t>
            </a:r>
          </a:p>
          <a:p/>
          <a:p>
            <a:r>
              <a:t>This presentation introduces the design and development of our Unified C-Engine AI accelerator on the AMD ZCU106. The aim is to build a programmable compute platform that can grow over time. Four model integrations are available today: MNIST LeNet-5, ResNet-50, MobileNetV2 and EfficientNet-B0. More models and operators will follow as the compiler and RTL evolve. I will explain the system and engine architecture, the memory hierarchy, and the software flow, then show the implementation evidence and the remaining development milestones. The results are drawn from saved repository artifacts, so each performance claim is tied to its recorded scope.</a:t>
            </a:r>
          </a:p>
          <a:p/>
          <a:p>
            <a:r>
              <a:t>TECHNICAL REFERENCES AND QUALIFICATIONS</a:t>
            </a:r>
          </a:p>
          <a:p/>
          <a:p>
            <a:r>
              <a:t>Scope: a concise project overview based on files in E:/unified, reviewed 2026-10-19. No new FPGA build, simulation, or board execution was performed for this presentation. Raw routed reports and saved execution logs take precedence over summary prose when numbers disagree. Some logs reference source snapshots outside the current checkout; they are recorded results, not a fresh verification of the present files.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SPEECH</a:t>
            </a:r>
          </a:p>
          <a:p/>
          <a:p>
            <a:r>
              <a:t>The project is organized around one reusable, 256-processing-element fabric and two precision builds. Model-specific weights and microcode configure the engine for different workloads. The four current integrations cover digit recognition, residual networks, depthwise convolution and MBConv-style vision processing. The instruction counts on this slide describe the generated programs currently stored in the repository. Support and validation are separate milestones: a model can have a compiler flow while still needing stronger numerical or board validation. The long-term direction is to keep expanding coverage through compiler mappings, operator implementations and a consistent verification process.</a:t>
            </a:r>
          </a:p>
          <a:p/>
          <a:p>
            <a:r>
              <a:t>TECHNICAL REFERENCES AND QUALIFICATIONS</a:t>
            </a:r>
          </a:p>
          <a:p/>
          <a:p>
            <a:r>
              <a:t>Sources: README.md; models/mnist/microcode.json (5 entries), models/resnet50_full/microcode.json (57), models/mobilenetv2/microcode.json (56), models/efficientnetb0/microcode.json (53); model compile.py files; baremetal/src/main.c. Counts describe the JSON files present, not every saved log revision. Model names describe compiler targets; broad model accuracy has not been established by the available single-image results.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SPEECH</a:t>
            </a:r>
          </a:p>
          <a:p/>
          <a:p>
            <a:r>
              <a:t>At the system level, the ARM processor manages the inference job. It prepares configuration, launches transfers and presents the returned predictions. The FPGA programmable logic executes the scheduled neural compute. Images and weights begin in DDR, move through the DMA read path into banked SRAM, and feed the compute array. Post-processing transforms the accumulated results before they return to SRAM. The write DMA then returns the final logits to DDR. Microcode coordinates the layer sequence. This separation provides a reusable accelerator architecture while keeping control and result handling in a familiar baremetal software environment.</a:t>
            </a:r>
          </a:p>
          <a:p/>
          <a:p>
            <a:r>
              <a:t>TECHNICAL REFERENCES AND QUALIFICATIONS</a:t>
            </a:r>
          </a:p>
          <a:p/>
          <a:p>
            <a:r>
              <a:t>Sources: rtl/c_engine_dma_top.v, rtl/c_engine_top.v, rtl/axi_lite_slave.v, rtl/axi4_master_rd.v, rtl/axi4_master_wr.v, rtl/dma_sram_bridge.v, baremetal/src/c_engine_driver.c and main.c. Diagram is a functional overview; controller signals and SRAM return paths are summarized in the data-path caption. PPU means post-processing unit. Main CPU also performs softmax and top-k result presentation, so the broad README phrase "zero neural network math" is not repeated.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SPEECH</a:t>
            </a:r>
          </a:p>
          <a:p/>
          <a:p>
            <a:r>
              <a:t>The compute fabric contains 256 signed multiply–accumulate units arranged as eight rows by thirty-two columns. Each processing element can use local accumulation and horizontal or vertical forwarding, giving the controller several ways to map computation onto the grid. Accumulator precision is wider than input precision: thirty-two bits for the INT8 configuration and forty-eight bits for INT16. After accumulation, the output passes through shift-based requantization, saturation, residual processing and the configured activation or pooling path. The 38.4 GOP/s figure is a theoretical arithmetic ceiling at 75 MHz. Actual model throughput also depends on utilization, scheduling and data movement.</a:t>
            </a:r>
          </a:p>
          <a:p/>
          <a:p>
            <a:r>
              <a:t>TECHNICAL REFERENCES AND QUALIFICATIONS</a:t>
            </a:r>
          </a:p>
          <a:p/>
          <a:p>
            <a:r>
              <a:t>Sources: rtl/processing_element.v (signed multiplier, bias and feedback paths); rtl/c_engine.v (8 by 32 fabric); rtl/requantization_block.v (shift, saturation, residual, activation, stride/pooling); rtl/hw_config_8bit.vh and hw_config_16bit.vh. Peak is calculated as 256 PEs × 75 MHz × 2 operations per MAC = 38.4 GOP/s. This assumes one MAC per PE per cycle and is not measured sustained model throughput.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SPEECH</a:t>
            </a:r>
          </a:p>
          <a:p/>
          <a:p>
            <a:r>
              <a:t>The compiler is what makes the hardware useful across different models. It imports model parameters, folds batch normalization, quantizes the numerical representation and builds a schedule for tensors and operations. The generated outputs include weight binaries, microcode and simulation material. During deployment, JTAG and XSDB load the assets, the ARM driver launches the accelerator, and logits return for display over UART. One evaluation detail matters: the current ImageNet compiler includes a sixty-dimensional classification-head projection calibrated using test imagery. This makes held-out accuracy evaluation an important next step as we expand the platform beyond the current examples.</a:t>
            </a:r>
          </a:p>
          <a:p/>
          <a:p>
            <a:r>
              <a:t>TECHNICAL REFERENCES AND QUALIFICATIONS</a:t>
            </a:r>
          </a:p>
          <a:p/>
          <a:p>
            <a:r>
              <a:t>Sources: models/resnet50_full/compile.py, models/mobilenetv2/compile.py, models/efficientnetb0/compile.py, models/core, scripts/02_compile_models.ps1, scripts/07_deploy_zcu106.ps1, baremetal/scripts/run_xsdb.tcl. Current ResNet compiler lines around 468–529 builds a 60-dimensional target-aligned basis using test-image features and target class weights; this is relevant to interpreting accuracy. A held-out evaluation is required for generalization claims. The flow shown describes intended source behavior and existing artifacts; the saved full-network logs can correspond to other revisions.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SPEECH</a:t>
            </a:r>
          </a:p>
          <a:p/>
          <a:p>
            <a:r>
              <a:t>This slide compares the two memory configurations. INT8 uses sixteen banks and offers about 3.93 megabytes of logical tensor storage. INT16 doubles the row width and uses a smaller depth, giving about 2.10 megabytes. Both configurations provide a separate store for 256 microcode instructions. The lower diagram shows an example allocation from the current ResNet-50 compiler: input and early-stage storage, two alternating intermediate buffers, a residual buffer and a weight staging region. The allocation is part of the compiler contract. As new models and operators are added, their tensor sizes and lifetimes must be checked against these available regions.</a:t>
            </a:r>
          </a:p>
          <a:p/>
          <a:p>
            <a:r>
              <a:t>TECHNICAL REFERENCES AND QUALIFICATIONS</a:t>
            </a:r>
          </a:p>
          <a:p/>
          <a:p>
            <a:r>
              <a:t>Sources: rtl/hw_config_8bit.vh and hw_config_16bit.vh; models/resnet50_full/compile.py constants. INT8 logical capacity = 15360×256 = 3,932,160 bytes. INT16 = 4096×512 = 2,097,152 bytes. The memory bar aggregates rows 0–2099 (input, stage 0, logits at 2000–2003, and gaps), ping 2100–5999, pong 6000–9999, residual 10000–13999, weights 14000–15359. This is a compiler allocation example, not proof of capacity safety for all layer schedules. It differs from the proposed partition in V4 documents. The raw INT8 utilization report also includes 216 BRAM tiles, so zero-BRAM claims are not applicable to that export.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SPEECH</a:t>
            </a:r>
          </a:p>
          <a:p/>
          <a:p>
            <a:r>
              <a:t>The saved routed reports provide the physical baseline for the design. The INT8 export meets timing at approximately 75 MHz with positive setup slack. The INT16 export also meets timing; its actual reported clock is about 68.176 MHz, even though the configuration requests 70 MHz. The resource chart shows that INT8 uses all available UltraRAM blocks, while the INT16 build has a larger logic footprint and a different memory balance. These figures are useful constraints for further development. Any additional operator or larger buffer must be assessed for resource cost and timing impact, and the updated build needs its own routed evidence.</a:t>
            </a:r>
          </a:p>
          <a:p/>
          <a:p>
            <a:r>
              <a:t>TECHNICAL REFERENCES AND QUALIFICATIONS</a:t>
            </a:r>
          </a:p>
          <a:p/>
          <a:p>
            <a:r>
              <a:t>Raw reports: fpga/export/8bit/timing_summary.rpt, dated Oct 15 2026: routed, period 13.334 ns / 74.996 MHz, WNS +0.595 ns, TNS 0, WHS +0.007 ns, all user constraints met. INT16 report dated Oct 13: period 14.668 ns / 68.176 MHz, WNS +0.079 ns, TNS 0, WHS +0.010 ns. INT8 utilization: LUTs 89,379/230,400; FF 56,913/460,800; DSP 518/1,728; URAM 96/96; BRAM 216/312. INT16: LUTs 132,484; FF 88,666; DSP 517; URAM 64; BRAM 0. These are saved exports, not a rebuild of current RTL. The 70 MHz value in configuration and documentation is a requested setting, distinct from the clock in the raw report.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SPEECH</a:t>
            </a:r>
          </a:p>
          <a:p/>
          <a:p>
            <a:r>
              <a:t>The saved INT8 simulation logs contain three completed model runs. MNIST completes its recorded compact-input path with ten matching logits. MobileNetV2 and EfficientNet-B0 record full RGB network paths and zero mismatches against their logged quantized references. Their cycle counts correspond to roughly 5.6 and 7.7 seconds at 75 MHz. These are calculated durations for the recorded compute interval, excluding host setup. The saved ResNet-50 trace reaches 134 million cycles but has no completion marker. It remains part of the supported development scope, with completion of full-network validation still an important milestone. These logs were reviewed, not rerun for this presentation.</a:t>
            </a:r>
          </a:p>
          <a:p/>
          <a:p>
            <a:r>
              <a:t>TECHNICAL REFERENCES AND QUALIFICATIONS</a:t>
            </a:r>
          </a:p>
          <a:p/>
          <a:p>
            <a:r>
              <a:t>Raw evidence: sim/logs/mnist_8bit.log has 322 clock cycles and SIM_E2E_PASS path=raw_8x32_input_all_layers logits_match=10 top1=0. MobileNetV2 has 421020214 cycles, feature mismatches=0/1280, logit mismatches=0/1000 and SIM_E2E_PASS path=raw_rgb_full_network top1=258. EfficientNet-B0 has 575471589 cycles with the same mismatch counts and full-network pass marker. In the saved ResNet log the last progress line is 134000000 cycles, pc=6; no final pass marker was found. Times are cycles/75e6 and FPS are 75e6/cycles; they describe the logged compute interval, excluding host preload/setup, and are not measured wall-clock board latency. Logs dated Oct 18 refer to testbench line numbers/revisions different from the present file; EfficientNet explicitly references E:/unified_xsim_runs_20261018. Values are historical recorded evidence, not same-commit verification. No tests were rerun for this 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SPEECH</a:t>
            </a:r>
          </a:p>
          <a:p/>
          <a:p>
            <a:r>
              <a:t>This example helps explain why we look beyond the pass marker. The dog-image runs report Samoyed as top one. MobileNetV2 has a clear highest logit in this capture. EfficientNet-B0, however, gives three classes the maximum INT8 value of 127, so its top result includes a saturation tie. Agreement with a quantized reference is valuable evidence about execution, but it does not establish general classification accuracy. We need to examine output distributions, fix saturation where appropriate, and evaluate on images that were not used for calibration. That becomes more important as we bring additional models onto the accelerator.</a:t>
            </a:r>
          </a:p>
          <a:p/>
          <a:p>
            <a:r>
              <a:t>TECHNICAL REFERENCES AND QUALIFICATIONS</a:t>
            </a:r>
          </a:p>
          <a:p/>
          <a:p>
            <a:r>
              <a:t>Sources: data/test_images/dog.jpg; sim/logs/mobilenetv2_8bit.log, efficientnetb0_8bit.log. MobileNet Top-5 = [258:90,52:72,904:56,0:53,61:53]. EfficientNet Top-5 = [258:127,350:127,409:127,128:117,146:116]; the tie at INT8 maximum limits interpretation of a top1=258 marker. Zero mismatches means agreement with the logged fixed-point reference, not proof of equivalence to floating-point PyTorch on all images. The current compiler explicitly calibrates a projected head using test-image features. No held-out benchmark accuracy result was located in the reviewed project evidence. This slide intentionally avoids the V4 prose claim of 100% PyTorch bit-exact accuracy.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SPEECH</a:t>
            </a:r>
          </a:p>
          <a:p/>
          <a:p>
            <a:r>
              <a:t>The physical-board capture confirms that the deployment chain can boot the baremetal application, execute the accelerator and read logits back. The saved MNIST run reports 1,685 hardware cycles and approximately 22.46 microseconds. It also contains four tied maximum logits, which means successful execution alone does not close numerical validation. This board run is a separate recorded snapshot from the simulation results. The next acceptance step is to align the bitstream, microcode and model assets, compare the board logits with a fixed-point reference, and repeat the capture for all four current model integrations.</a:t>
            </a:r>
          </a:p>
          <a:p/>
          <a:p>
            <a:r>
              <a:t>TECHNICAL REFERENCES AND QUALIFICATIONS</a:t>
            </a:r>
          </a:p>
          <a:p/>
          <a:p>
            <a:r>
              <a:t>Sources: baremetal/scripts/last_uart_capture.log; fpga/export/8bit and 16bit; baremetal/build/baremetal_c_engine_8bit.elf and 16bit.elf. UART reports MNIST execution with 11 uops at 75 MHz, 1685 cycles, 22.46 us, and logits [127,-128,127,-128,-128,63,127,-128,127,-128]. Four tied maxima are reported with 25% confidence each; top1 Digit 0 alone is not convincing accuracy evidence. The UART memory banner is inconsistent with current config, another reason to treat it as a separate historic run. No board execution was performed for this presentation. A successful execution trace confirms the hardware/software path, not numerical correctness or general model accuracy.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SPEECH</a:t>
            </a:r>
          </a:p>
          <a:p/>
          <a:p>
            <a:r>
              <a:t>The next hardware revision focuses on timing and data movement. A staged global-average-pooling reduction is already present in the reviewed RTL. The V4 documents also describe a larger ping-pong buffering plan and overlapping weight transfers with computation. They propose a 100 MHz operating point and a ResNet-50 throughput budget near 4.9 frames per second. Those numbers should be treated as targets until a matching routed export and complete execution measurements are available. The engineering task is to connect the architectural improvements to a versioned build and demonstrate their effect on real inference performance.</a:t>
            </a:r>
          </a:p>
          <a:p/>
          <a:p>
            <a:r>
              <a:t>TECHNICAL REFERENCES AND QUALIFICATIONS</a:t>
            </a:r>
          </a:p>
          <a:p/>
          <a:p>
            <a:r>
              <a:t>Sources: rtl/c_engine_controller.v around lines 255–283 contains sum_grp_reg[0:7] and spatial_sum/spatial_mean. V4 report and plan claim 100 MHz, +4.120 ns slack and a ~204 ms ResNet budget at 256 PEs. Reviewed exported raw timing reports instead show 74.996 MHz (INT8) and 68.176 MHz (INT16). No matching 100 MHz export was located. V4 proposes buffer boundaries 0/5600/11200/13600, differing from current model compiler. Its 4.90 FPS and complete DDR-overlap assumption are not established by the saved full-network simulation logs. The V4 512-PE alternative and 5.91 FPS are design estimates and are omitted from the main presentation to keep it focused on the implemented 256-PE array.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SPEECH</a:t>
            </a:r>
          </a:p>
          <a:p/>
          <a:p>
            <a:r>
              <a:t>The repository includes a build-to-board workflow rather than only an isolated compute block. The numbered scripts compile model assets, package the accelerator IP, build the FPGA image, build the baremetal runtime, run simulation and deploy to the board. This workflow provides a practical basis for adding further models and operators. Each addition should produce compatible model assets and integrate into the same validation sequence. The command at the bottom is an example of the existing deployment entry point. For a release, we should preserve the exact source version, configuration and generated artifacts alongside its logs so another engineer can reproduce the result.</a:t>
            </a:r>
          </a:p>
          <a:p/>
          <a:p>
            <a:r>
              <a:t>TECHNICAL REFERENCES AND QUALIFICATIONS</a:t>
            </a:r>
          </a:p>
          <a:p/>
          <a:p>
            <a:r>
              <a:t>Sources: scripts/02_compile_models.ps1, 03_package_ip.ps1, 04_build_bitstream.ps1, 05_build_baremetal.ps1, 06_run_simulations.ps1, 07_deploy_zcu106.ps1, reproduce_all.ps1, baremetal/README.md. Toolchain documented as Vivado/Vitis 2023.2 and Python with PyTorch/NumPy/Pillow. Board deployment requires ZCU106, JTAG and UART. Step 01 is cleanup and is intentionally omitted from the run sequence. V4 docs show a -Quick simulation switch, but the reviewed current script does not accept it; the deck does not suggest that command.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SPEECH</a:t>
            </a:r>
          </a:p>
          <a:p/>
          <a:p>
            <a:r>
              <a:t>The development roadmap has two connected goals: increase capability and improve confidence in that capability. Today we have a programmable 256-PE fabric, four model integration flows, several common neural-network operators, dual precision and an integrated toolchain. Next, we plan to bring more models into the compiler and extend the RTL and microcode where additional operators are required. In parallel, we need to complete the outstanding ResNet validation, resolve numerical issues, evaluate held-out accuracy and measure performance on hardware. Each new capability should progress through operator checks, model validation, timing closure and a board demonstration before it becomes a validated release feature.</a:t>
            </a:r>
          </a:p>
          <a:p/>
          <a:p>
            <a:r>
              <a:t>TECHNICAL REFERENCES AND QUALIFICATIONS</a:t>
            </a:r>
          </a:p>
          <a:p/>
          <a:p>
            <a:r>
              <a:t>The priorities are recommendations inferred from repository evidence, not claimed completed work. The current source, generated artifacts and logs do not have a proven common revision. A future release should record source commit, configuration, compiled-model hashes, tool versions, routed timing and resource reports, raw UART logs and accuracy dataset details. No quantitative power result was found in the reviewed evidence; avoid energy-efficiency claims until measured.</a:t>
            </a:r>
          </a:p>
          <a:p>
            <a:r>
              <a:t>User-directed platform positioning: four current model integrations, with further model and operator support planned. No release dates or specific future-model commitments are asserted.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SPEECH</a:t>
            </a:r>
          </a:p>
          <a:p/>
          <a:p>
            <a:r>
              <a:t>This appendix shows where the presentation evidence comes from. The architecture is based on RTL and compiler files. Physical clock and resource figures come from routed reports. Functional outcomes come from saved simulation logs, and the board status comes from the UART capture. The V4 documents are used to explain the development targets. The distinction matters: theoretical peak arithmetic is different from sustained throughput, and a successful example is different from a dataset accuracy result. Detailed source notes remain attached to every slide so the design and results can be followed back to their repository evidence.</a:t>
            </a:r>
          </a:p>
          <a:p/>
          <a:p>
            <a:r>
              <a:t>TECHNICAL REFERENCES AND QUALIFICATIONS</a:t>
            </a:r>
          </a:p>
          <a:p/>
          <a:p>
            <a:r>
              <a:t>This deck was generated from a repository review on 2026-10-19. No external marketing data is used. Summary documentation was compared with source and raw artifacts. Key reconciliations: 128-bit instructions from current headers/compilers rather than older 96-bit descriptions; actual exported clocks 74.996 and 68.176 MHz rather than unverified 100 MHz or rounded 70 MHz claims; INT8 resource counts from raw reports (89379 LUT,56913 FF,518 DSP,96 URAM,216 BRAM); long full-network saved logs instead of 5355-cycle head-only figures; incomplete ResNet log; four tied MNIST board logits; and target-aligned compiler calibration. Sources are local paths relative to the repository root. Artifact provenance is not guaranteed to match current source. The presentation is an evidence-based status summary, not fresh implementation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SPEECH</a:t>
            </a:r>
          </a:p>
          <a:p/>
          <a:p>
            <a:r>
              <a:t>This diagram maps the accelerator onto the actual Vivado system connections. At the top, the ARM processing system sends configuration through its HPM master port and a control SmartConnect to the accelerator's AXI-Lite interface. The accelerator has separate read and write DMA masters. Read data returns from DDR through HP0, while output data travels through HP1 on the write path. The arrows here show payload movement; the DMA requests themselves originate in the FPGA logic. The design shares the PS-generated PL clock, uses the processor-system reset block, and connects the accelerator interrupt back to the PS. These interfaces form the system-level contract for future accelerator extensions.</a:t>
            </a:r>
          </a:p>
          <a:p/>
          <a:p>
            <a:r>
              <a:t>TECHNICAL REFERENCES AND QUALIFICATIONS</a:t>
            </a:r>
          </a:p>
          <a:p/>
          <a:p>
            <a:r>
              <a:t>Primary source: fpga/create_bd.tcl executable commands. PS M_AXI_HPM0_FPD connects via axi_smc_ctrl to s_axi_lite; m0_axi connects via axi_smc_rd to S_AXI_HP0_FPD; m1_axi via axi_smc_wr to S_AXI_HP1_FPD. The diagram arrows show control writes and payload movement, not AXI master/slave transaction direction. The DMA masters are in PL. Control address aperture is 0xA0000000–0xA000FFFF. Both DMA address spaces map a 2 GiB DDR-low aperture, 0x00000000–0x7FFFFFFF; this is distinct from the board physical DDR capacity. pl_clk0 drives accelerator, interconnects, PS AXI clocks and reset synchronizer. pl_resetn0 feeds rst_ps8_0; peripheral_aresetn resets accelerator and SmartConnects. Accelerator interrupt connects to pl_ps_irq0. Some file comments refer to ZCU104 or 125 MHz; the executable default is ZCU106 and 75 MHz. No new implementation run was made.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SPEECH</a:t>
            </a:r>
          </a:p>
          <a:p/>
          <a:p>
            <a:r>
              <a:t>Here we move inside the RTL hierarchy. The outer DMA wrapper contains the AXI-Lite register interface, the read and write masters, and the bridge that maps transfer beats into SRAM banks. Inside the compute core, configuration memory feeds the sequencer. The controller selects operands and controls the processing-element array. Array results pass through the requantization and post-processing unit, which is instantiated inside the controller, before returning to SRAM. Port A is shared through a DMA-versus-controller multiplexer, while Port B serves the compute path. This modular boundary helps us identify what changes when adding an operator: its scheduling, operand steering, arithmetic or post-processing requirements.</a:t>
            </a:r>
          </a:p>
          <a:p/>
          <a:p>
            <a:r>
              <a:t>TECHNICAL REFERENCES AND QUALIFICATIONS</a:t>
            </a:r>
          </a:p>
          <a:p/>
          <a:p>
            <a:r>
              <a:t>Sources: rtl/c_engine_dma_top.v instantiates u_axi_lite, u_master_rd, u_master_wr, u_bridge and u_engine. rtl/c_engine_top.v instantiates u_memory, u_config_mem, u_controller and u_c_engine. Port A is selected by ext_mem_override between bridge/host and controller; Port B is controller-driven. c_engine_controller.v assigns engdata_in from mem_dout_b; GEMV weights come from mem_dout_a, convolution uses its staged weight table; PPU requantization_block instance u_requant belongs to the controller. The diagram summarizes operand paths through controller steering rather than drawing every mux and bus. PPU receives PE results plus residual data and writes back under controller control. GAP reduction is also inside the controller. The dashed arrow shows PE enable and steering controls; additional controller SRAM and DMA handshakes are omitted for legibility. Config words are 128 bits according to active headers despite legacy comments saying 96 bits.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SPEECH</a:t>
            </a:r>
          </a:p>
          <a:p/>
          <a:p>
            <a:r>
              <a:t>The memory hierarchy connects external capacity to local reuse. DDR holds large model assets, input images and returned logits. DMA transfers use sixteen-byte beats, while banked SRAM presents a much wider row to the compute core. The controller stages weights and holds intermediate pooling and output values close to the processing elements. Finally, each PE has local and forwarding registers to retain partial results. This is explicitly managed storage rather than an automatic cache hierarchy. A separate four-kibibyte instruction store controls the schedule. Supporting more models therefore requires both suitable operators and a memory plan that fits the tensor sizes and transfer patterns.</a:t>
            </a:r>
          </a:p>
          <a:p/>
          <a:p>
            <a:r>
              <a:t>TECHNICAL REFERENCES AND QUALIFICATIONS</a:t>
            </a:r>
          </a:p>
          <a:p/>
          <a:p>
            <a:r>
              <a:t>Sources: rtl/hw_config_8bit.vh and hw_config_16bit.vh; rtl/multibank_dualport_mem.v; rtl/processing_element.v; rtl/c_engine_controller.v; rtl/config_mem.v; rtl/dma_sram_bridge.v; baremetal/src/c_engine_regs.h and fpga/create_bd.tcl. Logical SRAM capacities are 15360×256 bytes and 4096×512 bytes. DMA beat width is 128 bits for both precision builds; full SRAM row width is 2048 bits in INT8 and 4096 bits in INT16, corresponding to 16 or 32 bank beats respectively. The drawing describes a functional hierarchy, not a hardware-managed cache. Weight staging and intermediate registers do not have a general cache protocol. Config memory is separate from tensor SRAM and has 256×128 = 32768 bits = 4 KiB logical capacity. External DDR can hold a copy of microcode assets; CPU writes the instruction store via AXI-Lite. Current memory inference requests UltraRAM; the saved INT8 routed build also uses BRAM, so the slide says banked SRAM. PE registers hold local results and forwarded partial sums. The downward flow is conceptual operand movement, not a claim every operation accesses all levels serially. The FPGA address mapping exposes a 2 GiB low DDR aperture, not 4 GiB at the stated address range.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224"/>
        </a:solidFill>
        <a:effectLst/>
      </p:bgPr>
    </p:bg>
    <p:spTree>
      <p:nvGrpSpPr>
        <p:cNvPr id="1" name=""/>
        <p:cNvGrpSpPr/>
        <p:nvPr/>
      </p:nvGrpSpPr>
      <p:grpSpPr/>
      <p:sp>
        <p:nvSpPr>
          <p:cNvPr id="2" name="TextBox 1"/>
          <p:cNvSpPr txBox="1"/>
          <p:nvPr/>
        </p:nvSpPr>
        <p:spPr>
          <a:xfrm>
            <a:off x="502920" y="274320"/>
            <a:ext cx="9144000" cy="210312"/>
          </a:xfrm>
          <a:prstGeom prst="rect">
            <a:avLst/>
          </a:prstGeom>
          <a:noFill/>
        </p:spPr>
        <p:txBody>
          <a:bodyPr wrap="square" lIns="13716" rIns="13716" tIns="0" bIns="0">
            <a:spAutoFit/>
          </a:bodyPr>
          <a:lstStyle/>
          <a:p>
            <a:pPr>
              <a:spcAft>
                <a:spcPts val="500"/>
              </a:spcAft>
              <a:defRPr sz="1000" b="1">
                <a:solidFill>
                  <a:srgbClr val="35DFC3"/>
                </a:solidFill>
                <a:latin typeface="Aptos"/>
              </a:defRPr>
            </a:pPr>
            <a:r>
              <a:t>UNIFIED C-ENGINE / AMD ZCU106</a:t>
            </a:r>
          </a:p>
        </p:txBody>
      </p:sp>
      <p:sp>
        <p:nvSpPr>
          <p:cNvPr id="3" name="TextBox 2"/>
          <p:cNvSpPr txBox="1"/>
          <p:nvPr/>
        </p:nvSpPr>
        <p:spPr>
          <a:xfrm>
            <a:off x="502920" y="713232"/>
            <a:ext cx="11155680" cy="640080"/>
          </a:xfrm>
          <a:prstGeom prst="rect">
            <a:avLst/>
          </a:prstGeom>
          <a:noFill/>
        </p:spPr>
        <p:txBody>
          <a:bodyPr wrap="square" lIns="13716" rIns="13716" tIns="0" bIns="0">
            <a:spAutoFit/>
          </a:bodyPr>
          <a:lstStyle/>
          <a:p>
            <a:pPr>
              <a:spcAft>
                <a:spcPts val="500"/>
              </a:spcAft>
              <a:defRPr sz="3000" b="1">
                <a:solidFill>
                  <a:srgbClr val="FFFFFF"/>
                </a:solidFill>
                <a:latin typeface="Aptos Display"/>
              </a:defRPr>
            </a:pPr>
          </a:p>
        </p:txBody>
      </p:sp>
      <p:sp>
        <p:nvSpPr>
          <p:cNvPr id="4" name="Rectangle 3"/>
          <p:cNvSpPr/>
          <p:nvPr/>
        </p:nvSpPr>
        <p:spPr>
          <a:xfrm>
            <a:off x="502920" y="6455664"/>
            <a:ext cx="11183112" cy="10972"/>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565392"/>
            <a:ext cx="3657600" cy="155448"/>
          </a:xfrm>
          <a:prstGeom prst="rect">
            <a:avLst/>
          </a:prstGeom>
          <a:noFill/>
        </p:spPr>
        <p:txBody>
          <a:bodyPr wrap="square" lIns="13716" rIns="13716" tIns="0" bIns="0">
            <a:spAutoFit/>
          </a:bodyPr>
          <a:lstStyle/>
          <a:p>
            <a:pPr>
              <a:spcAft>
                <a:spcPts val="500"/>
              </a:spcAft>
              <a:defRPr sz="800" b="1">
                <a:solidFill>
                  <a:srgbClr val="A8B7CF"/>
                </a:solidFill>
                <a:latin typeface="Aptos"/>
              </a:defRPr>
            </a:pPr>
            <a:r>
              <a:t>UNIFIED C-ENGINE  /  ZCU106</a:t>
            </a:r>
          </a:p>
        </p:txBody>
      </p:sp>
      <p:sp>
        <p:nvSpPr>
          <p:cNvPr id="6" name="TextBox 5"/>
          <p:cNvSpPr txBox="1"/>
          <p:nvPr/>
        </p:nvSpPr>
        <p:spPr>
          <a:xfrm>
            <a:off x="3657600" y="6556248"/>
            <a:ext cx="6949440" cy="182880"/>
          </a:xfrm>
          <a:prstGeom prst="rect">
            <a:avLst/>
          </a:prstGeom>
          <a:noFill/>
        </p:spPr>
        <p:txBody>
          <a:bodyPr wrap="square" lIns="13716" rIns="13716" tIns="0" bIns="0">
            <a:spAutoFit/>
          </a:bodyPr>
          <a:lstStyle/>
          <a:p>
            <a:pPr algn="r">
              <a:spcAft>
                <a:spcPts val="500"/>
              </a:spcAft>
              <a:defRPr sz="800" b="0">
                <a:solidFill>
                  <a:srgbClr val="A8B7CF"/>
                </a:solidFill>
                <a:latin typeface="Aptos"/>
              </a:defRPr>
            </a:pPr>
            <a:r>
              <a:t>Development snapshot • 19 October 2026</a:t>
            </a:r>
          </a:p>
        </p:txBody>
      </p:sp>
      <p:sp>
        <p:nvSpPr>
          <p:cNvPr id="7" name="TextBox 6"/>
          <p:cNvSpPr txBox="1"/>
          <p:nvPr/>
        </p:nvSpPr>
        <p:spPr>
          <a:xfrm>
            <a:off x="10927080" y="6547104"/>
            <a:ext cx="731520" cy="201168"/>
          </a:xfrm>
          <a:prstGeom prst="rect">
            <a:avLst/>
          </a:prstGeom>
          <a:noFill/>
        </p:spPr>
        <p:txBody>
          <a:bodyPr wrap="square" lIns="13716" rIns="13716" tIns="0" bIns="0">
            <a:spAutoFit/>
          </a:bodyPr>
          <a:lstStyle/>
          <a:p>
            <a:pPr algn="r">
              <a:spcAft>
                <a:spcPts val="500"/>
              </a:spcAft>
              <a:defRPr sz="900" b="0">
                <a:solidFill>
                  <a:srgbClr val="35DFC3"/>
                </a:solidFill>
                <a:latin typeface="Aptos"/>
              </a:defRPr>
            </a:pPr>
            <a:r>
              <a:t>01 / 17</a:t>
            </a:r>
          </a:p>
        </p:txBody>
      </p:sp>
      <p:sp>
        <p:nvSpPr>
          <p:cNvPr id="8" name="TextBox 7"/>
          <p:cNvSpPr txBox="1"/>
          <p:nvPr/>
        </p:nvSpPr>
        <p:spPr>
          <a:xfrm>
            <a:off x="594360" y="1115568"/>
            <a:ext cx="6858000" cy="1645920"/>
          </a:xfrm>
          <a:prstGeom prst="rect">
            <a:avLst/>
          </a:prstGeom>
          <a:noFill/>
        </p:spPr>
        <p:txBody>
          <a:bodyPr wrap="square" lIns="13716" rIns="13716" tIns="0" bIns="0">
            <a:spAutoFit/>
          </a:bodyPr>
          <a:lstStyle/>
          <a:p>
            <a:pPr>
              <a:spcAft>
                <a:spcPts val="500"/>
              </a:spcAft>
              <a:defRPr sz="3900" b="1">
                <a:solidFill>
                  <a:srgbClr val="FFFFFF"/>
                </a:solidFill>
                <a:latin typeface="Aptos Display"/>
              </a:defRPr>
            </a:pPr>
            <a:r>
              <a:t>AI Accelerator</a:t>
            </a:r>
          </a:p>
          <a:p>
            <a:pPr>
              <a:spcAft>
                <a:spcPts val="500"/>
              </a:spcAft>
              <a:defRPr sz="3900" b="1">
                <a:solidFill>
                  <a:srgbClr val="FFFFFF"/>
                </a:solidFill>
                <a:latin typeface="Aptos Display"/>
              </a:defRPr>
            </a:pPr>
            <a:r>
              <a:t>Design &amp; Development</a:t>
            </a:r>
          </a:p>
        </p:txBody>
      </p:sp>
      <p:sp>
        <p:nvSpPr>
          <p:cNvPr id="9" name="TextBox 8"/>
          <p:cNvSpPr txBox="1"/>
          <p:nvPr/>
        </p:nvSpPr>
        <p:spPr>
          <a:xfrm>
            <a:off x="621792" y="2990088"/>
            <a:ext cx="6400800" cy="457200"/>
          </a:xfrm>
          <a:prstGeom prst="rect">
            <a:avLst/>
          </a:prstGeom>
          <a:noFill/>
        </p:spPr>
        <p:txBody>
          <a:bodyPr wrap="square" lIns="13716" rIns="13716" tIns="0" bIns="0">
            <a:spAutoFit/>
          </a:bodyPr>
          <a:lstStyle/>
          <a:p>
            <a:pPr>
              <a:spcAft>
                <a:spcPts val="500"/>
              </a:spcAft>
              <a:defRPr sz="2100" b="1">
                <a:solidFill>
                  <a:srgbClr val="35DFC3"/>
                </a:solidFill>
                <a:latin typeface="Aptos"/>
              </a:defRPr>
            </a:pPr>
            <a:r>
              <a:t>FOUR MODELS TODAY. MORE TO FOLLOW.</a:t>
            </a:r>
          </a:p>
        </p:txBody>
      </p:sp>
      <p:sp>
        <p:nvSpPr>
          <p:cNvPr id="10" name="TextBox 9"/>
          <p:cNvSpPr txBox="1"/>
          <p:nvPr/>
        </p:nvSpPr>
        <p:spPr>
          <a:xfrm>
            <a:off x="621792" y="3611880"/>
            <a:ext cx="6400800" cy="914400"/>
          </a:xfrm>
          <a:prstGeom prst="rect">
            <a:avLst/>
          </a:prstGeom>
          <a:noFill/>
        </p:spPr>
        <p:txBody>
          <a:bodyPr wrap="square" lIns="13716" rIns="13716" tIns="0" bIns="0">
            <a:spAutoFit/>
          </a:bodyPr>
          <a:lstStyle/>
          <a:p>
            <a:pPr>
              <a:spcAft>
                <a:spcPts val="500"/>
              </a:spcAft>
              <a:defRPr sz="2100" b="0">
                <a:solidFill>
                  <a:srgbClr val="A8B7CF"/>
                </a:solidFill>
                <a:latin typeface="Aptos"/>
              </a:defRPr>
            </a:pPr>
            <a:r>
              <a:t>A programmable FPGA compute platform</a:t>
            </a:r>
          </a:p>
          <a:p>
            <a:pPr>
              <a:spcAft>
                <a:spcPts val="500"/>
              </a:spcAft>
              <a:defRPr sz="2100" b="0">
                <a:solidFill>
                  <a:srgbClr val="A8B7CF"/>
                </a:solidFill>
                <a:latin typeface="Aptos"/>
              </a:defRPr>
            </a:pPr>
            <a:r>
              <a:t>with a roadmap for more models and operators.</a:t>
            </a:r>
          </a:p>
        </p:txBody>
      </p:sp>
      <p:sp>
        <p:nvSpPr>
          <p:cNvPr id="11" name="Rounded Rectangle 10"/>
          <p:cNvSpPr/>
          <p:nvPr/>
        </p:nvSpPr>
        <p:spPr>
          <a:xfrm>
            <a:off x="621792" y="4901184"/>
            <a:ext cx="1435608" cy="274320"/>
          </a:xfrm>
          <a:prstGeom prst="roundRect">
            <a:avLst>
              <a:gd name="adj" fmla="val 12000"/>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4937760"/>
            <a:ext cx="1271016" cy="201168"/>
          </a:xfrm>
          <a:prstGeom prst="rect">
            <a:avLst/>
          </a:prstGeom>
          <a:noFill/>
        </p:spPr>
        <p:txBody>
          <a:bodyPr wrap="square" lIns="13716" rIns="13716" tIns="0" bIns="0">
            <a:spAutoFit/>
          </a:bodyPr>
          <a:lstStyle/>
          <a:p>
            <a:pPr>
              <a:spcAft>
                <a:spcPts val="500"/>
              </a:spcAft>
              <a:defRPr sz="1000" b="1">
                <a:solidFill>
                  <a:srgbClr val="35DFC3"/>
                </a:solidFill>
                <a:latin typeface="Aptos"/>
              </a:defRPr>
            </a:pPr>
            <a:r>
              <a:t>ARCHITECTURE</a:t>
            </a:r>
          </a:p>
        </p:txBody>
      </p:sp>
      <p:sp>
        <p:nvSpPr>
          <p:cNvPr id="13" name="Rounded Rectangle 12"/>
          <p:cNvSpPr/>
          <p:nvPr/>
        </p:nvSpPr>
        <p:spPr>
          <a:xfrm>
            <a:off x="2194560" y="4901184"/>
            <a:ext cx="1517904" cy="274320"/>
          </a:xfrm>
          <a:prstGeom prst="roundRect">
            <a:avLst>
              <a:gd name="adj" fmla="val 12000"/>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0" y="4937760"/>
            <a:ext cx="1353312" cy="201168"/>
          </a:xfrm>
          <a:prstGeom prst="rect">
            <a:avLst/>
          </a:prstGeom>
          <a:noFill/>
        </p:spPr>
        <p:txBody>
          <a:bodyPr wrap="square" lIns="13716" rIns="13716" tIns="0" bIns="0">
            <a:spAutoFit/>
          </a:bodyPr>
          <a:lstStyle/>
          <a:p>
            <a:pPr>
              <a:spcAft>
                <a:spcPts val="500"/>
              </a:spcAft>
              <a:defRPr sz="1000" b="1">
                <a:solidFill>
                  <a:srgbClr val="6BA6FF"/>
                </a:solidFill>
                <a:latin typeface="Aptos"/>
              </a:defRPr>
            </a:pPr>
            <a:r>
              <a:t>BUILD RESULTS</a:t>
            </a:r>
          </a:p>
        </p:txBody>
      </p:sp>
      <p:sp>
        <p:nvSpPr>
          <p:cNvPr id="15" name="Rounded Rectangle 14"/>
          <p:cNvSpPr/>
          <p:nvPr/>
        </p:nvSpPr>
        <p:spPr>
          <a:xfrm>
            <a:off x="3858768" y="4901184"/>
            <a:ext cx="1755648" cy="274320"/>
          </a:xfrm>
          <a:prstGeom prst="roundRect">
            <a:avLst>
              <a:gd name="adj" fmla="val 12000"/>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50207" y="4937760"/>
            <a:ext cx="1591056" cy="201168"/>
          </a:xfrm>
          <a:prstGeom prst="rect">
            <a:avLst/>
          </a:prstGeom>
          <a:noFill/>
        </p:spPr>
        <p:txBody>
          <a:bodyPr wrap="square" lIns="13716" rIns="13716" tIns="0" bIns="0">
            <a:spAutoFit/>
          </a:bodyPr>
          <a:lstStyle/>
          <a:p>
            <a:pPr>
              <a:spcAft>
                <a:spcPts val="500"/>
              </a:spcAft>
              <a:defRPr sz="1000" b="1">
                <a:solidFill>
                  <a:srgbClr val="A69AFF"/>
                </a:solidFill>
                <a:latin typeface="Aptos"/>
              </a:defRPr>
            </a:pPr>
            <a:r>
              <a:t>CURRENT STATUS</a:t>
            </a:r>
          </a:p>
        </p:txBody>
      </p:sp>
      <p:sp>
        <p:nvSpPr>
          <p:cNvPr id="17" name="Rounded Rectangle 16"/>
          <p:cNvSpPr/>
          <p:nvPr/>
        </p:nvSpPr>
        <p:spPr>
          <a:xfrm>
            <a:off x="7434072" y="1435608"/>
            <a:ext cx="4160520" cy="3483864"/>
          </a:xfrm>
          <a:prstGeom prst="roundRect">
            <a:avLst>
              <a:gd name="adj" fmla="val 12000"/>
            </a:avLst>
          </a:prstGeom>
          <a:solidFill>
            <a:srgbClr val="1421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26679" y="1682496"/>
            <a:ext cx="3566160" cy="548640"/>
          </a:xfrm>
          <a:prstGeom prst="rect">
            <a:avLst/>
          </a:prstGeom>
          <a:noFill/>
        </p:spPr>
        <p:txBody>
          <a:bodyPr wrap="square" lIns="13716" rIns="13716" tIns="0" bIns="0">
            <a:spAutoFit/>
          </a:bodyPr>
          <a:lstStyle/>
          <a:p>
            <a:pPr>
              <a:spcAft>
                <a:spcPts val="500"/>
              </a:spcAft>
              <a:defRPr sz="3300" b="1">
                <a:solidFill>
                  <a:srgbClr val="FFFFFF"/>
                </a:solidFill>
                <a:latin typeface="Aptos"/>
              </a:defRPr>
            </a:pPr>
            <a:r>
              <a:t>8 × 32</a:t>
            </a:r>
          </a:p>
        </p:txBody>
      </p:sp>
      <p:sp>
        <p:nvSpPr>
          <p:cNvPr id="19" name="TextBox 18"/>
          <p:cNvSpPr txBox="1"/>
          <p:nvPr/>
        </p:nvSpPr>
        <p:spPr>
          <a:xfrm>
            <a:off x="7726679" y="2313432"/>
            <a:ext cx="3566160" cy="274320"/>
          </a:xfrm>
          <a:prstGeom prst="rect">
            <a:avLst/>
          </a:prstGeom>
          <a:noFill/>
        </p:spPr>
        <p:txBody>
          <a:bodyPr wrap="square" lIns="13716" rIns="13716" tIns="0" bIns="0">
            <a:spAutoFit/>
          </a:bodyPr>
          <a:lstStyle/>
          <a:p>
            <a:pPr>
              <a:spcAft>
                <a:spcPts val="500"/>
              </a:spcAft>
              <a:defRPr sz="1100" b="1">
                <a:solidFill>
                  <a:srgbClr val="A8B7CF"/>
                </a:solidFill>
                <a:latin typeface="Aptos"/>
              </a:defRPr>
            </a:pPr>
            <a:r>
              <a:t>SYSTOLIC COMPUTE FABRIC</a:t>
            </a:r>
          </a:p>
        </p:txBody>
      </p:sp>
      <p:sp>
        <p:nvSpPr>
          <p:cNvPr id="20" name="Rectangle 19"/>
          <p:cNvSpPr/>
          <p:nvPr/>
        </p:nvSpPr>
        <p:spPr>
          <a:xfrm>
            <a:off x="7726679" y="2834640"/>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36407" y="2834640"/>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46136" y="2834640"/>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55863" y="2834640"/>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65592" y="2834640"/>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75319" y="2834640"/>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85048" y="2834640"/>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94776" y="2834640"/>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604504" y="2834640"/>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714232" y="2834640"/>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823959" y="2834640"/>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933688" y="2834640"/>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43415" y="2834640"/>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153144" y="2834640"/>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262872" y="2834640"/>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372600" y="2834640"/>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482328" y="2834640"/>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92055" y="2834640"/>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701784" y="2834640"/>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11511" y="2834640"/>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921240" y="2834640"/>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030967" y="2834640"/>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140696" y="2834640"/>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0250424" y="2834640"/>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0360151" y="2834640"/>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0469880" y="2834640"/>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0579608" y="2834640"/>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0689336" y="2834640"/>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799063" y="2834640"/>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0908792" y="2834640"/>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1018519" y="2834640"/>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1128247" y="2834640"/>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726679" y="3008376"/>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7836407" y="3008376"/>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7946136" y="3008376"/>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055863" y="3008376"/>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165592" y="3008376"/>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8275319" y="3008376"/>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8385048" y="3008376"/>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8494776" y="3008376"/>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604504" y="3008376"/>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8714232" y="3008376"/>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8823959" y="3008376"/>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8933688" y="3008376"/>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9043415" y="3008376"/>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9153144" y="3008376"/>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9262872" y="3008376"/>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9372600" y="3008376"/>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9482328" y="3008376"/>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9592055" y="3008376"/>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9701784" y="3008376"/>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9811511" y="3008376"/>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921240" y="3008376"/>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10030967" y="3008376"/>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0140696" y="3008376"/>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0250424" y="3008376"/>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0360151" y="3008376"/>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0469880" y="3008376"/>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0579608" y="3008376"/>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0689336" y="3008376"/>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0799063" y="3008376"/>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0908792" y="3008376"/>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1018519" y="3008376"/>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11128247" y="3008376"/>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7726679" y="3182112"/>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7836407" y="3182112"/>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7946136" y="3182112"/>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8055863" y="3182112"/>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8165592" y="3182112"/>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8275319" y="3182112"/>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8385048" y="3182112"/>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8494776" y="3182112"/>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8604504" y="3182112"/>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8714232" y="3182112"/>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8823959" y="3182112"/>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8933688" y="3182112"/>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9043415" y="3182112"/>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9153144" y="3182112"/>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9262872" y="3182112"/>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9372600" y="3182112"/>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9482328" y="3182112"/>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9592055" y="3182112"/>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9701784" y="3182112"/>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9811511" y="3182112"/>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9921240" y="3182112"/>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0030967" y="3182112"/>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0140696" y="3182112"/>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0250424" y="3182112"/>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0360151" y="3182112"/>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0469880" y="3182112"/>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0579608" y="3182112"/>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0689336" y="3182112"/>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0799063" y="3182112"/>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0908792" y="3182112"/>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1018519" y="3182112"/>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1128247" y="3182112"/>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7726679" y="3355848"/>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7836407" y="3355848"/>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7946136" y="3355848"/>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8055863" y="3355848"/>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8165592" y="3355848"/>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8275319" y="3355848"/>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8385048" y="3355848"/>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8494776" y="3355848"/>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8604504" y="3355848"/>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8714232" y="3355848"/>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8823959" y="3355848"/>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8933688" y="3355848"/>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9043415" y="3355848"/>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9153144" y="3355848"/>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9262872" y="3355848"/>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9372600" y="3355848"/>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9482328" y="3355848"/>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9592055" y="3355848"/>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9701784" y="3355848"/>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9811511" y="3355848"/>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9921240" y="3355848"/>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0030967" y="3355848"/>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10140696" y="3355848"/>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10250424" y="3355848"/>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10360151" y="3355848"/>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0469880" y="3355848"/>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0579608" y="3355848"/>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10689336" y="3355848"/>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10799063" y="3355848"/>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10908792" y="3355848"/>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1018519" y="3355848"/>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11128247" y="3355848"/>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7726679" y="3529584"/>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7836407" y="3529584"/>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7946136" y="3529584"/>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8055863" y="3529584"/>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8165592" y="3529584"/>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8275319" y="3529584"/>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8385048" y="3529584"/>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8494776" y="3529584"/>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8604504" y="3529584"/>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8714232" y="3529584"/>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8823959" y="3529584"/>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8933688" y="3529584"/>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9043415" y="3529584"/>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9153144" y="3529584"/>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9262872" y="3529584"/>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ectangle 162"/>
          <p:cNvSpPr/>
          <p:nvPr/>
        </p:nvSpPr>
        <p:spPr>
          <a:xfrm>
            <a:off x="9372600" y="3529584"/>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9482328" y="3529584"/>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9592055" y="3529584"/>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9701784" y="3529584"/>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Rectangle 166"/>
          <p:cNvSpPr/>
          <p:nvPr/>
        </p:nvSpPr>
        <p:spPr>
          <a:xfrm>
            <a:off x="9811511" y="3529584"/>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ectangle 167"/>
          <p:cNvSpPr/>
          <p:nvPr/>
        </p:nvSpPr>
        <p:spPr>
          <a:xfrm>
            <a:off x="9921240" y="3529584"/>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ectangle 168"/>
          <p:cNvSpPr/>
          <p:nvPr/>
        </p:nvSpPr>
        <p:spPr>
          <a:xfrm>
            <a:off x="10030967" y="3529584"/>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10140696" y="3529584"/>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10250424" y="3529584"/>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ectangle 171"/>
          <p:cNvSpPr/>
          <p:nvPr/>
        </p:nvSpPr>
        <p:spPr>
          <a:xfrm>
            <a:off x="10360151" y="3529584"/>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10469880" y="3529584"/>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10579608" y="3529584"/>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Rectangle 174"/>
          <p:cNvSpPr/>
          <p:nvPr/>
        </p:nvSpPr>
        <p:spPr>
          <a:xfrm>
            <a:off x="10689336" y="3529584"/>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ectangle 175"/>
          <p:cNvSpPr/>
          <p:nvPr/>
        </p:nvSpPr>
        <p:spPr>
          <a:xfrm>
            <a:off x="10799063" y="3529584"/>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ectangle 176"/>
          <p:cNvSpPr/>
          <p:nvPr/>
        </p:nvSpPr>
        <p:spPr>
          <a:xfrm>
            <a:off x="10908792" y="3529584"/>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ectangle 177"/>
          <p:cNvSpPr/>
          <p:nvPr/>
        </p:nvSpPr>
        <p:spPr>
          <a:xfrm>
            <a:off x="11018519" y="3529584"/>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Rectangle 178"/>
          <p:cNvSpPr/>
          <p:nvPr/>
        </p:nvSpPr>
        <p:spPr>
          <a:xfrm>
            <a:off x="11128247" y="3529584"/>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ectangle 179"/>
          <p:cNvSpPr/>
          <p:nvPr/>
        </p:nvSpPr>
        <p:spPr>
          <a:xfrm>
            <a:off x="7726679" y="3703320"/>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ectangle 180"/>
          <p:cNvSpPr/>
          <p:nvPr/>
        </p:nvSpPr>
        <p:spPr>
          <a:xfrm>
            <a:off x="7836407" y="3703320"/>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7946136" y="3703320"/>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Rectangle 182"/>
          <p:cNvSpPr/>
          <p:nvPr/>
        </p:nvSpPr>
        <p:spPr>
          <a:xfrm>
            <a:off x="8055863" y="3703320"/>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Rectangle 183"/>
          <p:cNvSpPr/>
          <p:nvPr/>
        </p:nvSpPr>
        <p:spPr>
          <a:xfrm>
            <a:off x="8165592" y="3703320"/>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Rectangle 184"/>
          <p:cNvSpPr/>
          <p:nvPr/>
        </p:nvSpPr>
        <p:spPr>
          <a:xfrm>
            <a:off x="8275319" y="3703320"/>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8385048" y="3703320"/>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Rectangle 186"/>
          <p:cNvSpPr/>
          <p:nvPr/>
        </p:nvSpPr>
        <p:spPr>
          <a:xfrm>
            <a:off x="8494776" y="3703320"/>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8604504" y="3703320"/>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Rectangle 188"/>
          <p:cNvSpPr/>
          <p:nvPr/>
        </p:nvSpPr>
        <p:spPr>
          <a:xfrm>
            <a:off x="8714232" y="3703320"/>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Rectangle 189"/>
          <p:cNvSpPr/>
          <p:nvPr/>
        </p:nvSpPr>
        <p:spPr>
          <a:xfrm>
            <a:off x="8823959" y="3703320"/>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8933688" y="3703320"/>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Rectangle 191"/>
          <p:cNvSpPr/>
          <p:nvPr/>
        </p:nvSpPr>
        <p:spPr>
          <a:xfrm>
            <a:off x="9043415" y="3703320"/>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Rectangle 192"/>
          <p:cNvSpPr/>
          <p:nvPr/>
        </p:nvSpPr>
        <p:spPr>
          <a:xfrm>
            <a:off x="9153144" y="3703320"/>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Rectangle 193"/>
          <p:cNvSpPr/>
          <p:nvPr/>
        </p:nvSpPr>
        <p:spPr>
          <a:xfrm>
            <a:off x="9262872" y="3703320"/>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Rectangle 194"/>
          <p:cNvSpPr/>
          <p:nvPr/>
        </p:nvSpPr>
        <p:spPr>
          <a:xfrm>
            <a:off x="9372600" y="3703320"/>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ectangle 195"/>
          <p:cNvSpPr/>
          <p:nvPr/>
        </p:nvSpPr>
        <p:spPr>
          <a:xfrm>
            <a:off x="9482328" y="3703320"/>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9592055" y="3703320"/>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9701784" y="3703320"/>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9811511" y="3703320"/>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Rectangle 199"/>
          <p:cNvSpPr/>
          <p:nvPr/>
        </p:nvSpPr>
        <p:spPr>
          <a:xfrm>
            <a:off x="9921240" y="3703320"/>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ectangle 200"/>
          <p:cNvSpPr/>
          <p:nvPr/>
        </p:nvSpPr>
        <p:spPr>
          <a:xfrm>
            <a:off x="10030967" y="3703320"/>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Rectangle 201"/>
          <p:cNvSpPr/>
          <p:nvPr/>
        </p:nvSpPr>
        <p:spPr>
          <a:xfrm>
            <a:off x="10140696" y="3703320"/>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ectangle 202"/>
          <p:cNvSpPr/>
          <p:nvPr/>
        </p:nvSpPr>
        <p:spPr>
          <a:xfrm>
            <a:off x="10250424" y="3703320"/>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ectangle 203"/>
          <p:cNvSpPr/>
          <p:nvPr/>
        </p:nvSpPr>
        <p:spPr>
          <a:xfrm>
            <a:off x="10360151" y="3703320"/>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ectangle 204"/>
          <p:cNvSpPr/>
          <p:nvPr/>
        </p:nvSpPr>
        <p:spPr>
          <a:xfrm>
            <a:off x="10469880" y="3703320"/>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Rectangle 205"/>
          <p:cNvSpPr/>
          <p:nvPr/>
        </p:nvSpPr>
        <p:spPr>
          <a:xfrm>
            <a:off x="10579608" y="3703320"/>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Rectangle 206"/>
          <p:cNvSpPr/>
          <p:nvPr/>
        </p:nvSpPr>
        <p:spPr>
          <a:xfrm>
            <a:off x="10689336" y="3703320"/>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Rectangle 207"/>
          <p:cNvSpPr/>
          <p:nvPr/>
        </p:nvSpPr>
        <p:spPr>
          <a:xfrm>
            <a:off x="10799063" y="3703320"/>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10908792" y="3703320"/>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11018519" y="3703320"/>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Rectangle 210"/>
          <p:cNvSpPr/>
          <p:nvPr/>
        </p:nvSpPr>
        <p:spPr>
          <a:xfrm>
            <a:off x="11128247" y="3703320"/>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Rectangle 211"/>
          <p:cNvSpPr/>
          <p:nvPr/>
        </p:nvSpPr>
        <p:spPr>
          <a:xfrm>
            <a:off x="7726679" y="3877056"/>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Rectangle 212"/>
          <p:cNvSpPr/>
          <p:nvPr/>
        </p:nvSpPr>
        <p:spPr>
          <a:xfrm>
            <a:off x="7836407" y="3877056"/>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Rectangle 213"/>
          <p:cNvSpPr/>
          <p:nvPr/>
        </p:nvSpPr>
        <p:spPr>
          <a:xfrm>
            <a:off x="7946136" y="3877056"/>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Rectangle 214"/>
          <p:cNvSpPr/>
          <p:nvPr/>
        </p:nvSpPr>
        <p:spPr>
          <a:xfrm>
            <a:off x="8055863" y="3877056"/>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Rectangle 215"/>
          <p:cNvSpPr/>
          <p:nvPr/>
        </p:nvSpPr>
        <p:spPr>
          <a:xfrm>
            <a:off x="8165592" y="3877056"/>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Rectangle 216"/>
          <p:cNvSpPr/>
          <p:nvPr/>
        </p:nvSpPr>
        <p:spPr>
          <a:xfrm>
            <a:off x="8275319" y="3877056"/>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Rectangle 217"/>
          <p:cNvSpPr/>
          <p:nvPr/>
        </p:nvSpPr>
        <p:spPr>
          <a:xfrm>
            <a:off x="8385048" y="3877056"/>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Rectangle 218"/>
          <p:cNvSpPr/>
          <p:nvPr/>
        </p:nvSpPr>
        <p:spPr>
          <a:xfrm>
            <a:off x="8494776" y="3877056"/>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8604504" y="3877056"/>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Rectangle 220"/>
          <p:cNvSpPr/>
          <p:nvPr/>
        </p:nvSpPr>
        <p:spPr>
          <a:xfrm>
            <a:off x="8714232" y="3877056"/>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8823959" y="3877056"/>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Rectangle 222"/>
          <p:cNvSpPr/>
          <p:nvPr/>
        </p:nvSpPr>
        <p:spPr>
          <a:xfrm>
            <a:off x="8933688" y="3877056"/>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Rectangle 223"/>
          <p:cNvSpPr/>
          <p:nvPr/>
        </p:nvSpPr>
        <p:spPr>
          <a:xfrm>
            <a:off x="9043415" y="3877056"/>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Rectangle 224"/>
          <p:cNvSpPr/>
          <p:nvPr/>
        </p:nvSpPr>
        <p:spPr>
          <a:xfrm>
            <a:off x="9153144" y="3877056"/>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Rectangle 225"/>
          <p:cNvSpPr/>
          <p:nvPr/>
        </p:nvSpPr>
        <p:spPr>
          <a:xfrm>
            <a:off x="9262872" y="3877056"/>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9372600" y="3877056"/>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9482328" y="3877056"/>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9592055" y="3877056"/>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Rectangle 229"/>
          <p:cNvSpPr/>
          <p:nvPr/>
        </p:nvSpPr>
        <p:spPr>
          <a:xfrm>
            <a:off x="9701784" y="3877056"/>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Rectangle 230"/>
          <p:cNvSpPr/>
          <p:nvPr/>
        </p:nvSpPr>
        <p:spPr>
          <a:xfrm>
            <a:off x="9811511" y="3877056"/>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9921240" y="3877056"/>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10030967" y="3877056"/>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ectangle 233"/>
          <p:cNvSpPr/>
          <p:nvPr/>
        </p:nvSpPr>
        <p:spPr>
          <a:xfrm>
            <a:off x="10140696" y="3877056"/>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Rectangle 234"/>
          <p:cNvSpPr/>
          <p:nvPr/>
        </p:nvSpPr>
        <p:spPr>
          <a:xfrm>
            <a:off x="10250424" y="3877056"/>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Rectangle 235"/>
          <p:cNvSpPr/>
          <p:nvPr/>
        </p:nvSpPr>
        <p:spPr>
          <a:xfrm>
            <a:off x="10360151" y="3877056"/>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10469880" y="3877056"/>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10579608" y="3877056"/>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ectangle 238"/>
          <p:cNvSpPr/>
          <p:nvPr/>
        </p:nvSpPr>
        <p:spPr>
          <a:xfrm>
            <a:off x="10689336" y="3877056"/>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Rectangle 239"/>
          <p:cNvSpPr/>
          <p:nvPr/>
        </p:nvSpPr>
        <p:spPr>
          <a:xfrm>
            <a:off x="10799063" y="3877056"/>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Rectangle 240"/>
          <p:cNvSpPr/>
          <p:nvPr/>
        </p:nvSpPr>
        <p:spPr>
          <a:xfrm>
            <a:off x="10908792" y="3877056"/>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ectangle 241"/>
          <p:cNvSpPr/>
          <p:nvPr/>
        </p:nvSpPr>
        <p:spPr>
          <a:xfrm>
            <a:off x="11018519" y="3877056"/>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Rectangle 242"/>
          <p:cNvSpPr/>
          <p:nvPr/>
        </p:nvSpPr>
        <p:spPr>
          <a:xfrm>
            <a:off x="11128247" y="3877056"/>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ectangle 243"/>
          <p:cNvSpPr/>
          <p:nvPr/>
        </p:nvSpPr>
        <p:spPr>
          <a:xfrm>
            <a:off x="7726679" y="4050791"/>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Rectangle 244"/>
          <p:cNvSpPr/>
          <p:nvPr/>
        </p:nvSpPr>
        <p:spPr>
          <a:xfrm>
            <a:off x="7836407" y="4050791"/>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Rectangle 245"/>
          <p:cNvSpPr/>
          <p:nvPr/>
        </p:nvSpPr>
        <p:spPr>
          <a:xfrm>
            <a:off x="7946136" y="4050791"/>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8055863" y="4050791"/>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Rectangle 247"/>
          <p:cNvSpPr/>
          <p:nvPr/>
        </p:nvSpPr>
        <p:spPr>
          <a:xfrm>
            <a:off x="8165592" y="4050791"/>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Rectangle 248"/>
          <p:cNvSpPr/>
          <p:nvPr/>
        </p:nvSpPr>
        <p:spPr>
          <a:xfrm>
            <a:off x="8275319" y="4050791"/>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8385048" y="4050791"/>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Rectangle 250"/>
          <p:cNvSpPr/>
          <p:nvPr/>
        </p:nvSpPr>
        <p:spPr>
          <a:xfrm>
            <a:off x="8494776" y="4050791"/>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8604504" y="4050791"/>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ectangle 252"/>
          <p:cNvSpPr/>
          <p:nvPr/>
        </p:nvSpPr>
        <p:spPr>
          <a:xfrm>
            <a:off x="8714232" y="4050791"/>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ectangle 253"/>
          <p:cNvSpPr/>
          <p:nvPr/>
        </p:nvSpPr>
        <p:spPr>
          <a:xfrm>
            <a:off x="8823959" y="4050791"/>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Rectangle 254"/>
          <p:cNvSpPr/>
          <p:nvPr/>
        </p:nvSpPr>
        <p:spPr>
          <a:xfrm>
            <a:off x="8933688" y="4050791"/>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Rectangle 255"/>
          <p:cNvSpPr/>
          <p:nvPr/>
        </p:nvSpPr>
        <p:spPr>
          <a:xfrm>
            <a:off x="9043415" y="4050791"/>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Rectangle 256"/>
          <p:cNvSpPr/>
          <p:nvPr/>
        </p:nvSpPr>
        <p:spPr>
          <a:xfrm>
            <a:off x="9153144" y="4050791"/>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9262872" y="4050791"/>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Rectangle 258"/>
          <p:cNvSpPr/>
          <p:nvPr/>
        </p:nvSpPr>
        <p:spPr>
          <a:xfrm>
            <a:off x="9372600" y="4050791"/>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Rectangle 259"/>
          <p:cNvSpPr/>
          <p:nvPr/>
        </p:nvSpPr>
        <p:spPr>
          <a:xfrm>
            <a:off x="9482328" y="4050791"/>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Rectangle 260"/>
          <p:cNvSpPr/>
          <p:nvPr/>
        </p:nvSpPr>
        <p:spPr>
          <a:xfrm>
            <a:off x="9592055" y="4050791"/>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Rectangle 261"/>
          <p:cNvSpPr/>
          <p:nvPr/>
        </p:nvSpPr>
        <p:spPr>
          <a:xfrm>
            <a:off x="9701784" y="4050791"/>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9811511" y="4050791"/>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Rectangle 263"/>
          <p:cNvSpPr/>
          <p:nvPr/>
        </p:nvSpPr>
        <p:spPr>
          <a:xfrm>
            <a:off x="9921240" y="4050791"/>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Rectangle 264"/>
          <p:cNvSpPr/>
          <p:nvPr/>
        </p:nvSpPr>
        <p:spPr>
          <a:xfrm>
            <a:off x="10030967" y="4050791"/>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Rectangle 265"/>
          <p:cNvSpPr/>
          <p:nvPr/>
        </p:nvSpPr>
        <p:spPr>
          <a:xfrm>
            <a:off x="10140696" y="4050791"/>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Rectangle 266"/>
          <p:cNvSpPr/>
          <p:nvPr/>
        </p:nvSpPr>
        <p:spPr>
          <a:xfrm>
            <a:off x="10250424" y="4050791"/>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Rectangle 267"/>
          <p:cNvSpPr/>
          <p:nvPr/>
        </p:nvSpPr>
        <p:spPr>
          <a:xfrm>
            <a:off x="10360151" y="4050791"/>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10469880" y="4050791"/>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Rectangle 269"/>
          <p:cNvSpPr/>
          <p:nvPr/>
        </p:nvSpPr>
        <p:spPr>
          <a:xfrm>
            <a:off x="10579608" y="4050791"/>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Rectangle 270"/>
          <p:cNvSpPr/>
          <p:nvPr/>
        </p:nvSpPr>
        <p:spPr>
          <a:xfrm>
            <a:off x="10689336" y="4050791"/>
            <a:ext cx="77724" cy="109728"/>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Rectangle 271"/>
          <p:cNvSpPr/>
          <p:nvPr/>
        </p:nvSpPr>
        <p:spPr>
          <a:xfrm>
            <a:off x="10799063" y="4050791"/>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Rectangle 272"/>
          <p:cNvSpPr/>
          <p:nvPr/>
        </p:nvSpPr>
        <p:spPr>
          <a:xfrm>
            <a:off x="10908792" y="4050791"/>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Rectangle 273"/>
          <p:cNvSpPr/>
          <p:nvPr/>
        </p:nvSpPr>
        <p:spPr>
          <a:xfrm>
            <a:off x="11018519" y="4050791"/>
            <a:ext cx="77724" cy="10972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Rectangle 274"/>
          <p:cNvSpPr/>
          <p:nvPr/>
        </p:nvSpPr>
        <p:spPr>
          <a:xfrm>
            <a:off x="11128247" y="4050791"/>
            <a:ext cx="77724" cy="109728"/>
          </a:xfrm>
          <a:prstGeom prst="rect">
            <a:avLst/>
          </a:prstGeom>
          <a:solidFill>
            <a:srgbClr val="4385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TextBox 275"/>
          <p:cNvSpPr txBox="1"/>
          <p:nvPr/>
        </p:nvSpPr>
        <p:spPr>
          <a:xfrm>
            <a:off x="7726679" y="4507992"/>
            <a:ext cx="3657600" cy="201168"/>
          </a:xfrm>
          <a:prstGeom prst="rect">
            <a:avLst/>
          </a:prstGeom>
          <a:noFill/>
        </p:spPr>
        <p:txBody>
          <a:bodyPr wrap="square" lIns="13716" rIns="13716" tIns="0" bIns="0">
            <a:spAutoFit/>
          </a:bodyPr>
          <a:lstStyle/>
          <a:p>
            <a:pPr>
              <a:spcAft>
                <a:spcPts val="500"/>
              </a:spcAft>
              <a:defRPr sz="1000" b="1">
                <a:solidFill>
                  <a:srgbClr val="A8B7CF"/>
                </a:solidFill>
                <a:latin typeface="Aptos"/>
              </a:defRPr>
            </a:pPr>
            <a:r>
              <a:t>INT8 / INT16  ·  MICROCODE CONTROL</a:t>
            </a:r>
          </a:p>
        </p:txBody>
      </p:sp>
      <p:sp>
        <p:nvSpPr>
          <p:cNvPr id="277" name="TextBox 276"/>
          <p:cNvSpPr txBox="1"/>
          <p:nvPr/>
        </p:nvSpPr>
        <p:spPr>
          <a:xfrm>
            <a:off x="621792" y="5605272"/>
            <a:ext cx="9144000" cy="548640"/>
          </a:xfrm>
          <a:prstGeom prst="rect">
            <a:avLst/>
          </a:prstGeom>
          <a:noFill/>
        </p:spPr>
        <p:txBody>
          <a:bodyPr wrap="square" lIns="13716" rIns="13716" tIns="0" bIns="0">
            <a:spAutoFit/>
          </a:bodyPr>
          <a:lstStyle/>
          <a:p>
            <a:pPr>
              <a:spcAft>
                <a:spcPts val="500"/>
              </a:spcAft>
              <a:defRPr sz="1400" b="0">
                <a:solidFill>
                  <a:srgbClr val="A8B7CF"/>
                </a:solidFill>
                <a:latin typeface="Aptos"/>
              </a:defRPr>
            </a:pPr>
            <a:r>
              <a:t>RTL architecture • memory hierarchy • FPGA integration</a:t>
            </a:r>
          </a:p>
          <a:p>
            <a:pPr>
              <a:spcAft>
                <a:spcPts val="500"/>
              </a:spcAft>
              <a:defRPr sz="1400" b="0">
                <a:solidFill>
                  <a:srgbClr val="A8B7CF"/>
                </a:solidFill>
                <a:latin typeface="Aptos"/>
              </a:defRPr>
            </a:pPr>
            <a:r>
              <a:t>Implementation results and the development roadmap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6FA"/>
        </a:solidFill>
        <a:effectLst/>
      </p:bgPr>
    </p:bg>
    <p:spTree>
      <p:nvGrpSpPr>
        <p:cNvPr id="1" name=""/>
        <p:cNvGrpSpPr/>
        <p:nvPr/>
      </p:nvGrpSpPr>
      <p:grpSpPr/>
      <p:sp>
        <p:nvSpPr>
          <p:cNvPr id="2" name="TextBox 1"/>
          <p:cNvSpPr txBox="1"/>
          <p:nvPr/>
        </p:nvSpPr>
        <p:spPr>
          <a:xfrm>
            <a:off x="502920" y="274320"/>
            <a:ext cx="9144000" cy="210312"/>
          </a:xfrm>
          <a:prstGeom prst="rect">
            <a:avLst/>
          </a:prstGeom>
          <a:noFill/>
        </p:spPr>
        <p:txBody>
          <a:bodyPr wrap="square" lIns="13716" rIns="13716" tIns="0" bIns="0">
            <a:spAutoFit/>
          </a:bodyPr>
          <a:lstStyle/>
          <a:p>
            <a:pPr>
              <a:spcAft>
                <a:spcPts val="500"/>
              </a:spcAft>
              <a:defRPr sz="1000" b="1">
                <a:solidFill>
                  <a:srgbClr val="586980"/>
                </a:solidFill>
                <a:latin typeface="Aptos"/>
              </a:defRPr>
            </a:pPr>
            <a:r>
              <a:t>PLATFORM SCOPE</a:t>
            </a:r>
          </a:p>
        </p:txBody>
      </p:sp>
      <p:sp>
        <p:nvSpPr>
          <p:cNvPr id="3" name="TextBox 2"/>
          <p:cNvSpPr txBox="1"/>
          <p:nvPr/>
        </p:nvSpPr>
        <p:spPr>
          <a:xfrm>
            <a:off x="502920" y="713232"/>
            <a:ext cx="11155680" cy="640080"/>
          </a:xfrm>
          <a:prstGeom prst="rect">
            <a:avLst/>
          </a:prstGeom>
          <a:noFill/>
        </p:spPr>
        <p:txBody>
          <a:bodyPr wrap="square" lIns="13716" rIns="13716" tIns="0" bIns="0">
            <a:spAutoFit/>
          </a:bodyPr>
          <a:lstStyle/>
          <a:p>
            <a:pPr>
              <a:spcAft>
                <a:spcPts val="500"/>
              </a:spcAft>
              <a:defRPr sz="3000" b="1">
                <a:solidFill>
                  <a:srgbClr val="15233B"/>
                </a:solidFill>
                <a:latin typeface="Aptos Display"/>
              </a:defRPr>
            </a:pPr>
            <a:r>
              <a:t>An AI accelerator platform with four model integrations</a:t>
            </a:r>
          </a:p>
        </p:txBody>
      </p:sp>
      <p:sp>
        <p:nvSpPr>
          <p:cNvPr id="4" name="TextBox 3"/>
          <p:cNvSpPr txBox="1"/>
          <p:nvPr/>
        </p:nvSpPr>
        <p:spPr>
          <a:xfrm>
            <a:off x="512064" y="1426464"/>
            <a:ext cx="11109960" cy="502920"/>
          </a:xfrm>
          <a:prstGeom prst="rect">
            <a:avLst/>
          </a:prstGeom>
          <a:noFill/>
        </p:spPr>
        <p:txBody>
          <a:bodyPr wrap="square" lIns="13716" rIns="13716" tIns="0" bIns="0">
            <a:spAutoFit/>
          </a:bodyPr>
          <a:lstStyle/>
          <a:p>
            <a:pPr>
              <a:spcAft>
                <a:spcPts val="500"/>
              </a:spcAft>
              <a:defRPr sz="1400" b="0">
                <a:solidFill>
                  <a:srgbClr val="586980"/>
                </a:solidFill>
                <a:latin typeface="Aptos"/>
              </a:defRPr>
            </a:pPr>
            <a:r>
              <a:t>Current model support spans digit recognition and ImageNet vision workloads; validation maturity varies by model.</a:t>
            </a:r>
          </a:p>
        </p:txBody>
      </p:sp>
      <p:sp>
        <p:nvSpPr>
          <p:cNvPr id="5" name="Rectangle 4"/>
          <p:cNvSpPr/>
          <p:nvPr/>
        </p:nvSpPr>
        <p:spPr>
          <a:xfrm>
            <a:off x="502920" y="6455664"/>
            <a:ext cx="11183112" cy="10972"/>
          </a:xfrm>
          <a:prstGeom prst="rect">
            <a:avLst/>
          </a:prstGeom>
          <a:solidFill>
            <a:srgbClr val="DCE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3657600" cy="155448"/>
          </a:xfrm>
          <a:prstGeom prst="rect">
            <a:avLst/>
          </a:prstGeom>
          <a:noFill/>
        </p:spPr>
        <p:txBody>
          <a:bodyPr wrap="square" lIns="13716" rIns="13716" tIns="0" bIns="0">
            <a:spAutoFit/>
          </a:bodyPr>
          <a:lstStyle/>
          <a:p>
            <a:pPr>
              <a:spcAft>
                <a:spcPts val="500"/>
              </a:spcAft>
              <a:defRPr sz="800" b="1">
                <a:solidFill>
                  <a:srgbClr val="586980"/>
                </a:solidFill>
                <a:latin typeface="Aptos"/>
              </a:defRPr>
            </a:pPr>
            <a:r>
              <a:t>UNIFIED C-ENGINE  /  ZCU106</a:t>
            </a:r>
          </a:p>
        </p:txBody>
      </p:sp>
      <p:sp>
        <p:nvSpPr>
          <p:cNvPr id="7" name="TextBox 6"/>
          <p:cNvSpPr txBox="1"/>
          <p:nvPr/>
        </p:nvSpPr>
        <p:spPr>
          <a:xfrm>
            <a:off x="3657600" y="6556248"/>
            <a:ext cx="6949440" cy="182880"/>
          </a:xfrm>
          <a:prstGeom prst="rect">
            <a:avLst/>
          </a:prstGeom>
          <a:noFill/>
        </p:spPr>
        <p:txBody>
          <a:bodyPr wrap="square" lIns="13716" rIns="13716" tIns="0" bIns="0">
            <a:spAutoFit/>
          </a:bodyPr>
          <a:lstStyle/>
          <a:p>
            <a:pPr algn="r">
              <a:spcAft>
                <a:spcPts val="500"/>
              </a:spcAft>
              <a:defRPr sz="800" b="0">
                <a:solidFill>
                  <a:srgbClr val="586980"/>
                </a:solidFill>
                <a:latin typeface="Aptos"/>
              </a:defRPr>
            </a:pPr>
            <a:r>
              <a:t>README.md • models/*/compile.py • baremetal/src/main.c</a:t>
            </a:r>
          </a:p>
        </p:txBody>
      </p:sp>
      <p:sp>
        <p:nvSpPr>
          <p:cNvPr id="8" name="TextBox 7"/>
          <p:cNvSpPr txBox="1"/>
          <p:nvPr/>
        </p:nvSpPr>
        <p:spPr>
          <a:xfrm>
            <a:off x="10927080" y="6547104"/>
            <a:ext cx="731520" cy="201168"/>
          </a:xfrm>
          <a:prstGeom prst="rect">
            <a:avLst/>
          </a:prstGeom>
          <a:noFill/>
        </p:spPr>
        <p:txBody>
          <a:bodyPr wrap="square" lIns="13716" rIns="13716" tIns="0" bIns="0">
            <a:spAutoFit/>
          </a:bodyPr>
          <a:lstStyle/>
          <a:p>
            <a:pPr algn="r">
              <a:spcAft>
                <a:spcPts val="500"/>
              </a:spcAft>
              <a:defRPr sz="900" b="0">
                <a:solidFill>
                  <a:srgbClr val="586980"/>
                </a:solidFill>
                <a:latin typeface="Aptos"/>
              </a:defRPr>
            </a:pPr>
            <a:r>
              <a:t>02 / 17</a:t>
            </a:r>
          </a:p>
        </p:txBody>
      </p:sp>
      <p:sp>
        <p:nvSpPr>
          <p:cNvPr id="9" name="Rounded Rectangle 8"/>
          <p:cNvSpPr/>
          <p:nvPr/>
        </p:nvSpPr>
        <p:spPr>
          <a:xfrm>
            <a:off x="502920" y="2011680"/>
            <a:ext cx="2596896" cy="10058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103120"/>
            <a:ext cx="2231136" cy="502920"/>
          </a:xfrm>
          <a:prstGeom prst="rect">
            <a:avLst/>
          </a:prstGeom>
          <a:noFill/>
        </p:spPr>
        <p:txBody>
          <a:bodyPr wrap="square" lIns="13716" rIns="13716" tIns="0" bIns="0">
            <a:spAutoFit/>
          </a:bodyPr>
          <a:lstStyle/>
          <a:p>
            <a:pPr>
              <a:spcAft>
                <a:spcPts val="500"/>
              </a:spcAft>
              <a:defRPr sz="3100" b="1">
                <a:solidFill>
                  <a:srgbClr val="35DFC3"/>
                </a:solidFill>
                <a:latin typeface="Aptos Display"/>
              </a:defRPr>
            </a:pPr>
            <a:r>
              <a:t>256</a:t>
            </a:r>
          </a:p>
        </p:txBody>
      </p:sp>
      <p:sp>
        <p:nvSpPr>
          <p:cNvPr id="11" name="TextBox 10"/>
          <p:cNvSpPr txBox="1"/>
          <p:nvPr/>
        </p:nvSpPr>
        <p:spPr>
          <a:xfrm>
            <a:off x="685800" y="2697480"/>
            <a:ext cx="2231136" cy="228600"/>
          </a:xfrm>
          <a:prstGeom prst="rect">
            <a:avLst/>
          </a:prstGeom>
          <a:noFill/>
        </p:spPr>
        <p:txBody>
          <a:bodyPr wrap="square" lIns="13716" rIns="13716" tIns="0" bIns="0">
            <a:spAutoFit/>
          </a:bodyPr>
          <a:lstStyle/>
          <a:p>
            <a:pPr>
              <a:spcAft>
                <a:spcPts val="500"/>
              </a:spcAft>
              <a:defRPr sz="1100" b="0">
                <a:solidFill>
                  <a:srgbClr val="586980"/>
                </a:solidFill>
                <a:latin typeface="Aptos"/>
              </a:defRPr>
            </a:pPr>
            <a:r>
              <a:t>processing elements</a:t>
            </a:r>
          </a:p>
        </p:txBody>
      </p:sp>
      <p:sp>
        <p:nvSpPr>
          <p:cNvPr id="12" name="Rounded Rectangle 11"/>
          <p:cNvSpPr/>
          <p:nvPr/>
        </p:nvSpPr>
        <p:spPr>
          <a:xfrm>
            <a:off x="3364992" y="2011680"/>
            <a:ext cx="2596896" cy="10058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47872" y="2103120"/>
            <a:ext cx="2231136" cy="502920"/>
          </a:xfrm>
          <a:prstGeom prst="rect">
            <a:avLst/>
          </a:prstGeom>
          <a:noFill/>
        </p:spPr>
        <p:txBody>
          <a:bodyPr wrap="square" lIns="13716" rIns="13716" tIns="0" bIns="0">
            <a:spAutoFit/>
          </a:bodyPr>
          <a:lstStyle/>
          <a:p>
            <a:pPr>
              <a:spcAft>
                <a:spcPts val="500"/>
              </a:spcAft>
              <a:defRPr sz="3100" b="1">
                <a:solidFill>
                  <a:srgbClr val="6BA6FF"/>
                </a:solidFill>
                <a:latin typeface="Aptos Display"/>
              </a:defRPr>
            </a:pPr>
            <a:r>
              <a:t>4</a:t>
            </a:r>
          </a:p>
        </p:txBody>
      </p:sp>
      <p:sp>
        <p:nvSpPr>
          <p:cNvPr id="14" name="TextBox 13"/>
          <p:cNvSpPr txBox="1"/>
          <p:nvPr/>
        </p:nvSpPr>
        <p:spPr>
          <a:xfrm>
            <a:off x="3547872" y="2697480"/>
            <a:ext cx="2231136" cy="228600"/>
          </a:xfrm>
          <a:prstGeom prst="rect">
            <a:avLst/>
          </a:prstGeom>
          <a:noFill/>
        </p:spPr>
        <p:txBody>
          <a:bodyPr wrap="square" lIns="13716" rIns="13716" tIns="0" bIns="0">
            <a:spAutoFit/>
          </a:bodyPr>
          <a:lstStyle/>
          <a:p>
            <a:pPr>
              <a:spcAft>
                <a:spcPts val="500"/>
              </a:spcAft>
              <a:defRPr sz="1100" b="0">
                <a:solidFill>
                  <a:srgbClr val="586980"/>
                </a:solidFill>
                <a:latin typeface="Aptos"/>
              </a:defRPr>
            </a:pPr>
            <a:r>
              <a:t>model compiler flows</a:t>
            </a:r>
          </a:p>
        </p:txBody>
      </p:sp>
      <p:sp>
        <p:nvSpPr>
          <p:cNvPr id="15" name="Rounded Rectangle 14"/>
          <p:cNvSpPr/>
          <p:nvPr/>
        </p:nvSpPr>
        <p:spPr>
          <a:xfrm>
            <a:off x="6227064" y="2011680"/>
            <a:ext cx="2596896" cy="10058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9944" y="2103120"/>
            <a:ext cx="2231136" cy="502920"/>
          </a:xfrm>
          <a:prstGeom prst="rect">
            <a:avLst/>
          </a:prstGeom>
          <a:noFill/>
        </p:spPr>
        <p:txBody>
          <a:bodyPr wrap="square" lIns="13716" rIns="13716" tIns="0" bIns="0">
            <a:spAutoFit/>
          </a:bodyPr>
          <a:lstStyle/>
          <a:p>
            <a:pPr>
              <a:spcAft>
                <a:spcPts val="500"/>
              </a:spcAft>
              <a:defRPr sz="3100" b="1">
                <a:solidFill>
                  <a:srgbClr val="A69AFF"/>
                </a:solidFill>
                <a:latin typeface="Aptos Display"/>
              </a:defRPr>
            </a:pPr>
            <a:r>
              <a:t>2</a:t>
            </a:r>
          </a:p>
        </p:txBody>
      </p:sp>
      <p:sp>
        <p:nvSpPr>
          <p:cNvPr id="17" name="TextBox 16"/>
          <p:cNvSpPr txBox="1"/>
          <p:nvPr/>
        </p:nvSpPr>
        <p:spPr>
          <a:xfrm>
            <a:off x="6409944" y="2697480"/>
            <a:ext cx="2231136" cy="228600"/>
          </a:xfrm>
          <a:prstGeom prst="rect">
            <a:avLst/>
          </a:prstGeom>
          <a:noFill/>
        </p:spPr>
        <p:txBody>
          <a:bodyPr wrap="square" lIns="13716" rIns="13716" tIns="0" bIns="0">
            <a:spAutoFit/>
          </a:bodyPr>
          <a:lstStyle/>
          <a:p>
            <a:pPr>
              <a:spcAft>
                <a:spcPts val="500"/>
              </a:spcAft>
              <a:defRPr sz="1100" b="0">
                <a:solidFill>
                  <a:srgbClr val="586980"/>
                </a:solidFill>
                <a:latin typeface="Aptos"/>
              </a:defRPr>
            </a:pPr>
            <a:r>
              <a:t>precision builds</a:t>
            </a:r>
          </a:p>
        </p:txBody>
      </p:sp>
      <p:sp>
        <p:nvSpPr>
          <p:cNvPr id="18" name="Rounded Rectangle 17"/>
          <p:cNvSpPr/>
          <p:nvPr/>
        </p:nvSpPr>
        <p:spPr>
          <a:xfrm>
            <a:off x="9089136" y="2011680"/>
            <a:ext cx="2596896" cy="10058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72015" y="2103120"/>
            <a:ext cx="2231136" cy="502920"/>
          </a:xfrm>
          <a:prstGeom prst="rect">
            <a:avLst/>
          </a:prstGeom>
          <a:noFill/>
        </p:spPr>
        <p:txBody>
          <a:bodyPr wrap="square" lIns="13716" rIns="13716" tIns="0" bIns="0">
            <a:spAutoFit/>
          </a:bodyPr>
          <a:lstStyle/>
          <a:p>
            <a:pPr>
              <a:spcAft>
                <a:spcPts val="500"/>
              </a:spcAft>
              <a:defRPr sz="3100" b="1">
                <a:solidFill>
                  <a:srgbClr val="FFC66D"/>
                </a:solidFill>
                <a:latin typeface="Aptos Display"/>
              </a:defRPr>
            </a:pPr>
            <a:r>
              <a:t>1,000</a:t>
            </a:r>
          </a:p>
        </p:txBody>
      </p:sp>
      <p:sp>
        <p:nvSpPr>
          <p:cNvPr id="20" name="TextBox 19"/>
          <p:cNvSpPr txBox="1"/>
          <p:nvPr/>
        </p:nvSpPr>
        <p:spPr>
          <a:xfrm>
            <a:off x="9272015" y="2697480"/>
            <a:ext cx="2231136" cy="228600"/>
          </a:xfrm>
          <a:prstGeom prst="rect">
            <a:avLst/>
          </a:prstGeom>
          <a:noFill/>
        </p:spPr>
        <p:txBody>
          <a:bodyPr wrap="square" lIns="13716" rIns="13716" tIns="0" bIns="0">
            <a:spAutoFit/>
          </a:bodyPr>
          <a:lstStyle/>
          <a:p>
            <a:pPr>
              <a:spcAft>
                <a:spcPts val="500"/>
              </a:spcAft>
              <a:defRPr sz="1100" b="0">
                <a:solidFill>
                  <a:srgbClr val="586980"/>
                </a:solidFill>
                <a:latin typeface="Aptos"/>
              </a:defRPr>
            </a:pPr>
            <a:r>
              <a:t>ImageNet output classes</a:t>
            </a:r>
          </a:p>
        </p:txBody>
      </p:sp>
      <p:sp>
        <p:nvSpPr>
          <p:cNvPr id="21" name="Rounded Rectangle 20"/>
          <p:cNvSpPr/>
          <p:nvPr/>
        </p:nvSpPr>
        <p:spPr>
          <a:xfrm>
            <a:off x="502920" y="3337560"/>
            <a:ext cx="2596896" cy="19659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3337560"/>
            <a:ext cx="41148" cy="1965960"/>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502152"/>
            <a:ext cx="2231136" cy="457200"/>
          </a:xfrm>
          <a:prstGeom prst="rect">
            <a:avLst/>
          </a:prstGeom>
          <a:noFill/>
        </p:spPr>
        <p:txBody>
          <a:bodyPr wrap="square" lIns="13716" rIns="13716" tIns="0" bIns="0">
            <a:spAutoFit/>
          </a:bodyPr>
          <a:lstStyle/>
          <a:p>
            <a:pPr>
              <a:spcAft>
                <a:spcPts val="500"/>
              </a:spcAft>
              <a:defRPr sz="2000" b="1">
                <a:solidFill>
                  <a:srgbClr val="15233B"/>
                </a:solidFill>
                <a:latin typeface="Aptos"/>
              </a:defRPr>
            </a:pPr>
            <a:r>
              <a:t>MNIST / LeNet-5</a:t>
            </a:r>
          </a:p>
        </p:txBody>
      </p:sp>
      <p:sp>
        <p:nvSpPr>
          <p:cNvPr id="24" name="TextBox 23"/>
          <p:cNvSpPr txBox="1"/>
          <p:nvPr/>
        </p:nvSpPr>
        <p:spPr>
          <a:xfrm>
            <a:off x="685800" y="4114800"/>
            <a:ext cx="2231136" cy="1097280"/>
          </a:xfrm>
          <a:prstGeom prst="rect">
            <a:avLst/>
          </a:prstGeom>
          <a:noFill/>
        </p:spPr>
        <p:txBody>
          <a:bodyPr wrap="square" lIns="13716" rIns="13716" tIns="0" bIns="0">
            <a:spAutoFit/>
          </a:bodyPr>
          <a:lstStyle/>
          <a:p>
            <a:pPr>
              <a:spcAft>
                <a:spcPts val="500"/>
              </a:spcAft>
              <a:defRPr sz="1500" b="0">
                <a:solidFill>
                  <a:srgbClr val="586980"/>
                </a:solidFill>
                <a:latin typeface="Aptos"/>
              </a:defRPr>
            </a:pPr>
            <a:r>
              <a:t>Digit recognition</a:t>
            </a:r>
          </a:p>
          <a:p>
            <a:pPr>
              <a:spcAft>
                <a:spcPts val="500"/>
              </a:spcAft>
              <a:defRPr sz="1500" b="0">
                <a:solidFill>
                  <a:srgbClr val="586980"/>
                </a:solidFill>
                <a:latin typeface="Aptos"/>
              </a:defRPr>
            </a:pPr>
            <a:r>
              <a:t>10 classes</a:t>
            </a:r>
          </a:p>
          <a:p>
            <a:pPr>
              <a:spcAft>
                <a:spcPts val="500"/>
              </a:spcAft>
              <a:defRPr sz="1500" b="0">
                <a:solidFill>
                  <a:srgbClr val="586980"/>
                </a:solidFill>
                <a:latin typeface="Aptos"/>
              </a:defRPr>
            </a:pPr>
            <a:r>
              <a:t>5 microcode words</a:t>
            </a:r>
          </a:p>
        </p:txBody>
      </p:sp>
      <p:sp>
        <p:nvSpPr>
          <p:cNvPr id="25" name="Rounded Rectangle 24"/>
          <p:cNvSpPr/>
          <p:nvPr/>
        </p:nvSpPr>
        <p:spPr>
          <a:xfrm>
            <a:off x="3364991" y="3337560"/>
            <a:ext cx="2596896" cy="19659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364991" y="3337560"/>
            <a:ext cx="41148" cy="1965960"/>
          </a:xfrm>
          <a:prstGeom prst="rect">
            <a:avLst/>
          </a:prstGeom>
          <a:solidFill>
            <a:srgbClr val="6B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547872" y="3502152"/>
            <a:ext cx="2231136" cy="457200"/>
          </a:xfrm>
          <a:prstGeom prst="rect">
            <a:avLst/>
          </a:prstGeom>
          <a:noFill/>
        </p:spPr>
        <p:txBody>
          <a:bodyPr wrap="square" lIns="13716" rIns="13716" tIns="0" bIns="0">
            <a:spAutoFit/>
          </a:bodyPr>
          <a:lstStyle/>
          <a:p>
            <a:pPr>
              <a:spcAft>
                <a:spcPts val="500"/>
              </a:spcAft>
              <a:defRPr sz="2000" b="1">
                <a:solidFill>
                  <a:srgbClr val="15233B"/>
                </a:solidFill>
                <a:latin typeface="Aptos"/>
              </a:defRPr>
            </a:pPr>
            <a:r>
              <a:t>ResNet-50</a:t>
            </a:r>
          </a:p>
        </p:txBody>
      </p:sp>
      <p:sp>
        <p:nvSpPr>
          <p:cNvPr id="28" name="TextBox 27"/>
          <p:cNvSpPr txBox="1"/>
          <p:nvPr/>
        </p:nvSpPr>
        <p:spPr>
          <a:xfrm>
            <a:off x="3547872" y="4114800"/>
            <a:ext cx="2231136" cy="1097280"/>
          </a:xfrm>
          <a:prstGeom prst="rect">
            <a:avLst/>
          </a:prstGeom>
          <a:noFill/>
        </p:spPr>
        <p:txBody>
          <a:bodyPr wrap="square" lIns="13716" rIns="13716" tIns="0" bIns="0">
            <a:spAutoFit/>
          </a:bodyPr>
          <a:lstStyle/>
          <a:p>
            <a:pPr>
              <a:spcAft>
                <a:spcPts val="500"/>
              </a:spcAft>
              <a:defRPr sz="1500" b="0">
                <a:solidFill>
                  <a:srgbClr val="586980"/>
                </a:solidFill>
                <a:latin typeface="Aptos"/>
              </a:defRPr>
            </a:pPr>
            <a:r>
              <a:t>Residual network</a:t>
            </a:r>
          </a:p>
          <a:p>
            <a:pPr>
              <a:spcAft>
                <a:spcPts val="500"/>
              </a:spcAft>
              <a:defRPr sz="1500" b="0">
                <a:solidFill>
                  <a:srgbClr val="586980"/>
                </a:solidFill>
                <a:latin typeface="Aptos"/>
              </a:defRPr>
            </a:pPr>
            <a:r>
              <a:t>1,000 classes</a:t>
            </a:r>
          </a:p>
          <a:p>
            <a:pPr>
              <a:spcAft>
                <a:spcPts val="500"/>
              </a:spcAft>
              <a:defRPr sz="1500" b="0">
                <a:solidFill>
                  <a:srgbClr val="586980"/>
                </a:solidFill>
                <a:latin typeface="Aptos"/>
              </a:defRPr>
            </a:pPr>
            <a:r>
              <a:t>57 microcode words</a:t>
            </a:r>
          </a:p>
        </p:txBody>
      </p:sp>
      <p:sp>
        <p:nvSpPr>
          <p:cNvPr id="29" name="Rounded Rectangle 28"/>
          <p:cNvSpPr/>
          <p:nvPr/>
        </p:nvSpPr>
        <p:spPr>
          <a:xfrm>
            <a:off x="6227064" y="3337560"/>
            <a:ext cx="2596896" cy="19659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27064" y="3337560"/>
            <a:ext cx="41148" cy="1965960"/>
          </a:xfrm>
          <a:prstGeom prst="rect">
            <a:avLst/>
          </a:prstGeom>
          <a:solidFill>
            <a:srgbClr val="A69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9944" y="3502152"/>
            <a:ext cx="2231136" cy="457200"/>
          </a:xfrm>
          <a:prstGeom prst="rect">
            <a:avLst/>
          </a:prstGeom>
          <a:noFill/>
        </p:spPr>
        <p:txBody>
          <a:bodyPr wrap="square" lIns="13716" rIns="13716" tIns="0" bIns="0">
            <a:spAutoFit/>
          </a:bodyPr>
          <a:lstStyle/>
          <a:p>
            <a:pPr>
              <a:spcAft>
                <a:spcPts val="500"/>
              </a:spcAft>
              <a:defRPr sz="2000" b="1">
                <a:solidFill>
                  <a:srgbClr val="15233B"/>
                </a:solidFill>
                <a:latin typeface="Aptos"/>
              </a:defRPr>
            </a:pPr>
            <a:r>
              <a:t>MobileNetV2</a:t>
            </a:r>
          </a:p>
        </p:txBody>
      </p:sp>
      <p:sp>
        <p:nvSpPr>
          <p:cNvPr id="32" name="TextBox 31"/>
          <p:cNvSpPr txBox="1"/>
          <p:nvPr/>
        </p:nvSpPr>
        <p:spPr>
          <a:xfrm>
            <a:off x="6409944" y="4114800"/>
            <a:ext cx="2231136" cy="1097280"/>
          </a:xfrm>
          <a:prstGeom prst="rect">
            <a:avLst/>
          </a:prstGeom>
          <a:noFill/>
        </p:spPr>
        <p:txBody>
          <a:bodyPr wrap="square" lIns="13716" rIns="13716" tIns="0" bIns="0">
            <a:spAutoFit/>
          </a:bodyPr>
          <a:lstStyle/>
          <a:p>
            <a:pPr>
              <a:spcAft>
                <a:spcPts val="500"/>
              </a:spcAft>
              <a:defRPr sz="1500" b="0">
                <a:solidFill>
                  <a:srgbClr val="586980"/>
                </a:solidFill>
                <a:latin typeface="Aptos"/>
              </a:defRPr>
            </a:pPr>
            <a:r>
              <a:t>Depthwise convolution</a:t>
            </a:r>
          </a:p>
          <a:p>
            <a:pPr>
              <a:spcAft>
                <a:spcPts val="500"/>
              </a:spcAft>
              <a:defRPr sz="1500" b="0">
                <a:solidFill>
                  <a:srgbClr val="586980"/>
                </a:solidFill>
                <a:latin typeface="Aptos"/>
              </a:defRPr>
            </a:pPr>
            <a:r>
              <a:t>1,000 classes</a:t>
            </a:r>
          </a:p>
          <a:p>
            <a:pPr>
              <a:spcAft>
                <a:spcPts val="500"/>
              </a:spcAft>
              <a:defRPr sz="1500" b="0">
                <a:solidFill>
                  <a:srgbClr val="586980"/>
                </a:solidFill>
                <a:latin typeface="Aptos"/>
              </a:defRPr>
            </a:pPr>
            <a:r>
              <a:t>56 microcode words</a:t>
            </a:r>
          </a:p>
        </p:txBody>
      </p:sp>
      <p:sp>
        <p:nvSpPr>
          <p:cNvPr id="33" name="Rounded Rectangle 32"/>
          <p:cNvSpPr/>
          <p:nvPr/>
        </p:nvSpPr>
        <p:spPr>
          <a:xfrm>
            <a:off x="9089136" y="3337560"/>
            <a:ext cx="2596896" cy="19659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089136" y="3337560"/>
            <a:ext cx="41148" cy="1965960"/>
          </a:xfrm>
          <a:prstGeom prst="rect">
            <a:avLst/>
          </a:prstGeom>
          <a:solidFill>
            <a:srgbClr val="FFC6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272016" y="3502152"/>
            <a:ext cx="2231136" cy="457200"/>
          </a:xfrm>
          <a:prstGeom prst="rect">
            <a:avLst/>
          </a:prstGeom>
          <a:noFill/>
        </p:spPr>
        <p:txBody>
          <a:bodyPr wrap="square" lIns="13716" rIns="13716" tIns="0" bIns="0">
            <a:spAutoFit/>
          </a:bodyPr>
          <a:lstStyle/>
          <a:p>
            <a:pPr>
              <a:spcAft>
                <a:spcPts val="500"/>
              </a:spcAft>
              <a:defRPr sz="2000" b="1">
                <a:solidFill>
                  <a:srgbClr val="15233B"/>
                </a:solidFill>
                <a:latin typeface="Aptos"/>
              </a:defRPr>
            </a:pPr>
            <a:r>
              <a:t>EfficientNet-B0</a:t>
            </a:r>
          </a:p>
        </p:txBody>
      </p:sp>
      <p:sp>
        <p:nvSpPr>
          <p:cNvPr id="36" name="TextBox 35"/>
          <p:cNvSpPr txBox="1"/>
          <p:nvPr/>
        </p:nvSpPr>
        <p:spPr>
          <a:xfrm>
            <a:off x="9272016" y="4114800"/>
            <a:ext cx="2231136" cy="1097280"/>
          </a:xfrm>
          <a:prstGeom prst="rect">
            <a:avLst/>
          </a:prstGeom>
          <a:noFill/>
        </p:spPr>
        <p:txBody>
          <a:bodyPr wrap="square" lIns="13716" rIns="13716" tIns="0" bIns="0">
            <a:spAutoFit/>
          </a:bodyPr>
          <a:lstStyle/>
          <a:p>
            <a:pPr>
              <a:spcAft>
                <a:spcPts val="500"/>
              </a:spcAft>
              <a:defRPr sz="1500" b="0">
                <a:solidFill>
                  <a:srgbClr val="586980"/>
                </a:solidFill>
                <a:latin typeface="Aptos"/>
              </a:defRPr>
            </a:pPr>
            <a:r>
              <a:t>MBConv + Swish LUT</a:t>
            </a:r>
          </a:p>
          <a:p>
            <a:pPr>
              <a:spcAft>
                <a:spcPts val="500"/>
              </a:spcAft>
              <a:defRPr sz="1500" b="0">
                <a:solidFill>
                  <a:srgbClr val="586980"/>
                </a:solidFill>
                <a:latin typeface="Aptos"/>
              </a:defRPr>
            </a:pPr>
            <a:r>
              <a:t>1,000 classes</a:t>
            </a:r>
          </a:p>
          <a:p>
            <a:pPr>
              <a:spcAft>
                <a:spcPts val="500"/>
              </a:spcAft>
              <a:defRPr sz="1500" b="0">
                <a:solidFill>
                  <a:srgbClr val="586980"/>
                </a:solidFill>
                <a:latin typeface="Aptos"/>
              </a:defRPr>
            </a:pPr>
            <a:r>
              <a:t>53 microcode words</a:t>
            </a:r>
          </a:p>
        </p:txBody>
      </p:sp>
      <p:sp>
        <p:nvSpPr>
          <p:cNvPr id="37" name="TextBox 36"/>
          <p:cNvSpPr txBox="1"/>
          <p:nvPr/>
        </p:nvSpPr>
        <p:spPr>
          <a:xfrm>
            <a:off x="594360" y="5650992"/>
            <a:ext cx="10972800" cy="521207"/>
          </a:xfrm>
          <a:prstGeom prst="rect">
            <a:avLst/>
          </a:prstGeom>
          <a:noFill/>
        </p:spPr>
        <p:txBody>
          <a:bodyPr wrap="square" lIns="13716" rIns="13716" tIns="0" bIns="0">
            <a:spAutoFit/>
          </a:bodyPr>
          <a:lstStyle/>
          <a:p>
            <a:pPr>
              <a:spcAft>
                <a:spcPts val="500"/>
              </a:spcAft>
              <a:defRPr sz="1700" b="0">
                <a:solidFill>
                  <a:srgbClr val="15233B"/>
                </a:solidFill>
                <a:latin typeface="Aptos"/>
              </a:defRPr>
            </a:pPr>
            <a:r>
              <a:t>Platform direction: expand model and operator coverage through compiler development, reusable RTL and systematic validation.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224"/>
        </a:solidFill>
        <a:effectLst/>
      </p:bgPr>
    </p:bg>
    <p:spTree>
      <p:nvGrpSpPr>
        <p:cNvPr id="1" name=""/>
        <p:cNvGrpSpPr/>
        <p:nvPr/>
      </p:nvGrpSpPr>
      <p:grpSpPr/>
      <p:sp>
        <p:nvSpPr>
          <p:cNvPr id="2" name="TextBox 1"/>
          <p:cNvSpPr txBox="1"/>
          <p:nvPr/>
        </p:nvSpPr>
        <p:spPr>
          <a:xfrm>
            <a:off x="502920" y="274320"/>
            <a:ext cx="9144000" cy="210312"/>
          </a:xfrm>
          <a:prstGeom prst="rect">
            <a:avLst/>
          </a:prstGeom>
          <a:noFill/>
        </p:spPr>
        <p:txBody>
          <a:bodyPr wrap="square" lIns="13716" rIns="13716" tIns="0" bIns="0">
            <a:spAutoFit/>
          </a:bodyPr>
          <a:lstStyle/>
          <a:p>
            <a:pPr>
              <a:spcAft>
                <a:spcPts val="500"/>
              </a:spcAft>
              <a:defRPr sz="1000" b="1">
                <a:solidFill>
                  <a:srgbClr val="35DFC3"/>
                </a:solidFill>
                <a:latin typeface="Aptos"/>
              </a:defRPr>
            </a:pPr>
            <a:r>
              <a:t>SYSTEM ARCHITECTURE</a:t>
            </a:r>
          </a:p>
        </p:txBody>
      </p:sp>
      <p:sp>
        <p:nvSpPr>
          <p:cNvPr id="3" name="TextBox 2"/>
          <p:cNvSpPr txBox="1"/>
          <p:nvPr/>
        </p:nvSpPr>
        <p:spPr>
          <a:xfrm>
            <a:off x="502920" y="713232"/>
            <a:ext cx="11155680" cy="640080"/>
          </a:xfrm>
          <a:prstGeom prst="rect">
            <a:avLst/>
          </a:prstGeom>
          <a:noFill/>
        </p:spPr>
        <p:txBody>
          <a:bodyPr wrap="square" lIns="13716" rIns="13716" tIns="0" bIns="0">
            <a:spAutoFit/>
          </a:bodyPr>
          <a:lstStyle/>
          <a:p>
            <a:pPr>
              <a:spcAft>
                <a:spcPts val="500"/>
              </a:spcAft>
              <a:defRPr sz="3000" b="1">
                <a:solidFill>
                  <a:srgbClr val="FFFFFF"/>
                </a:solidFill>
                <a:latin typeface="Aptos Display"/>
              </a:defRPr>
            </a:pPr>
            <a:r>
              <a:t>From model assets to FPGA inference</a:t>
            </a:r>
          </a:p>
        </p:txBody>
      </p:sp>
      <p:sp>
        <p:nvSpPr>
          <p:cNvPr id="4" name="TextBox 3"/>
          <p:cNvSpPr txBox="1"/>
          <p:nvPr/>
        </p:nvSpPr>
        <p:spPr>
          <a:xfrm>
            <a:off x="512064" y="1426464"/>
            <a:ext cx="11109960" cy="502920"/>
          </a:xfrm>
          <a:prstGeom prst="rect">
            <a:avLst/>
          </a:prstGeom>
          <a:noFill/>
        </p:spPr>
        <p:txBody>
          <a:bodyPr wrap="square" lIns="13716" rIns="13716" tIns="0" bIns="0">
            <a:spAutoFit/>
          </a:bodyPr>
          <a:lstStyle/>
          <a:p>
            <a:pPr>
              <a:spcAft>
                <a:spcPts val="500"/>
              </a:spcAft>
              <a:defRPr sz="1400" b="0">
                <a:solidFill>
                  <a:srgbClr val="A8B7CF"/>
                </a:solidFill>
                <a:latin typeface="Aptos"/>
              </a:defRPr>
            </a:pPr>
            <a:r>
              <a:t>The processing system controls the run; the programmable logic performs the scheduled compute.</a:t>
            </a:r>
          </a:p>
        </p:txBody>
      </p:sp>
      <p:sp>
        <p:nvSpPr>
          <p:cNvPr id="5" name="Rectangle 4"/>
          <p:cNvSpPr/>
          <p:nvPr/>
        </p:nvSpPr>
        <p:spPr>
          <a:xfrm>
            <a:off x="502920" y="6455664"/>
            <a:ext cx="11183112" cy="10972"/>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3657600" cy="155448"/>
          </a:xfrm>
          <a:prstGeom prst="rect">
            <a:avLst/>
          </a:prstGeom>
          <a:noFill/>
        </p:spPr>
        <p:txBody>
          <a:bodyPr wrap="square" lIns="13716" rIns="13716" tIns="0" bIns="0">
            <a:spAutoFit/>
          </a:bodyPr>
          <a:lstStyle/>
          <a:p>
            <a:pPr>
              <a:spcAft>
                <a:spcPts val="500"/>
              </a:spcAft>
              <a:defRPr sz="800" b="1">
                <a:solidFill>
                  <a:srgbClr val="A8B7CF"/>
                </a:solidFill>
                <a:latin typeface="Aptos"/>
              </a:defRPr>
            </a:pPr>
            <a:r>
              <a:t>UNIFIED C-ENGINE  /  ZCU106</a:t>
            </a:r>
          </a:p>
        </p:txBody>
      </p:sp>
      <p:sp>
        <p:nvSpPr>
          <p:cNvPr id="7" name="TextBox 6"/>
          <p:cNvSpPr txBox="1"/>
          <p:nvPr/>
        </p:nvSpPr>
        <p:spPr>
          <a:xfrm>
            <a:off x="3657600" y="6556248"/>
            <a:ext cx="6949440" cy="182880"/>
          </a:xfrm>
          <a:prstGeom prst="rect">
            <a:avLst/>
          </a:prstGeom>
          <a:noFill/>
        </p:spPr>
        <p:txBody>
          <a:bodyPr wrap="square" lIns="13716" rIns="13716" tIns="0" bIns="0">
            <a:spAutoFit/>
          </a:bodyPr>
          <a:lstStyle/>
          <a:p>
            <a:pPr algn="r">
              <a:spcAft>
                <a:spcPts val="500"/>
              </a:spcAft>
              <a:defRPr sz="800" b="0">
                <a:solidFill>
                  <a:srgbClr val="A8B7CF"/>
                </a:solidFill>
                <a:latin typeface="Aptos"/>
              </a:defRPr>
            </a:pPr>
            <a:r>
              <a:t>rtl/c_engine_dma_top.v • baremetal/src/c_engine_driver.c</a:t>
            </a:r>
          </a:p>
        </p:txBody>
      </p:sp>
      <p:sp>
        <p:nvSpPr>
          <p:cNvPr id="8" name="TextBox 7"/>
          <p:cNvSpPr txBox="1"/>
          <p:nvPr/>
        </p:nvSpPr>
        <p:spPr>
          <a:xfrm>
            <a:off x="10927080" y="6547104"/>
            <a:ext cx="731520" cy="201168"/>
          </a:xfrm>
          <a:prstGeom prst="rect">
            <a:avLst/>
          </a:prstGeom>
          <a:noFill/>
        </p:spPr>
        <p:txBody>
          <a:bodyPr wrap="square" lIns="13716" rIns="13716" tIns="0" bIns="0">
            <a:spAutoFit/>
          </a:bodyPr>
          <a:lstStyle/>
          <a:p>
            <a:pPr algn="r">
              <a:spcAft>
                <a:spcPts val="500"/>
              </a:spcAft>
              <a:defRPr sz="900" b="0">
                <a:solidFill>
                  <a:srgbClr val="35DFC3"/>
                </a:solidFill>
                <a:latin typeface="Aptos"/>
              </a:defRPr>
            </a:pPr>
            <a:r>
              <a:t>03 / 17</a:t>
            </a:r>
          </a:p>
        </p:txBody>
      </p:sp>
      <p:sp>
        <p:nvSpPr>
          <p:cNvPr id="9" name="Rounded Rectangle 8"/>
          <p:cNvSpPr/>
          <p:nvPr/>
        </p:nvSpPr>
        <p:spPr>
          <a:xfrm>
            <a:off x="502920" y="2029968"/>
            <a:ext cx="2834640" cy="3977639"/>
          </a:xfrm>
          <a:prstGeom prst="roundRect">
            <a:avLst>
              <a:gd name="adj" fmla="val 12000"/>
            </a:avLst>
          </a:prstGeom>
          <a:solidFill>
            <a:srgbClr val="1421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221992"/>
            <a:ext cx="2468880" cy="228600"/>
          </a:xfrm>
          <a:prstGeom prst="rect">
            <a:avLst/>
          </a:prstGeom>
          <a:noFill/>
        </p:spPr>
        <p:txBody>
          <a:bodyPr wrap="square" lIns="13716" rIns="13716" tIns="0" bIns="0">
            <a:spAutoFit/>
          </a:bodyPr>
          <a:lstStyle/>
          <a:p>
            <a:pPr>
              <a:spcAft>
                <a:spcPts val="500"/>
              </a:spcAft>
              <a:defRPr sz="1200" b="1">
                <a:solidFill>
                  <a:srgbClr val="6BA6FF"/>
                </a:solidFill>
                <a:latin typeface="Aptos"/>
              </a:defRPr>
            </a:pPr>
            <a:r>
              <a:t>PROCESSING SYSTEM</a:t>
            </a:r>
          </a:p>
        </p:txBody>
      </p:sp>
      <p:sp>
        <p:nvSpPr>
          <p:cNvPr id="11" name="Rounded Rectangle 10"/>
          <p:cNvSpPr/>
          <p:nvPr/>
        </p:nvSpPr>
        <p:spPr>
          <a:xfrm>
            <a:off x="713232" y="2697480"/>
            <a:ext cx="2414016" cy="1152144"/>
          </a:xfrm>
          <a:prstGeom prst="roundRect">
            <a:avLst>
              <a:gd name="adj" fmla="val 12000"/>
            </a:avLst>
          </a:prstGeom>
          <a:solidFill>
            <a:srgbClr val="1421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3232" y="2697480"/>
            <a:ext cx="41148" cy="1152144"/>
          </a:xfrm>
          <a:prstGeom prst="rect">
            <a:avLst/>
          </a:prstGeom>
          <a:solidFill>
            <a:srgbClr val="6B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862072"/>
            <a:ext cx="2048256" cy="457200"/>
          </a:xfrm>
          <a:prstGeom prst="rect">
            <a:avLst/>
          </a:prstGeom>
          <a:noFill/>
        </p:spPr>
        <p:txBody>
          <a:bodyPr wrap="square" lIns="13716" rIns="13716" tIns="0" bIns="0">
            <a:spAutoFit/>
          </a:bodyPr>
          <a:lstStyle/>
          <a:p>
            <a:pPr>
              <a:spcAft>
                <a:spcPts val="500"/>
              </a:spcAft>
              <a:defRPr sz="1800" b="1">
                <a:solidFill>
                  <a:srgbClr val="FFFFFF"/>
                </a:solidFill>
                <a:latin typeface="Aptos"/>
              </a:defRPr>
            </a:pPr>
            <a:r>
              <a:t>ARM Cortex-A53</a:t>
            </a:r>
          </a:p>
        </p:txBody>
      </p:sp>
      <p:sp>
        <p:nvSpPr>
          <p:cNvPr id="14" name="TextBox 13"/>
          <p:cNvSpPr txBox="1"/>
          <p:nvPr/>
        </p:nvSpPr>
        <p:spPr>
          <a:xfrm>
            <a:off x="896112" y="3310128"/>
            <a:ext cx="2048256" cy="493776"/>
          </a:xfrm>
          <a:prstGeom prst="rect">
            <a:avLst/>
          </a:prstGeom>
          <a:noFill/>
        </p:spPr>
        <p:txBody>
          <a:bodyPr wrap="square" lIns="13716" rIns="13716" tIns="0" bIns="0">
            <a:spAutoFit/>
          </a:bodyPr>
          <a:lstStyle/>
          <a:p>
            <a:pPr>
              <a:spcAft>
                <a:spcPts val="500"/>
              </a:spcAft>
              <a:defRPr sz="1300" b="0">
                <a:solidFill>
                  <a:srgbClr val="A8B7CF"/>
                </a:solidFill>
                <a:latin typeface="Aptos"/>
              </a:defRPr>
            </a:pPr>
            <a:r>
              <a:t>Baremetal driver + AXI-Lite</a:t>
            </a:r>
          </a:p>
        </p:txBody>
      </p:sp>
      <p:sp>
        <p:nvSpPr>
          <p:cNvPr id="15" name="Rounded Rectangle 14"/>
          <p:cNvSpPr/>
          <p:nvPr/>
        </p:nvSpPr>
        <p:spPr>
          <a:xfrm>
            <a:off x="713232" y="4233672"/>
            <a:ext cx="2414016" cy="1289304"/>
          </a:xfrm>
          <a:prstGeom prst="roundRect">
            <a:avLst>
              <a:gd name="adj" fmla="val 12000"/>
            </a:avLst>
          </a:prstGeom>
          <a:solidFill>
            <a:srgbClr val="1421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 y="4233672"/>
            <a:ext cx="41148" cy="1289304"/>
          </a:xfrm>
          <a:prstGeom prst="rect">
            <a:avLst/>
          </a:prstGeom>
          <a:solidFill>
            <a:srgbClr val="6B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398264"/>
            <a:ext cx="2048256" cy="457200"/>
          </a:xfrm>
          <a:prstGeom prst="rect">
            <a:avLst/>
          </a:prstGeom>
          <a:noFill/>
        </p:spPr>
        <p:txBody>
          <a:bodyPr wrap="square" lIns="13716" rIns="13716" tIns="0" bIns="0">
            <a:spAutoFit/>
          </a:bodyPr>
          <a:lstStyle/>
          <a:p>
            <a:pPr>
              <a:spcAft>
                <a:spcPts val="500"/>
              </a:spcAft>
              <a:defRPr sz="1800" b="1">
                <a:solidFill>
                  <a:srgbClr val="FFFFFF"/>
                </a:solidFill>
                <a:latin typeface="Aptos"/>
              </a:defRPr>
            </a:pPr>
            <a:r>
              <a:t>PS DDR4</a:t>
            </a:r>
          </a:p>
        </p:txBody>
      </p:sp>
      <p:sp>
        <p:nvSpPr>
          <p:cNvPr id="18" name="TextBox 17"/>
          <p:cNvSpPr txBox="1"/>
          <p:nvPr/>
        </p:nvSpPr>
        <p:spPr>
          <a:xfrm>
            <a:off x="896112" y="4846320"/>
            <a:ext cx="2048256" cy="630936"/>
          </a:xfrm>
          <a:prstGeom prst="rect">
            <a:avLst/>
          </a:prstGeom>
          <a:noFill/>
        </p:spPr>
        <p:txBody>
          <a:bodyPr wrap="square" lIns="13716" rIns="13716" tIns="0" bIns="0">
            <a:spAutoFit/>
          </a:bodyPr>
          <a:lstStyle/>
          <a:p>
            <a:pPr>
              <a:spcAft>
                <a:spcPts val="500"/>
              </a:spcAft>
              <a:defRPr sz="1300" b="0">
                <a:solidFill>
                  <a:srgbClr val="A8B7CF"/>
                </a:solidFill>
                <a:latin typeface="Aptos"/>
              </a:defRPr>
            </a:pPr>
            <a:r>
              <a:t>Images, weights, microcode</a:t>
            </a:r>
          </a:p>
          <a:p>
            <a:pPr>
              <a:spcAft>
                <a:spcPts val="500"/>
              </a:spcAft>
              <a:defRPr sz="1300" b="0">
                <a:solidFill>
                  <a:srgbClr val="A8B7CF"/>
                </a:solidFill>
                <a:latin typeface="Aptos"/>
              </a:defRPr>
            </a:pPr>
            <a:r>
              <a:t>and returned logits</a:t>
            </a:r>
          </a:p>
        </p:txBody>
      </p:sp>
      <p:sp>
        <p:nvSpPr>
          <p:cNvPr id="19" name="Rounded Rectangle 18"/>
          <p:cNvSpPr/>
          <p:nvPr/>
        </p:nvSpPr>
        <p:spPr>
          <a:xfrm>
            <a:off x="3977639" y="2029968"/>
            <a:ext cx="7699248" cy="3977639"/>
          </a:xfrm>
          <a:prstGeom prst="roundRect">
            <a:avLst>
              <a:gd name="adj" fmla="val 12000"/>
            </a:avLst>
          </a:prstGeom>
          <a:solidFill>
            <a:srgbClr val="1421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97096" y="2221992"/>
            <a:ext cx="7132320" cy="228600"/>
          </a:xfrm>
          <a:prstGeom prst="rect">
            <a:avLst/>
          </a:prstGeom>
          <a:noFill/>
        </p:spPr>
        <p:txBody>
          <a:bodyPr wrap="square" lIns="13716" rIns="13716" tIns="0" bIns="0">
            <a:spAutoFit/>
          </a:bodyPr>
          <a:lstStyle/>
          <a:p>
            <a:pPr>
              <a:spcAft>
                <a:spcPts val="500"/>
              </a:spcAft>
              <a:defRPr sz="1200" b="1">
                <a:solidFill>
                  <a:srgbClr val="35DFC3"/>
                </a:solidFill>
                <a:latin typeface="Aptos"/>
              </a:defRPr>
            </a:pPr>
            <a:r>
              <a:t>PROGRAMMABLE LOGIC</a:t>
            </a:r>
          </a:p>
        </p:txBody>
      </p:sp>
      <p:sp>
        <p:nvSpPr>
          <p:cNvPr id="21" name="Rounded Rectangle 20"/>
          <p:cNvSpPr/>
          <p:nvPr/>
        </p:nvSpPr>
        <p:spPr>
          <a:xfrm>
            <a:off x="4197096" y="2706624"/>
            <a:ext cx="2112264" cy="1197864"/>
          </a:xfrm>
          <a:prstGeom prst="roundRect">
            <a:avLst>
              <a:gd name="adj" fmla="val 12000"/>
            </a:avLst>
          </a:prstGeom>
          <a:solidFill>
            <a:srgbClr val="1421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97096" y="2706624"/>
            <a:ext cx="41148" cy="1197864"/>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79976" y="2871216"/>
            <a:ext cx="1746504" cy="457200"/>
          </a:xfrm>
          <a:prstGeom prst="rect">
            <a:avLst/>
          </a:prstGeom>
          <a:noFill/>
        </p:spPr>
        <p:txBody>
          <a:bodyPr wrap="square" lIns="13716" rIns="13716" tIns="0" bIns="0">
            <a:spAutoFit/>
          </a:bodyPr>
          <a:lstStyle/>
          <a:p>
            <a:pPr>
              <a:spcAft>
                <a:spcPts val="500"/>
              </a:spcAft>
              <a:defRPr sz="1800" b="1">
                <a:solidFill>
                  <a:srgbClr val="FFFFFF"/>
                </a:solidFill>
                <a:latin typeface="Aptos"/>
              </a:defRPr>
            </a:pPr>
            <a:r>
              <a:t>AXI-Lite</a:t>
            </a:r>
          </a:p>
        </p:txBody>
      </p:sp>
      <p:sp>
        <p:nvSpPr>
          <p:cNvPr id="24" name="TextBox 23"/>
          <p:cNvSpPr txBox="1"/>
          <p:nvPr/>
        </p:nvSpPr>
        <p:spPr>
          <a:xfrm>
            <a:off x="4379976" y="3319272"/>
            <a:ext cx="1746504" cy="539496"/>
          </a:xfrm>
          <a:prstGeom prst="rect">
            <a:avLst/>
          </a:prstGeom>
          <a:noFill/>
        </p:spPr>
        <p:txBody>
          <a:bodyPr wrap="square" lIns="13716" rIns="13716" tIns="0" bIns="0">
            <a:spAutoFit/>
          </a:bodyPr>
          <a:lstStyle/>
          <a:p>
            <a:pPr>
              <a:spcAft>
                <a:spcPts val="500"/>
              </a:spcAft>
              <a:defRPr sz="1300" b="0">
                <a:solidFill>
                  <a:srgbClr val="A8B7CF"/>
                </a:solidFill>
                <a:latin typeface="Aptos"/>
              </a:defRPr>
            </a:pPr>
            <a:r>
              <a:t>Registers + status</a:t>
            </a:r>
          </a:p>
        </p:txBody>
      </p:sp>
      <p:sp>
        <p:nvSpPr>
          <p:cNvPr id="25" name="Rounded Rectangle 24"/>
          <p:cNvSpPr/>
          <p:nvPr/>
        </p:nvSpPr>
        <p:spPr>
          <a:xfrm>
            <a:off x="6601968" y="2706624"/>
            <a:ext cx="4800600" cy="1197864"/>
          </a:xfrm>
          <a:prstGeom prst="roundRect">
            <a:avLst>
              <a:gd name="adj" fmla="val 12000"/>
            </a:avLst>
          </a:prstGeom>
          <a:solidFill>
            <a:srgbClr val="1421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601968" y="2706624"/>
            <a:ext cx="41148" cy="1197864"/>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84848" y="2871216"/>
            <a:ext cx="4434840" cy="457200"/>
          </a:xfrm>
          <a:prstGeom prst="rect">
            <a:avLst/>
          </a:prstGeom>
          <a:noFill/>
        </p:spPr>
        <p:txBody>
          <a:bodyPr wrap="square" lIns="13716" rIns="13716" tIns="0" bIns="0">
            <a:spAutoFit/>
          </a:bodyPr>
          <a:lstStyle/>
          <a:p>
            <a:pPr>
              <a:spcAft>
                <a:spcPts val="500"/>
              </a:spcAft>
              <a:defRPr sz="1800" b="1">
                <a:solidFill>
                  <a:srgbClr val="FFFFFF"/>
                </a:solidFill>
                <a:latin typeface="Aptos"/>
              </a:defRPr>
            </a:pPr>
            <a:r>
              <a:t>Microcode sequencer</a:t>
            </a:r>
          </a:p>
        </p:txBody>
      </p:sp>
      <p:sp>
        <p:nvSpPr>
          <p:cNvPr id="28" name="TextBox 27"/>
          <p:cNvSpPr txBox="1"/>
          <p:nvPr/>
        </p:nvSpPr>
        <p:spPr>
          <a:xfrm>
            <a:off x="6784848" y="3319272"/>
            <a:ext cx="4434840" cy="539496"/>
          </a:xfrm>
          <a:prstGeom prst="rect">
            <a:avLst/>
          </a:prstGeom>
          <a:noFill/>
        </p:spPr>
        <p:txBody>
          <a:bodyPr wrap="square" lIns="13716" rIns="13716" tIns="0" bIns="0">
            <a:spAutoFit/>
          </a:bodyPr>
          <a:lstStyle/>
          <a:p>
            <a:pPr>
              <a:spcAft>
                <a:spcPts val="500"/>
              </a:spcAft>
              <a:defRPr sz="1300" b="0">
                <a:solidFill>
                  <a:srgbClr val="A8B7CF"/>
                </a:solidFill>
                <a:latin typeface="Aptos"/>
              </a:defRPr>
            </a:pPr>
            <a:r>
              <a:t>Layer control, address generation and DMA triggers</a:t>
            </a:r>
          </a:p>
        </p:txBody>
      </p:sp>
      <p:sp>
        <p:nvSpPr>
          <p:cNvPr id="29" name="Right Arrow 28"/>
          <p:cNvSpPr/>
          <p:nvPr/>
        </p:nvSpPr>
        <p:spPr>
          <a:xfrm>
            <a:off x="3383280" y="3236976"/>
            <a:ext cx="502920" cy="164592"/>
          </a:xfrm>
          <a:prstGeom prst="rightArrow">
            <a:avLst/>
          </a:prstGeom>
          <a:solidFill>
            <a:srgbClr val="6B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ight Arrow 29"/>
          <p:cNvSpPr/>
          <p:nvPr/>
        </p:nvSpPr>
        <p:spPr>
          <a:xfrm>
            <a:off x="6364224" y="3236976"/>
            <a:ext cx="182880" cy="164592"/>
          </a:xfrm>
          <a:prstGeom prst="rightArrow">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197096" y="4288536"/>
            <a:ext cx="2112264" cy="1170432"/>
          </a:xfrm>
          <a:prstGeom prst="roundRect">
            <a:avLst>
              <a:gd name="adj" fmla="val 12000"/>
            </a:avLst>
          </a:prstGeom>
          <a:solidFill>
            <a:srgbClr val="1421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97096" y="4288536"/>
            <a:ext cx="41148" cy="1170432"/>
          </a:xfrm>
          <a:prstGeom prst="rect">
            <a:avLst/>
          </a:prstGeom>
          <a:solidFill>
            <a:srgbClr val="6B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379976" y="4453128"/>
            <a:ext cx="1746504" cy="457200"/>
          </a:xfrm>
          <a:prstGeom prst="rect">
            <a:avLst/>
          </a:prstGeom>
          <a:noFill/>
        </p:spPr>
        <p:txBody>
          <a:bodyPr wrap="square" lIns="13716" rIns="13716" tIns="0" bIns="0">
            <a:spAutoFit/>
          </a:bodyPr>
          <a:lstStyle/>
          <a:p>
            <a:pPr>
              <a:spcAft>
                <a:spcPts val="500"/>
              </a:spcAft>
              <a:defRPr sz="1800" b="1">
                <a:solidFill>
                  <a:srgbClr val="FFFFFF"/>
                </a:solidFill>
                <a:latin typeface="Aptos"/>
              </a:defRPr>
            </a:pPr>
            <a:r>
              <a:t>128-bit DMA</a:t>
            </a:r>
          </a:p>
        </p:txBody>
      </p:sp>
      <p:sp>
        <p:nvSpPr>
          <p:cNvPr id="34" name="TextBox 33"/>
          <p:cNvSpPr txBox="1"/>
          <p:nvPr/>
        </p:nvSpPr>
        <p:spPr>
          <a:xfrm>
            <a:off x="4379976" y="4901184"/>
            <a:ext cx="1746504" cy="512064"/>
          </a:xfrm>
          <a:prstGeom prst="rect">
            <a:avLst/>
          </a:prstGeom>
          <a:noFill/>
        </p:spPr>
        <p:txBody>
          <a:bodyPr wrap="square" lIns="13716" rIns="13716" tIns="0" bIns="0">
            <a:spAutoFit/>
          </a:bodyPr>
          <a:lstStyle/>
          <a:p>
            <a:pPr>
              <a:spcAft>
                <a:spcPts val="500"/>
              </a:spcAft>
              <a:defRPr sz="1300" b="0">
                <a:solidFill>
                  <a:srgbClr val="A8B7CF"/>
                </a:solidFill>
                <a:latin typeface="Aptos"/>
              </a:defRPr>
            </a:pPr>
            <a:r>
              <a:t>Read + write masters</a:t>
            </a:r>
          </a:p>
        </p:txBody>
      </p:sp>
      <p:sp>
        <p:nvSpPr>
          <p:cNvPr id="35" name="Rounded Rectangle 34"/>
          <p:cNvSpPr/>
          <p:nvPr/>
        </p:nvSpPr>
        <p:spPr>
          <a:xfrm>
            <a:off x="6601968" y="4288536"/>
            <a:ext cx="2084831" cy="1170432"/>
          </a:xfrm>
          <a:prstGeom prst="roundRect">
            <a:avLst>
              <a:gd name="adj" fmla="val 12000"/>
            </a:avLst>
          </a:prstGeom>
          <a:solidFill>
            <a:srgbClr val="1421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601968" y="4288536"/>
            <a:ext cx="41148" cy="1170432"/>
          </a:xfrm>
          <a:prstGeom prst="rect">
            <a:avLst/>
          </a:prstGeom>
          <a:solidFill>
            <a:srgbClr val="A69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84848" y="4453128"/>
            <a:ext cx="1719072" cy="457200"/>
          </a:xfrm>
          <a:prstGeom prst="rect">
            <a:avLst/>
          </a:prstGeom>
          <a:noFill/>
        </p:spPr>
        <p:txBody>
          <a:bodyPr wrap="square" lIns="13716" rIns="13716" tIns="0" bIns="0">
            <a:spAutoFit/>
          </a:bodyPr>
          <a:lstStyle/>
          <a:p>
            <a:pPr>
              <a:spcAft>
                <a:spcPts val="500"/>
              </a:spcAft>
              <a:defRPr sz="1800" b="1">
                <a:solidFill>
                  <a:srgbClr val="FFFFFF"/>
                </a:solidFill>
                <a:latin typeface="Aptos"/>
              </a:defRPr>
            </a:pPr>
            <a:r>
              <a:t>Banked SRAM</a:t>
            </a:r>
          </a:p>
        </p:txBody>
      </p:sp>
      <p:sp>
        <p:nvSpPr>
          <p:cNvPr id="38" name="TextBox 37"/>
          <p:cNvSpPr txBox="1"/>
          <p:nvPr/>
        </p:nvSpPr>
        <p:spPr>
          <a:xfrm>
            <a:off x="6784848" y="4901184"/>
            <a:ext cx="1719072" cy="512064"/>
          </a:xfrm>
          <a:prstGeom prst="rect">
            <a:avLst/>
          </a:prstGeom>
          <a:noFill/>
        </p:spPr>
        <p:txBody>
          <a:bodyPr wrap="square" lIns="13716" rIns="13716" tIns="0" bIns="0">
            <a:spAutoFit/>
          </a:bodyPr>
          <a:lstStyle/>
          <a:p>
            <a:pPr>
              <a:spcAft>
                <a:spcPts val="500"/>
              </a:spcAft>
              <a:defRPr sz="1300" b="0">
                <a:solidFill>
                  <a:srgbClr val="A8B7CF"/>
                </a:solidFill>
                <a:latin typeface="Aptos"/>
              </a:defRPr>
            </a:pPr>
            <a:r>
              <a:t>Activations + weights</a:t>
            </a:r>
          </a:p>
        </p:txBody>
      </p:sp>
      <p:sp>
        <p:nvSpPr>
          <p:cNvPr id="39" name="Rounded Rectangle 38"/>
          <p:cNvSpPr/>
          <p:nvPr/>
        </p:nvSpPr>
        <p:spPr>
          <a:xfrm>
            <a:off x="8979408" y="4288536"/>
            <a:ext cx="2423160" cy="1170432"/>
          </a:xfrm>
          <a:prstGeom prst="roundRect">
            <a:avLst>
              <a:gd name="adj" fmla="val 12000"/>
            </a:avLst>
          </a:prstGeom>
          <a:solidFill>
            <a:srgbClr val="1421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979408" y="4288536"/>
            <a:ext cx="41148" cy="117043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62288" y="4453128"/>
            <a:ext cx="2057400" cy="457200"/>
          </a:xfrm>
          <a:prstGeom prst="rect">
            <a:avLst/>
          </a:prstGeom>
          <a:noFill/>
        </p:spPr>
        <p:txBody>
          <a:bodyPr wrap="square" lIns="13716" rIns="13716" tIns="0" bIns="0">
            <a:spAutoFit/>
          </a:bodyPr>
          <a:lstStyle/>
          <a:p>
            <a:pPr>
              <a:spcAft>
                <a:spcPts val="500"/>
              </a:spcAft>
              <a:defRPr sz="1800" b="1">
                <a:solidFill>
                  <a:srgbClr val="FFFFFF"/>
                </a:solidFill>
                <a:latin typeface="Aptos"/>
              </a:defRPr>
            </a:pPr>
            <a:r>
              <a:t>256 PEs + PPU</a:t>
            </a:r>
          </a:p>
        </p:txBody>
      </p:sp>
      <p:sp>
        <p:nvSpPr>
          <p:cNvPr id="42" name="TextBox 41"/>
          <p:cNvSpPr txBox="1"/>
          <p:nvPr/>
        </p:nvSpPr>
        <p:spPr>
          <a:xfrm>
            <a:off x="9162288" y="4901184"/>
            <a:ext cx="2057400" cy="512064"/>
          </a:xfrm>
          <a:prstGeom prst="rect">
            <a:avLst/>
          </a:prstGeom>
          <a:noFill/>
        </p:spPr>
        <p:txBody>
          <a:bodyPr wrap="square" lIns="13716" rIns="13716" tIns="0" bIns="0">
            <a:spAutoFit/>
          </a:bodyPr>
          <a:lstStyle/>
          <a:p>
            <a:pPr>
              <a:spcAft>
                <a:spcPts val="500"/>
              </a:spcAft>
              <a:defRPr sz="1300" b="0">
                <a:solidFill>
                  <a:srgbClr val="A8B7CF"/>
                </a:solidFill>
                <a:latin typeface="Aptos"/>
              </a:defRPr>
            </a:pPr>
            <a:r>
              <a:t>MAC, activation, pooling</a:t>
            </a:r>
          </a:p>
        </p:txBody>
      </p:sp>
      <p:sp>
        <p:nvSpPr>
          <p:cNvPr id="43" name="Right Arrow 42"/>
          <p:cNvSpPr/>
          <p:nvPr/>
        </p:nvSpPr>
        <p:spPr>
          <a:xfrm>
            <a:off x="3383280" y="4809744"/>
            <a:ext cx="502920" cy="164592"/>
          </a:xfrm>
          <a:prstGeom prst="rightArrow">
            <a:avLst/>
          </a:prstGeom>
          <a:solidFill>
            <a:srgbClr val="6B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ight Arrow 43"/>
          <p:cNvSpPr/>
          <p:nvPr/>
        </p:nvSpPr>
        <p:spPr>
          <a:xfrm>
            <a:off x="6364224" y="4809744"/>
            <a:ext cx="182880" cy="164592"/>
          </a:xfrm>
          <a:prstGeom prst="rightArrow">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ight Arrow 44"/>
          <p:cNvSpPr/>
          <p:nvPr/>
        </p:nvSpPr>
        <p:spPr>
          <a:xfrm>
            <a:off x="8741664" y="4809744"/>
            <a:ext cx="182880" cy="164592"/>
          </a:xfrm>
          <a:prstGeom prst="rightArrow">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206240" y="5669280"/>
            <a:ext cx="7223760" cy="228600"/>
          </a:xfrm>
          <a:prstGeom prst="rect">
            <a:avLst/>
          </a:prstGeom>
          <a:noFill/>
        </p:spPr>
        <p:txBody>
          <a:bodyPr wrap="square" lIns="13716" rIns="13716" tIns="0" bIns="0">
            <a:spAutoFit/>
          </a:bodyPr>
          <a:lstStyle/>
          <a:p>
            <a:pPr>
              <a:spcAft>
                <a:spcPts val="500"/>
              </a:spcAft>
              <a:defRPr sz="1200" b="0">
                <a:solidFill>
                  <a:srgbClr val="A8B7CF"/>
                </a:solidFill>
                <a:latin typeface="Aptos"/>
              </a:defRPr>
            </a:pPr>
            <a:r>
              <a:t>Data path: DDR → SRAM → compute / post-processing → SRAM → DDR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6FA"/>
        </a:solidFill>
        <a:effectLst/>
      </p:bgPr>
    </p:bg>
    <p:spTree>
      <p:nvGrpSpPr>
        <p:cNvPr id="1" name=""/>
        <p:cNvGrpSpPr/>
        <p:nvPr/>
      </p:nvGrpSpPr>
      <p:grpSpPr/>
      <p:sp>
        <p:nvSpPr>
          <p:cNvPr id="2" name="TextBox 1"/>
          <p:cNvSpPr txBox="1"/>
          <p:nvPr/>
        </p:nvSpPr>
        <p:spPr>
          <a:xfrm>
            <a:off x="502920" y="274320"/>
            <a:ext cx="9144000" cy="210312"/>
          </a:xfrm>
          <a:prstGeom prst="rect">
            <a:avLst/>
          </a:prstGeom>
          <a:noFill/>
        </p:spPr>
        <p:txBody>
          <a:bodyPr wrap="square" lIns="13716" rIns="13716" tIns="0" bIns="0">
            <a:spAutoFit/>
          </a:bodyPr>
          <a:lstStyle/>
          <a:p>
            <a:pPr>
              <a:spcAft>
                <a:spcPts val="500"/>
              </a:spcAft>
              <a:defRPr sz="1000" b="1">
                <a:solidFill>
                  <a:srgbClr val="586980"/>
                </a:solidFill>
                <a:latin typeface="Aptos"/>
              </a:defRPr>
            </a:pPr>
            <a:r>
              <a:t>COMPUTE DESIGN</a:t>
            </a:r>
          </a:p>
        </p:txBody>
      </p:sp>
      <p:sp>
        <p:nvSpPr>
          <p:cNvPr id="3" name="TextBox 2"/>
          <p:cNvSpPr txBox="1"/>
          <p:nvPr/>
        </p:nvSpPr>
        <p:spPr>
          <a:xfrm>
            <a:off x="502920" y="713232"/>
            <a:ext cx="11155680" cy="640080"/>
          </a:xfrm>
          <a:prstGeom prst="rect">
            <a:avLst/>
          </a:prstGeom>
          <a:noFill/>
        </p:spPr>
        <p:txBody>
          <a:bodyPr wrap="square" lIns="13716" rIns="13716" tIns="0" bIns="0">
            <a:spAutoFit/>
          </a:bodyPr>
          <a:lstStyle/>
          <a:p>
            <a:pPr>
              <a:spcAft>
                <a:spcPts val="500"/>
              </a:spcAft>
              <a:defRPr sz="3000" b="1">
                <a:solidFill>
                  <a:srgbClr val="15233B"/>
                </a:solidFill>
                <a:latin typeface="Aptos Display"/>
              </a:defRPr>
            </a:pPr>
            <a:r>
              <a:t>Inside the compute engine</a:t>
            </a:r>
          </a:p>
        </p:txBody>
      </p:sp>
      <p:sp>
        <p:nvSpPr>
          <p:cNvPr id="4" name="TextBox 3"/>
          <p:cNvSpPr txBox="1"/>
          <p:nvPr/>
        </p:nvSpPr>
        <p:spPr>
          <a:xfrm>
            <a:off x="512064" y="1426464"/>
            <a:ext cx="11109960" cy="502920"/>
          </a:xfrm>
          <a:prstGeom prst="rect">
            <a:avLst/>
          </a:prstGeom>
          <a:noFill/>
        </p:spPr>
        <p:txBody>
          <a:bodyPr wrap="square" lIns="13716" rIns="13716" tIns="0" bIns="0">
            <a:spAutoFit/>
          </a:bodyPr>
          <a:lstStyle/>
          <a:p>
            <a:pPr>
              <a:spcAft>
                <a:spcPts val="500"/>
              </a:spcAft>
              <a:defRPr sz="1400" b="0">
                <a:solidFill>
                  <a:srgbClr val="586980"/>
                </a:solidFill>
                <a:latin typeface="Aptos"/>
              </a:defRPr>
            </a:pPr>
            <a:r>
              <a:t>One parameterized grid supports convolution, depthwise execution and dense matrix-vector stages.</a:t>
            </a:r>
          </a:p>
        </p:txBody>
      </p:sp>
      <p:sp>
        <p:nvSpPr>
          <p:cNvPr id="5" name="Rectangle 4"/>
          <p:cNvSpPr/>
          <p:nvPr/>
        </p:nvSpPr>
        <p:spPr>
          <a:xfrm>
            <a:off x="502920" y="6455664"/>
            <a:ext cx="11183112" cy="10972"/>
          </a:xfrm>
          <a:prstGeom prst="rect">
            <a:avLst/>
          </a:prstGeom>
          <a:solidFill>
            <a:srgbClr val="DCE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3657600" cy="155448"/>
          </a:xfrm>
          <a:prstGeom prst="rect">
            <a:avLst/>
          </a:prstGeom>
          <a:noFill/>
        </p:spPr>
        <p:txBody>
          <a:bodyPr wrap="square" lIns="13716" rIns="13716" tIns="0" bIns="0">
            <a:spAutoFit/>
          </a:bodyPr>
          <a:lstStyle/>
          <a:p>
            <a:pPr>
              <a:spcAft>
                <a:spcPts val="500"/>
              </a:spcAft>
              <a:defRPr sz="800" b="1">
                <a:solidFill>
                  <a:srgbClr val="586980"/>
                </a:solidFill>
                <a:latin typeface="Aptos"/>
              </a:defRPr>
            </a:pPr>
            <a:r>
              <a:t>UNIFIED C-ENGINE  /  ZCU106</a:t>
            </a:r>
          </a:p>
        </p:txBody>
      </p:sp>
      <p:sp>
        <p:nvSpPr>
          <p:cNvPr id="7" name="TextBox 6"/>
          <p:cNvSpPr txBox="1"/>
          <p:nvPr/>
        </p:nvSpPr>
        <p:spPr>
          <a:xfrm>
            <a:off x="3657600" y="6556248"/>
            <a:ext cx="6949440" cy="182880"/>
          </a:xfrm>
          <a:prstGeom prst="rect">
            <a:avLst/>
          </a:prstGeom>
          <a:noFill/>
        </p:spPr>
        <p:txBody>
          <a:bodyPr wrap="square" lIns="13716" rIns="13716" tIns="0" bIns="0">
            <a:spAutoFit/>
          </a:bodyPr>
          <a:lstStyle/>
          <a:p>
            <a:pPr algn="r">
              <a:spcAft>
                <a:spcPts val="500"/>
              </a:spcAft>
              <a:defRPr sz="800" b="0">
                <a:solidFill>
                  <a:srgbClr val="586980"/>
                </a:solidFill>
                <a:latin typeface="Aptos"/>
              </a:defRPr>
            </a:pPr>
            <a:r>
              <a:t>rtl/processing_element.v • c_engine.v • requantization_block.v</a:t>
            </a:r>
          </a:p>
        </p:txBody>
      </p:sp>
      <p:sp>
        <p:nvSpPr>
          <p:cNvPr id="8" name="TextBox 7"/>
          <p:cNvSpPr txBox="1"/>
          <p:nvPr/>
        </p:nvSpPr>
        <p:spPr>
          <a:xfrm>
            <a:off x="10927080" y="6547104"/>
            <a:ext cx="731520" cy="201168"/>
          </a:xfrm>
          <a:prstGeom prst="rect">
            <a:avLst/>
          </a:prstGeom>
          <a:noFill/>
        </p:spPr>
        <p:txBody>
          <a:bodyPr wrap="square" lIns="13716" rIns="13716" tIns="0" bIns="0">
            <a:spAutoFit/>
          </a:bodyPr>
          <a:lstStyle/>
          <a:p>
            <a:pPr algn="r">
              <a:spcAft>
                <a:spcPts val="500"/>
              </a:spcAft>
              <a:defRPr sz="900" b="0">
                <a:solidFill>
                  <a:srgbClr val="586980"/>
                </a:solidFill>
                <a:latin typeface="Aptos"/>
              </a:defRPr>
            </a:pPr>
            <a:r>
              <a:t>06 / 17</a:t>
            </a:r>
          </a:p>
        </p:txBody>
      </p:sp>
      <p:sp>
        <p:nvSpPr>
          <p:cNvPr id="9" name="Rounded Rectangle 8"/>
          <p:cNvSpPr/>
          <p:nvPr/>
        </p:nvSpPr>
        <p:spPr>
          <a:xfrm>
            <a:off x="502920" y="2057400"/>
            <a:ext cx="4681728" cy="3547872"/>
          </a:xfrm>
          <a:prstGeom prst="roundRect">
            <a:avLst>
              <a:gd name="adj" fmla="val 12000"/>
            </a:avLst>
          </a:prstGeom>
          <a:solidFill>
            <a:srgbClr val="0B12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86000"/>
            <a:ext cx="4206240" cy="502920"/>
          </a:xfrm>
          <a:prstGeom prst="rect">
            <a:avLst/>
          </a:prstGeom>
          <a:noFill/>
        </p:spPr>
        <p:txBody>
          <a:bodyPr wrap="square" lIns="13716" rIns="13716" tIns="0" bIns="0">
            <a:spAutoFit/>
          </a:bodyPr>
          <a:lstStyle/>
          <a:p>
            <a:pPr>
              <a:spcAft>
                <a:spcPts val="500"/>
              </a:spcAft>
              <a:defRPr sz="2000" b="1">
                <a:solidFill>
                  <a:srgbClr val="FFFFFF"/>
                </a:solidFill>
                <a:latin typeface="Aptos"/>
              </a:defRPr>
            </a:pPr>
            <a:r>
              <a:t>256 signed MAC units</a:t>
            </a:r>
          </a:p>
        </p:txBody>
      </p:sp>
      <p:sp>
        <p:nvSpPr>
          <p:cNvPr id="11" name="Rectangle 10"/>
          <p:cNvSpPr/>
          <p:nvPr/>
        </p:nvSpPr>
        <p:spPr>
          <a:xfrm>
            <a:off x="768096" y="310896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96112" y="310896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024128" y="31089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52144" y="31089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280160" y="31089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408176" y="310896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536192" y="310896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664208" y="31089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792224" y="31089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920240" y="31089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048256" y="310896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176272" y="310896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304288" y="31089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432304" y="31089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60320" y="31089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688336" y="310896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816352" y="310896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944368" y="31089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072384" y="31089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00400" y="31089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328416" y="310896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456432" y="310896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584448" y="31089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12464" y="31089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40480" y="31089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968496" y="310896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096512" y="310896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224528" y="31089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352544" y="31089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480560" y="31089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608576" y="310896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736592" y="310896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68096" y="329184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96112" y="32918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024128" y="32918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152144" y="32918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280160" y="329184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408176" y="329184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536192" y="32918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664208" y="32918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792224" y="32918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920240" y="329184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048256" y="329184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176272" y="32918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304288" y="32918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2432304" y="32918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2560320" y="329184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688336" y="329184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2816352" y="32918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2944368" y="32918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3072384" y="32918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3200400" y="329184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28416" y="329184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3456432" y="32918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3584448" y="32918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3712464" y="32918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840480" y="329184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3968496" y="329184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096512" y="32918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224528" y="32918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4352544" y="32918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480560" y="329184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608576" y="329184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4736592" y="32918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768096" y="34747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896112" y="34747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024128" y="34747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152144" y="347472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280160" y="347472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408176" y="34747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536192" y="34747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664208" y="34747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1792224" y="347472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1920240" y="347472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2048256" y="34747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2176272" y="34747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2304288" y="34747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2432304" y="347472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2560320" y="347472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2688336" y="34747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2816352" y="34747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2944368" y="34747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3072384" y="347472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3200400" y="347472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3328416" y="34747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3456432" y="34747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3584448" y="34747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3712464" y="347472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3840480" y="347472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3968496" y="34747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096512" y="34747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4224528" y="34747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4352544" y="347472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4480560" y="347472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4608576" y="34747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4736592" y="34747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768096" y="365760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896112" y="365760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024128" y="365760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152144" y="365760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280160" y="365760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408176" y="365760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536192" y="365760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664208" y="365760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792224" y="365760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920240" y="365760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2048256" y="365760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2176272" y="365760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2304288" y="365760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2432304" y="365760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2560320" y="365760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2688336" y="365760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2816352" y="365760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2944368" y="365760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3072384" y="365760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3200400" y="365760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3328416" y="365760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3456432" y="365760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3584448" y="365760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3712464" y="365760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3840480" y="365760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3968496" y="365760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4096512" y="365760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4224528" y="365760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4352544" y="365760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4480560" y="365760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4608576" y="365760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4736592" y="365760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768096" y="384048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896112" y="384048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024128" y="384048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152144" y="384048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1280160" y="384048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1408176" y="384048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1536192" y="384048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664208" y="384048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1792224" y="384048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1920240" y="384048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2048256" y="384048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2176272" y="384048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2304288" y="384048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2432304" y="384048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2560320" y="384048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2688336" y="384048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2816352" y="384048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2944368" y="384048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3072384" y="384048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3200400" y="384048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3328416" y="384048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3456432" y="384048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3584448" y="384048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3712464" y="384048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ectangle 162"/>
          <p:cNvSpPr/>
          <p:nvPr/>
        </p:nvSpPr>
        <p:spPr>
          <a:xfrm>
            <a:off x="3840480" y="384048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3968496" y="384048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4096512" y="384048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4224528" y="384048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Rectangle 166"/>
          <p:cNvSpPr/>
          <p:nvPr/>
        </p:nvSpPr>
        <p:spPr>
          <a:xfrm>
            <a:off x="4352544" y="384048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ectangle 167"/>
          <p:cNvSpPr/>
          <p:nvPr/>
        </p:nvSpPr>
        <p:spPr>
          <a:xfrm>
            <a:off x="4480560" y="384048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ectangle 168"/>
          <p:cNvSpPr/>
          <p:nvPr/>
        </p:nvSpPr>
        <p:spPr>
          <a:xfrm>
            <a:off x="4608576" y="384048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4736592" y="384048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768096" y="402336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ectangle 171"/>
          <p:cNvSpPr/>
          <p:nvPr/>
        </p:nvSpPr>
        <p:spPr>
          <a:xfrm>
            <a:off x="896112" y="402336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1024128" y="40233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1152144" y="40233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Rectangle 174"/>
          <p:cNvSpPr/>
          <p:nvPr/>
        </p:nvSpPr>
        <p:spPr>
          <a:xfrm>
            <a:off x="1280160" y="40233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ectangle 175"/>
          <p:cNvSpPr/>
          <p:nvPr/>
        </p:nvSpPr>
        <p:spPr>
          <a:xfrm>
            <a:off x="1408176" y="402336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ectangle 176"/>
          <p:cNvSpPr/>
          <p:nvPr/>
        </p:nvSpPr>
        <p:spPr>
          <a:xfrm>
            <a:off x="1536192" y="402336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ectangle 177"/>
          <p:cNvSpPr/>
          <p:nvPr/>
        </p:nvSpPr>
        <p:spPr>
          <a:xfrm>
            <a:off x="1664208" y="40233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Rectangle 178"/>
          <p:cNvSpPr/>
          <p:nvPr/>
        </p:nvSpPr>
        <p:spPr>
          <a:xfrm>
            <a:off x="1792224" y="40233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ectangle 179"/>
          <p:cNvSpPr/>
          <p:nvPr/>
        </p:nvSpPr>
        <p:spPr>
          <a:xfrm>
            <a:off x="1920240" y="40233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ectangle 180"/>
          <p:cNvSpPr/>
          <p:nvPr/>
        </p:nvSpPr>
        <p:spPr>
          <a:xfrm>
            <a:off x="2048256" y="402336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2176272" y="402336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Rectangle 182"/>
          <p:cNvSpPr/>
          <p:nvPr/>
        </p:nvSpPr>
        <p:spPr>
          <a:xfrm>
            <a:off x="2304288" y="40233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Rectangle 183"/>
          <p:cNvSpPr/>
          <p:nvPr/>
        </p:nvSpPr>
        <p:spPr>
          <a:xfrm>
            <a:off x="2432304" y="40233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Rectangle 184"/>
          <p:cNvSpPr/>
          <p:nvPr/>
        </p:nvSpPr>
        <p:spPr>
          <a:xfrm>
            <a:off x="2560320" y="40233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2688336" y="402336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Rectangle 186"/>
          <p:cNvSpPr/>
          <p:nvPr/>
        </p:nvSpPr>
        <p:spPr>
          <a:xfrm>
            <a:off x="2816352" y="402336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2944368" y="40233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Rectangle 188"/>
          <p:cNvSpPr/>
          <p:nvPr/>
        </p:nvSpPr>
        <p:spPr>
          <a:xfrm>
            <a:off x="3072384" y="40233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Rectangle 189"/>
          <p:cNvSpPr/>
          <p:nvPr/>
        </p:nvSpPr>
        <p:spPr>
          <a:xfrm>
            <a:off x="3200400" y="40233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3328416" y="402336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Rectangle 191"/>
          <p:cNvSpPr/>
          <p:nvPr/>
        </p:nvSpPr>
        <p:spPr>
          <a:xfrm>
            <a:off x="3456432" y="402336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Rectangle 192"/>
          <p:cNvSpPr/>
          <p:nvPr/>
        </p:nvSpPr>
        <p:spPr>
          <a:xfrm>
            <a:off x="3584448" y="40233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Rectangle 193"/>
          <p:cNvSpPr/>
          <p:nvPr/>
        </p:nvSpPr>
        <p:spPr>
          <a:xfrm>
            <a:off x="3712464" y="40233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Rectangle 194"/>
          <p:cNvSpPr/>
          <p:nvPr/>
        </p:nvSpPr>
        <p:spPr>
          <a:xfrm>
            <a:off x="3840480" y="40233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ectangle 195"/>
          <p:cNvSpPr/>
          <p:nvPr/>
        </p:nvSpPr>
        <p:spPr>
          <a:xfrm>
            <a:off x="3968496" y="402336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4096512" y="402336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4224528" y="40233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4352544" y="40233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Rectangle 199"/>
          <p:cNvSpPr/>
          <p:nvPr/>
        </p:nvSpPr>
        <p:spPr>
          <a:xfrm>
            <a:off x="4480560" y="402336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ectangle 200"/>
          <p:cNvSpPr/>
          <p:nvPr/>
        </p:nvSpPr>
        <p:spPr>
          <a:xfrm>
            <a:off x="4608576" y="402336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Rectangle 201"/>
          <p:cNvSpPr/>
          <p:nvPr/>
        </p:nvSpPr>
        <p:spPr>
          <a:xfrm>
            <a:off x="4736592" y="402336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ectangle 202"/>
          <p:cNvSpPr/>
          <p:nvPr/>
        </p:nvSpPr>
        <p:spPr>
          <a:xfrm>
            <a:off x="768096" y="420624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ectangle 203"/>
          <p:cNvSpPr/>
          <p:nvPr/>
        </p:nvSpPr>
        <p:spPr>
          <a:xfrm>
            <a:off x="896112" y="42062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ectangle 204"/>
          <p:cNvSpPr/>
          <p:nvPr/>
        </p:nvSpPr>
        <p:spPr>
          <a:xfrm>
            <a:off x="1024128" y="42062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Rectangle 205"/>
          <p:cNvSpPr/>
          <p:nvPr/>
        </p:nvSpPr>
        <p:spPr>
          <a:xfrm>
            <a:off x="1152144" y="42062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Rectangle 206"/>
          <p:cNvSpPr/>
          <p:nvPr/>
        </p:nvSpPr>
        <p:spPr>
          <a:xfrm>
            <a:off x="1280160" y="420624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Rectangle 207"/>
          <p:cNvSpPr/>
          <p:nvPr/>
        </p:nvSpPr>
        <p:spPr>
          <a:xfrm>
            <a:off x="1408176" y="420624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1536192" y="42062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1664208" y="42062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Rectangle 210"/>
          <p:cNvSpPr/>
          <p:nvPr/>
        </p:nvSpPr>
        <p:spPr>
          <a:xfrm>
            <a:off x="1792224" y="42062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Rectangle 211"/>
          <p:cNvSpPr/>
          <p:nvPr/>
        </p:nvSpPr>
        <p:spPr>
          <a:xfrm>
            <a:off x="1920240" y="420624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Rectangle 212"/>
          <p:cNvSpPr/>
          <p:nvPr/>
        </p:nvSpPr>
        <p:spPr>
          <a:xfrm>
            <a:off x="2048256" y="420624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Rectangle 213"/>
          <p:cNvSpPr/>
          <p:nvPr/>
        </p:nvSpPr>
        <p:spPr>
          <a:xfrm>
            <a:off x="2176272" y="42062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Rectangle 214"/>
          <p:cNvSpPr/>
          <p:nvPr/>
        </p:nvSpPr>
        <p:spPr>
          <a:xfrm>
            <a:off x="2304288" y="42062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Rectangle 215"/>
          <p:cNvSpPr/>
          <p:nvPr/>
        </p:nvSpPr>
        <p:spPr>
          <a:xfrm>
            <a:off x="2432304" y="42062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Rectangle 216"/>
          <p:cNvSpPr/>
          <p:nvPr/>
        </p:nvSpPr>
        <p:spPr>
          <a:xfrm>
            <a:off x="2560320" y="420624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Rectangle 217"/>
          <p:cNvSpPr/>
          <p:nvPr/>
        </p:nvSpPr>
        <p:spPr>
          <a:xfrm>
            <a:off x="2688336" y="420624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Rectangle 218"/>
          <p:cNvSpPr/>
          <p:nvPr/>
        </p:nvSpPr>
        <p:spPr>
          <a:xfrm>
            <a:off x="2816352" y="42062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2944368" y="42062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Rectangle 220"/>
          <p:cNvSpPr/>
          <p:nvPr/>
        </p:nvSpPr>
        <p:spPr>
          <a:xfrm>
            <a:off x="3072384" y="42062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3200400" y="420624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Rectangle 222"/>
          <p:cNvSpPr/>
          <p:nvPr/>
        </p:nvSpPr>
        <p:spPr>
          <a:xfrm>
            <a:off x="3328416" y="420624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Rectangle 223"/>
          <p:cNvSpPr/>
          <p:nvPr/>
        </p:nvSpPr>
        <p:spPr>
          <a:xfrm>
            <a:off x="3456432" y="42062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Rectangle 224"/>
          <p:cNvSpPr/>
          <p:nvPr/>
        </p:nvSpPr>
        <p:spPr>
          <a:xfrm>
            <a:off x="3584448" y="42062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Rectangle 225"/>
          <p:cNvSpPr/>
          <p:nvPr/>
        </p:nvSpPr>
        <p:spPr>
          <a:xfrm>
            <a:off x="3712464" y="42062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3840480" y="420624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3968496" y="420624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4096512" y="42062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Rectangle 229"/>
          <p:cNvSpPr/>
          <p:nvPr/>
        </p:nvSpPr>
        <p:spPr>
          <a:xfrm>
            <a:off x="4224528" y="42062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Rectangle 230"/>
          <p:cNvSpPr/>
          <p:nvPr/>
        </p:nvSpPr>
        <p:spPr>
          <a:xfrm>
            <a:off x="4352544" y="42062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4480560" y="420624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4608576" y="420624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ectangle 233"/>
          <p:cNvSpPr/>
          <p:nvPr/>
        </p:nvSpPr>
        <p:spPr>
          <a:xfrm>
            <a:off x="4736592" y="420624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Rectangle 234"/>
          <p:cNvSpPr/>
          <p:nvPr/>
        </p:nvSpPr>
        <p:spPr>
          <a:xfrm>
            <a:off x="768096" y="43891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Rectangle 235"/>
          <p:cNvSpPr/>
          <p:nvPr/>
        </p:nvSpPr>
        <p:spPr>
          <a:xfrm>
            <a:off x="896112" y="43891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1024128" y="43891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1152144" y="438912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ectangle 238"/>
          <p:cNvSpPr/>
          <p:nvPr/>
        </p:nvSpPr>
        <p:spPr>
          <a:xfrm>
            <a:off x="1280160" y="438912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Rectangle 239"/>
          <p:cNvSpPr/>
          <p:nvPr/>
        </p:nvSpPr>
        <p:spPr>
          <a:xfrm>
            <a:off x="1408176" y="43891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Rectangle 240"/>
          <p:cNvSpPr/>
          <p:nvPr/>
        </p:nvSpPr>
        <p:spPr>
          <a:xfrm>
            <a:off x="1536192" y="43891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ectangle 241"/>
          <p:cNvSpPr/>
          <p:nvPr/>
        </p:nvSpPr>
        <p:spPr>
          <a:xfrm>
            <a:off x="1664208" y="43891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Rectangle 242"/>
          <p:cNvSpPr/>
          <p:nvPr/>
        </p:nvSpPr>
        <p:spPr>
          <a:xfrm>
            <a:off x="1792224" y="438912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ectangle 243"/>
          <p:cNvSpPr/>
          <p:nvPr/>
        </p:nvSpPr>
        <p:spPr>
          <a:xfrm>
            <a:off x="1920240" y="438912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Rectangle 244"/>
          <p:cNvSpPr/>
          <p:nvPr/>
        </p:nvSpPr>
        <p:spPr>
          <a:xfrm>
            <a:off x="2048256" y="43891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Rectangle 245"/>
          <p:cNvSpPr/>
          <p:nvPr/>
        </p:nvSpPr>
        <p:spPr>
          <a:xfrm>
            <a:off x="2176272" y="43891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2304288" y="43891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Rectangle 247"/>
          <p:cNvSpPr/>
          <p:nvPr/>
        </p:nvSpPr>
        <p:spPr>
          <a:xfrm>
            <a:off x="2432304" y="438912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Rectangle 248"/>
          <p:cNvSpPr/>
          <p:nvPr/>
        </p:nvSpPr>
        <p:spPr>
          <a:xfrm>
            <a:off x="2560320" y="438912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2688336" y="43891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Rectangle 250"/>
          <p:cNvSpPr/>
          <p:nvPr/>
        </p:nvSpPr>
        <p:spPr>
          <a:xfrm>
            <a:off x="2816352" y="43891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2944368" y="43891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ectangle 252"/>
          <p:cNvSpPr/>
          <p:nvPr/>
        </p:nvSpPr>
        <p:spPr>
          <a:xfrm>
            <a:off x="3072384" y="438912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ectangle 253"/>
          <p:cNvSpPr/>
          <p:nvPr/>
        </p:nvSpPr>
        <p:spPr>
          <a:xfrm>
            <a:off x="3200400" y="438912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Rectangle 254"/>
          <p:cNvSpPr/>
          <p:nvPr/>
        </p:nvSpPr>
        <p:spPr>
          <a:xfrm>
            <a:off x="3328416" y="43891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Rectangle 255"/>
          <p:cNvSpPr/>
          <p:nvPr/>
        </p:nvSpPr>
        <p:spPr>
          <a:xfrm>
            <a:off x="3456432" y="43891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Rectangle 256"/>
          <p:cNvSpPr/>
          <p:nvPr/>
        </p:nvSpPr>
        <p:spPr>
          <a:xfrm>
            <a:off x="3584448" y="43891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3712464" y="438912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Rectangle 258"/>
          <p:cNvSpPr/>
          <p:nvPr/>
        </p:nvSpPr>
        <p:spPr>
          <a:xfrm>
            <a:off x="3840480" y="438912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Rectangle 259"/>
          <p:cNvSpPr/>
          <p:nvPr/>
        </p:nvSpPr>
        <p:spPr>
          <a:xfrm>
            <a:off x="3968496" y="43891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Rectangle 260"/>
          <p:cNvSpPr/>
          <p:nvPr/>
        </p:nvSpPr>
        <p:spPr>
          <a:xfrm>
            <a:off x="4096512" y="43891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Rectangle 261"/>
          <p:cNvSpPr/>
          <p:nvPr/>
        </p:nvSpPr>
        <p:spPr>
          <a:xfrm>
            <a:off x="4224528" y="43891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4352544" y="438912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Rectangle 263"/>
          <p:cNvSpPr/>
          <p:nvPr/>
        </p:nvSpPr>
        <p:spPr>
          <a:xfrm>
            <a:off x="4480560" y="4389120"/>
            <a:ext cx="91440" cy="11887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Rectangle 264"/>
          <p:cNvSpPr/>
          <p:nvPr/>
        </p:nvSpPr>
        <p:spPr>
          <a:xfrm>
            <a:off x="4608576" y="43891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Rectangle 265"/>
          <p:cNvSpPr/>
          <p:nvPr/>
        </p:nvSpPr>
        <p:spPr>
          <a:xfrm>
            <a:off x="4736592" y="4389120"/>
            <a:ext cx="91440" cy="118872"/>
          </a:xfrm>
          <a:prstGeom prst="rect">
            <a:avLst/>
          </a:prstGeom>
          <a:solidFill>
            <a:srgbClr val="345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TextBox 266"/>
          <p:cNvSpPr txBox="1"/>
          <p:nvPr/>
        </p:nvSpPr>
        <p:spPr>
          <a:xfrm>
            <a:off x="749808" y="4828032"/>
            <a:ext cx="4160520" cy="594360"/>
          </a:xfrm>
          <a:prstGeom prst="rect">
            <a:avLst/>
          </a:prstGeom>
          <a:noFill/>
        </p:spPr>
        <p:txBody>
          <a:bodyPr wrap="square" lIns="13716" rIns="13716" tIns="0" bIns="0">
            <a:spAutoFit/>
          </a:bodyPr>
          <a:lstStyle/>
          <a:p>
            <a:pPr>
              <a:spcAft>
                <a:spcPts val="500"/>
              </a:spcAft>
              <a:defRPr sz="1500" b="0">
                <a:solidFill>
                  <a:srgbClr val="A8B7CF"/>
                </a:solidFill>
                <a:latin typeface="Aptos"/>
              </a:defRPr>
            </a:pPr>
            <a:r>
              <a:t>Horizontal / vertical forwarding</a:t>
            </a:r>
          </a:p>
          <a:p>
            <a:pPr>
              <a:spcAft>
                <a:spcPts val="500"/>
              </a:spcAft>
              <a:defRPr sz="1500" b="0">
                <a:solidFill>
                  <a:srgbClr val="A8B7CF"/>
                </a:solidFill>
                <a:latin typeface="Aptos"/>
              </a:defRPr>
            </a:pPr>
            <a:r>
              <a:t>Local accumulation + bias injection</a:t>
            </a:r>
          </a:p>
        </p:txBody>
      </p:sp>
      <p:sp>
        <p:nvSpPr>
          <p:cNvPr id="268" name="Rounded Rectangle 267"/>
          <p:cNvSpPr/>
          <p:nvPr/>
        </p:nvSpPr>
        <p:spPr>
          <a:xfrm>
            <a:off x="5532120" y="2112264"/>
            <a:ext cx="429768" cy="274320"/>
          </a:xfrm>
          <a:prstGeom prst="roundRect">
            <a:avLst>
              <a:gd name="adj" fmla="val 12000"/>
            </a:avLst>
          </a:prstGeom>
          <a:solidFill>
            <a:srgbClr val="E5E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TextBox 268"/>
          <p:cNvSpPr txBox="1"/>
          <p:nvPr/>
        </p:nvSpPr>
        <p:spPr>
          <a:xfrm>
            <a:off x="5623559" y="2148840"/>
            <a:ext cx="265176" cy="201168"/>
          </a:xfrm>
          <a:prstGeom prst="rect">
            <a:avLst/>
          </a:prstGeom>
          <a:noFill/>
        </p:spPr>
        <p:txBody>
          <a:bodyPr wrap="square" lIns="13716" rIns="13716" tIns="0" bIns="0">
            <a:spAutoFit/>
          </a:bodyPr>
          <a:lstStyle/>
          <a:p>
            <a:pPr>
              <a:spcAft>
                <a:spcPts val="500"/>
              </a:spcAft>
              <a:defRPr sz="1000" b="1">
                <a:solidFill>
                  <a:srgbClr val="35DFC3"/>
                </a:solidFill>
                <a:latin typeface="Aptos"/>
              </a:defRPr>
            </a:pPr>
            <a:r>
              <a:t>01</a:t>
            </a:r>
          </a:p>
        </p:txBody>
      </p:sp>
      <p:sp>
        <p:nvSpPr>
          <p:cNvPr id="270" name="TextBox 269"/>
          <p:cNvSpPr txBox="1"/>
          <p:nvPr/>
        </p:nvSpPr>
        <p:spPr>
          <a:xfrm>
            <a:off x="6144768" y="2112264"/>
            <a:ext cx="4937760" cy="320040"/>
          </a:xfrm>
          <a:prstGeom prst="rect">
            <a:avLst/>
          </a:prstGeom>
          <a:noFill/>
        </p:spPr>
        <p:txBody>
          <a:bodyPr wrap="square" lIns="13716" rIns="13716" tIns="0" bIns="0">
            <a:spAutoFit/>
          </a:bodyPr>
          <a:lstStyle/>
          <a:p>
            <a:pPr>
              <a:spcAft>
                <a:spcPts val="500"/>
              </a:spcAft>
              <a:defRPr sz="2000" b="1">
                <a:solidFill>
                  <a:srgbClr val="15233B"/>
                </a:solidFill>
                <a:latin typeface="Aptos"/>
              </a:defRPr>
            </a:pPr>
            <a:r>
              <a:t>Accumulate</a:t>
            </a:r>
          </a:p>
        </p:txBody>
      </p:sp>
      <p:sp>
        <p:nvSpPr>
          <p:cNvPr id="271" name="TextBox 270"/>
          <p:cNvSpPr txBox="1"/>
          <p:nvPr/>
        </p:nvSpPr>
        <p:spPr>
          <a:xfrm>
            <a:off x="6144768" y="2505456"/>
            <a:ext cx="5120640" cy="320040"/>
          </a:xfrm>
          <a:prstGeom prst="rect">
            <a:avLst/>
          </a:prstGeom>
          <a:noFill/>
        </p:spPr>
        <p:txBody>
          <a:bodyPr wrap="square" lIns="13716" rIns="13716" tIns="0" bIns="0">
            <a:spAutoFit/>
          </a:bodyPr>
          <a:lstStyle/>
          <a:p>
            <a:pPr>
              <a:spcAft>
                <a:spcPts val="500"/>
              </a:spcAft>
              <a:defRPr sz="1500" b="0">
                <a:solidFill>
                  <a:srgbClr val="586980"/>
                </a:solidFill>
                <a:latin typeface="Aptos"/>
              </a:defRPr>
            </a:pPr>
            <a:r>
              <a:t>INT8 → INT32; INT16 → INT48</a:t>
            </a:r>
          </a:p>
        </p:txBody>
      </p:sp>
      <p:sp>
        <p:nvSpPr>
          <p:cNvPr id="272" name="Rounded Rectangle 271"/>
          <p:cNvSpPr/>
          <p:nvPr/>
        </p:nvSpPr>
        <p:spPr>
          <a:xfrm>
            <a:off x="5532120" y="2962656"/>
            <a:ext cx="429768" cy="274320"/>
          </a:xfrm>
          <a:prstGeom prst="roundRect">
            <a:avLst>
              <a:gd name="adj" fmla="val 12000"/>
            </a:avLst>
          </a:prstGeom>
          <a:solidFill>
            <a:srgbClr val="E5E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TextBox 272"/>
          <p:cNvSpPr txBox="1"/>
          <p:nvPr/>
        </p:nvSpPr>
        <p:spPr>
          <a:xfrm>
            <a:off x="5623559" y="2999232"/>
            <a:ext cx="265176" cy="201168"/>
          </a:xfrm>
          <a:prstGeom prst="rect">
            <a:avLst/>
          </a:prstGeom>
          <a:noFill/>
        </p:spPr>
        <p:txBody>
          <a:bodyPr wrap="square" lIns="13716" rIns="13716" tIns="0" bIns="0">
            <a:spAutoFit/>
          </a:bodyPr>
          <a:lstStyle/>
          <a:p>
            <a:pPr>
              <a:spcAft>
                <a:spcPts val="500"/>
              </a:spcAft>
              <a:defRPr sz="1000" b="1">
                <a:solidFill>
                  <a:srgbClr val="35DFC3"/>
                </a:solidFill>
                <a:latin typeface="Aptos"/>
              </a:defRPr>
            </a:pPr>
            <a:r>
              <a:t>02</a:t>
            </a:r>
          </a:p>
        </p:txBody>
      </p:sp>
      <p:sp>
        <p:nvSpPr>
          <p:cNvPr id="274" name="TextBox 273"/>
          <p:cNvSpPr txBox="1"/>
          <p:nvPr/>
        </p:nvSpPr>
        <p:spPr>
          <a:xfrm>
            <a:off x="6144768" y="2962656"/>
            <a:ext cx="4937760" cy="320040"/>
          </a:xfrm>
          <a:prstGeom prst="rect">
            <a:avLst/>
          </a:prstGeom>
          <a:noFill/>
        </p:spPr>
        <p:txBody>
          <a:bodyPr wrap="square" lIns="13716" rIns="13716" tIns="0" bIns="0">
            <a:spAutoFit/>
          </a:bodyPr>
          <a:lstStyle/>
          <a:p>
            <a:pPr>
              <a:spcAft>
                <a:spcPts val="500"/>
              </a:spcAft>
              <a:defRPr sz="2000" b="1">
                <a:solidFill>
                  <a:srgbClr val="15233B"/>
                </a:solidFill>
                <a:latin typeface="Aptos"/>
              </a:defRPr>
            </a:pPr>
            <a:r>
              <a:t>Requantize</a:t>
            </a:r>
          </a:p>
        </p:txBody>
      </p:sp>
      <p:sp>
        <p:nvSpPr>
          <p:cNvPr id="275" name="TextBox 274"/>
          <p:cNvSpPr txBox="1"/>
          <p:nvPr/>
        </p:nvSpPr>
        <p:spPr>
          <a:xfrm>
            <a:off x="6144768" y="3355848"/>
            <a:ext cx="5120640" cy="320040"/>
          </a:xfrm>
          <a:prstGeom prst="rect">
            <a:avLst/>
          </a:prstGeom>
          <a:noFill/>
        </p:spPr>
        <p:txBody>
          <a:bodyPr wrap="square" lIns="13716" rIns="13716" tIns="0" bIns="0">
            <a:spAutoFit/>
          </a:bodyPr>
          <a:lstStyle/>
          <a:p>
            <a:pPr>
              <a:spcAft>
                <a:spcPts val="500"/>
              </a:spcAft>
              <a:defRPr sz="1500" b="0">
                <a:solidFill>
                  <a:srgbClr val="586980"/>
                </a:solidFill>
                <a:latin typeface="Aptos"/>
              </a:defRPr>
            </a:pPr>
            <a:r>
              <a:t>Arithmetic shift and saturation</a:t>
            </a:r>
          </a:p>
        </p:txBody>
      </p:sp>
      <p:sp>
        <p:nvSpPr>
          <p:cNvPr id="276" name="Rounded Rectangle 275"/>
          <p:cNvSpPr/>
          <p:nvPr/>
        </p:nvSpPr>
        <p:spPr>
          <a:xfrm>
            <a:off x="5532120" y="3813048"/>
            <a:ext cx="429768" cy="274320"/>
          </a:xfrm>
          <a:prstGeom prst="roundRect">
            <a:avLst>
              <a:gd name="adj" fmla="val 12000"/>
            </a:avLst>
          </a:prstGeom>
          <a:solidFill>
            <a:srgbClr val="E5E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TextBox 276"/>
          <p:cNvSpPr txBox="1"/>
          <p:nvPr/>
        </p:nvSpPr>
        <p:spPr>
          <a:xfrm>
            <a:off x="5623559" y="3849624"/>
            <a:ext cx="265176" cy="201168"/>
          </a:xfrm>
          <a:prstGeom prst="rect">
            <a:avLst/>
          </a:prstGeom>
          <a:noFill/>
        </p:spPr>
        <p:txBody>
          <a:bodyPr wrap="square" lIns="13716" rIns="13716" tIns="0" bIns="0">
            <a:spAutoFit/>
          </a:bodyPr>
          <a:lstStyle/>
          <a:p>
            <a:pPr>
              <a:spcAft>
                <a:spcPts val="500"/>
              </a:spcAft>
              <a:defRPr sz="1000" b="1">
                <a:solidFill>
                  <a:srgbClr val="35DFC3"/>
                </a:solidFill>
                <a:latin typeface="Aptos"/>
              </a:defRPr>
            </a:pPr>
            <a:r>
              <a:t>03</a:t>
            </a:r>
          </a:p>
        </p:txBody>
      </p:sp>
      <p:sp>
        <p:nvSpPr>
          <p:cNvPr id="278" name="TextBox 277"/>
          <p:cNvSpPr txBox="1"/>
          <p:nvPr/>
        </p:nvSpPr>
        <p:spPr>
          <a:xfrm>
            <a:off x="6144768" y="3813048"/>
            <a:ext cx="4937760" cy="320040"/>
          </a:xfrm>
          <a:prstGeom prst="rect">
            <a:avLst/>
          </a:prstGeom>
          <a:noFill/>
        </p:spPr>
        <p:txBody>
          <a:bodyPr wrap="square" lIns="13716" rIns="13716" tIns="0" bIns="0">
            <a:spAutoFit/>
          </a:bodyPr>
          <a:lstStyle/>
          <a:p>
            <a:pPr>
              <a:spcAft>
                <a:spcPts val="500"/>
              </a:spcAft>
              <a:defRPr sz="2000" b="1">
                <a:solidFill>
                  <a:srgbClr val="15233B"/>
                </a:solidFill>
                <a:latin typeface="Aptos"/>
              </a:defRPr>
            </a:pPr>
            <a:r>
              <a:t>Fuse</a:t>
            </a:r>
          </a:p>
        </p:txBody>
      </p:sp>
      <p:sp>
        <p:nvSpPr>
          <p:cNvPr id="279" name="TextBox 278"/>
          <p:cNvSpPr txBox="1"/>
          <p:nvPr/>
        </p:nvSpPr>
        <p:spPr>
          <a:xfrm>
            <a:off x="6144768" y="4206240"/>
            <a:ext cx="5120640" cy="320040"/>
          </a:xfrm>
          <a:prstGeom prst="rect">
            <a:avLst/>
          </a:prstGeom>
          <a:noFill/>
        </p:spPr>
        <p:txBody>
          <a:bodyPr wrap="square" lIns="13716" rIns="13716" tIns="0" bIns="0">
            <a:spAutoFit/>
          </a:bodyPr>
          <a:lstStyle/>
          <a:p>
            <a:pPr>
              <a:spcAft>
                <a:spcPts val="500"/>
              </a:spcAft>
              <a:defRPr sz="1500" b="0">
                <a:solidFill>
                  <a:srgbClr val="586980"/>
                </a:solidFill>
                <a:latin typeface="Aptos"/>
              </a:defRPr>
            </a:pPr>
            <a:r>
              <a:t>Residual add + ReLU / Leaky ReLU / LUT</a:t>
            </a:r>
          </a:p>
        </p:txBody>
      </p:sp>
      <p:sp>
        <p:nvSpPr>
          <p:cNvPr id="280" name="Rounded Rectangle 279"/>
          <p:cNvSpPr/>
          <p:nvPr/>
        </p:nvSpPr>
        <p:spPr>
          <a:xfrm>
            <a:off x="5532120" y="4663440"/>
            <a:ext cx="429768" cy="274320"/>
          </a:xfrm>
          <a:prstGeom prst="roundRect">
            <a:avLst>
              <a:gd name="adj" fmla="val 12000"/>
            </a:avLst>
          </a:prstGeom>
          <a:solidFill>
            <a:srgbClr val="E5E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TextBox 280"/>
          <p:cNvSpPr txBox="1"/>
          <p:nvPr/>
        </p:nvSpPr>
        <p:spPr>
          <a:xfrm>
            <a:off x="5623559" y="4700016"/>
            <a:ext cx="265176" cy="201168"/>
          </a:xfrm>
          <a:prstGeom prst="rect">
            <a:avLst/>
          </a:prstGeom>
          <a:noFill/>
        </p:spPr>
        <p:txBody>
          <a:bodyPr wrap="square" lIns="13716" rIns="13716" tIns="0" bIns="0">
            <a:spAutoFit/>
          </a:bodyPr>
          <a:lstStyle/>
          <a:p>
            <a:pPr>
              <a:spcAft>
                <a:spcPts val="500"/>
              </a:spcAft>
              <a:defRPr sz="1000" b="1">
                <a:solidFill>
                  <a:srgbClr val="35DFC3"/>
                </a:solidFill>
                <a:latin typeface="Aptos"/>
              </a:defRPr>
            </a:pPr>
            <a:r>
              <a:t>04</a:t>
            </a:r>
          </a:p>
        </p:txBody>
      </p:sp>
      <p:sp>
        <p:nvSpPr>
          <p:cNvPr id="282" name="TextBox 281"/>
          <p:cNvSpPr txBox="1"/>
          <p:nvPr/>
        </p:nvSpPr>
        <p:spPr>
          <a:xfrm>
            <a:off x="6144768" y="4663440"/>
            <a:ext cx="4937760" cy="320040"/>
          </a:xfrm>
          <a:prstGeom prst="rect">
            <a:avLst/>
          </a:prstGeom>
          <a:noFill/>
        </p:spPr>
        <p:txBody>
          <a:bodyPr wrap="square" lIns="13716" rIns="13716" tIns="0" bIns="0">
            <a:spAutoFit/>
          </a:bodyPr>
          <a:lstStyle/>
          <a:p>
            <a:pPr>
              <a:spcAft>
                <a:spcPts val="500"/>
              </a:spcAft>
              <a:defRPr sz="2000" b="1">
                <a:solidFill>
                  <a:srgbClr val="15233B"/>
                </a:solidFill>
                <a:latin typeface="Aptos"/>
              </a:defRPr>
            </a:pPr>
            <a:r>
              <a:t>Write back</a:t>
            </a:r>
          </a:p>
        </p:txBody>
      </p:sp>
      <p:sp>
        <p:nvSpPr>
          <p:cNvPr id="283" name="TextBox 282"/>
          <p:cNvSpPr txBox="1"/>
          <p:nvPr/>
        </p:nvSpPr>
        <p:spPr>
          <a:xfrm>
            <a:off x="6144768" y="5056631"/>
            <a:ext cx="5120640" cy="320040"/>
          </a:xfrm>
          <a:prstGeom prst="rect">
            <a:avLst/>
          </a:prstGeom>
          <a:noFill/>
        </p:spPr>
        <p:txBody>
          <a:bodyPr wrap="square" lIns="13716" rIns="13716" tIns="0" bIns="0">
            <a:spAutoFit/>
          </a:bodyPr>
          <a:lstStyle/>
          <a:p>
            <a:pPr>
              <a:spcAft>
                <a:spcPts val="500"/>
              </a:spcAft>
              <a:defRPr sz="1500" b="0">
                <a:solidFill>
                  <a:srgbClr val="586980"/>
                </a:solidFill>
                <a:latin typeface="Aptos"/>
              </a:defRPr>
            </a:pPr>
            <a:r>
              <a:t>Stride, pooling and registered SRAM output</a:t>
            </a:r>
          </a:p>
        </p:txBody>
      </p:sp>
      <p:sp>
        <p:nvSpPr>
          <p:cNvPr id="284" name="TextBox 283"/>
          <p:cNvSpPr txBox="1"/>
          <p:nvPr/>
        </p:nvSpPr>
        <p:spPr>
          <a:xfrm>
            <a:off x="685800" y="5925312"/>
            <a:ext cx="10698480" cy="301752"/>
          </a:xfrm>
          <a:prstGeom prst="rect">
            <a:avLst/>
          </a:prstGeom>
          <a:noFill/>
        </p:spPr>
        <p:txBody>
          <a:bodyPr wrap="square" lIns="13716" rIns="13716" tIns="0" bIns="0">
            <a:spAutoFit/>
          </a:bodyPr>
          <a:lstStyle/>
          <a:p>
            <a:pPr>
              <a:spcAft>
                <a:spcPts val="500"/>
              </a:spcAft>
              <a:defRPr sz="2000" b="1">
                <a:solidFill>
                  <a:srgbClr val="15233B"/>
                </a:solidFill>
                <a:latin typeface="Aptos"/>
              </a:defRPr>
            </a:pPr>
            <a:r>
              <a:t>38.4 GOP/s theoretical INT8 peak at 75 MHz</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6FA"/>
        </a:solidFill>
        <a:effectLst/>
      </p:bgPr>
    </p:bg>
    <p:spTree>
      <p:nvGrpSpPr>
        <p:cNvPr id="1" name=""/>
        <p:cNvGrpSpPr/>
        <p:nvPr/>
      </p:nvGrpSpPr>
      <p:grpSpPr/>
      <p:sp>
        <p:nvSpPr>
          <p:cNvPr id="2" name="TextBox 1"/>
          <p:cNvSpPr txBox="1"/>
          <p:nvPr/>
        </p:nvSpPr>
        <p:spPr>
          <a:xfrm>
            <a:off x="502920" y="274320"/>
            <a:ext cx="9144000" cy="210312"/>
          </a:xfrm>
          <a:prstGeom prst="rect">
            <a:avLst/>
          </a:prstGeom>
          <a:noFill/>
        </p:spPr>
        <p:txBody>
          <a:bodyPr wrap="square" lIns="13716" rIns="13716" tIns="0" bIns="0">
            <a:spAutoFit/>
          </a:bodyPr>
          <a:lstStyle/>
          <a:p>
            <a:pPr>
              <a:spcAft>
                <a:spcPts val="500"/>
              </a:spcAft>
              <a:defRPr sz="1000" b="1">
                <a:solidFill>
                  <a:srgbClr val="586980"/>
                </a:solidFill>
                <a:latin typeface="Aptos"/>
              </a:defRPr>
            </a:pPr>
            <a:r>
              <a:t>COMPILER + RUNTIME</a:t>
            </a:r>
          </a:p>
        </p:txBody>
      </p:sp>
      <p:sp>
        <p:nvSpPr>
          <p:cNvPr id="3" name="TextBox 2"/>
          <p:cNvSpPr txBox="1"/>
          <p:nvPr/>
        </p:nvSpPr>
        <p:spPr>
          <a:xfrm>
            <a:off x="502920" y="713232"/>
            <a:ext cx="11155680" cy="640080"/>
          </a:xfrm>
          <a:prstGeom prst="rect">
            <a:avLst/>
          </a:prstGeom>
          <a:noFill/>
        </p:spPr>
        <p:txBody>
          <a:bodyPr wrap="square" lIns="13716" rIns="13716" tIns="0" bIns="0">
            <a:spAutoFit/>
          </a:bodyPr>
          <a:lstStyle/>
          <a:p>
            <a:pPr>
              <a:spcAft>
                <a:spcPts val="500"/>
              </a:spcAft>
              <a:defRPr sz="3000" b="1">
                <a:solidFill>
                  <a:srgbClr val="15233B"/>
                </a:solidFill>
                <a:latin typeface="Aptos Display"/>
              </a:defRPr>
            </a:pPr>
            <a:r>
              <a:t>The software makes the hardware reusable</a:t>
            </a:r>
          </a:p>
        </p:txBody>
      </p:sp>
      <p:sp>
        <p:nvSpPr>
          <p:cNvPr id="4" name="TextBox 3"/>
          <p:cNvSpPr txBox="1"/>
          <p:nvPr/>
        </p:nvSpPr>
        <p:spPr>
          <a:xfrm>
            <a:off x="512064" y="1426464"/>
            <a:ext cx="11109960" cy="502920"/>
          </a:xfrm>
          <a:prstGeom prst="rect">
            <a:avLst/>
          </a:prstGeom>
          <a:noFill/>
        </p:spPr>
        <p:txBody>
          <a:bodyPr wrap="square" lIns="13716" rIns="13716" tIns="0" bIns="0">
            <a:spAutoFit/>
          </a:bodyPr>
          <a:lstStyle/>
          <a:p>
            <a:pPr>
              <a:spcAft>
                <a:spcPts val="500"/>
              </a:spcAft>
              <a:defRPr sz="1400" b="0">
                <a:solidFill>
                  <a:srgbClr val="586980"/>
                </a:solidFill>
                <a:latin typeface="Aptos"/>
              </a:defRPr>
            </a:pPr>
            <a:r>
              <a:t>Compilation generates the data and instruction stream for each model; deployment launches the same engine.</a:t>
            </a:r>
          </a:p>
        </p:txBody>
      </p:sp>
      <p:sp>
        <p:nvSpPr>
          <p:cNvPr id="5" name="Rectangle 4"/>
          <p:cNvSpPr/>
          <p:nvPr/>
        </p:nvSpPr>
        <p:spPr>
          <a:xfrm>
            <a:off x="502920" y="6455664"/>
            <a:ext cx="11183112" cy="10972"/>
          </a:xfrm>
          <a:prstGeom prst="rect">
            <a:avLst/>
          </a:prstGeom>
          <a:solidFill>
            <a:srgbClr val="DCE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3657600" cy="155448"/>
          </a:xfrm>
          <a:prstGeom prst="rect">
            <a:avLst/>
          </a:prstGeom>
          <a:noFill/>
        </p:spPr>
        <p:txBody>
          <a:bodyPr wrap="square" lIns="13716" rIns="13716" tIns="0" bIns="0">
            <a:spAutoFit/>
          </a:bodyPr>
          <a:lstStyle/>
          <a:p>
            <a:pPr>
              <a:spcAft>
                <a:spcPts val="500"/>
              </a:spcAft>
              <a:defRPr sz="800" b="1">
                <a:solidFill>
                  <a:srgbClr val="586980"/>
                </a:solidFill>
                <a:latin typeface="Aptos"/>
              </a:defRPr>
            </a:pPr>
            <a:r>
              <a:t>UNIFIED C-ENGINE  /  ZCU106</a:t>
            </a:r>
          </a:p>
        </p:txBody>
      </p:sp>
      <p:sp>
        <p:nvSpPr>
          <p:cNvPr id="7" name="TextBox 6"/>
          <p:cNvSpPr txBox="1"/>
          <p:nvPr/>
        </p:nvSpPr>
        <p:spPr>
          <a:xfrm>
            <a:off x="3657600" y="6556248"/>
            <a:ext cx="6949440" cy="182880"/>
          </a:xfrm>
          <a:prstGeom prst="rect">
            <a:avLst/>
          </a:prstGeom>
          <a:noFill/>
        </p:spPr>
        <p:txBody>
          <a:bodyPr wrap="square" lIns="13716" rIns="13716" tIns="0" bIns="0">
            <a:spAutoFit/>
          </a:bodyPr>
          <a:lstStyle/>
          <a:p>
            <a:pPr algn="r">
              <a:spcAft>
                <a:spcPts val="500"/>
              </a:spcAft>
              <a:defRPr sz="800" b="0">
                <a:solidFill>
                  <a:srgbClr val="586980"/>
                </a:solidFill>
                <a:latin typeface="Aptos"/>
              </a:defRPr>
            </a:pPr>
            <a:r>
              <a:t>models/*/compile.py • models/core • scripts/02…07</a:t>
            </a:r>
          </a:p>
        </p:txBody>
      </p:sp>
      <p:sp>
        <p:nvSpPr>
          <p:cNvPr id="8" name="TextBox 7"/>
          <p:cNvSpPr txBox="1"/>
          <p:nvPr/>
        </p:nvSpPr>
        <p:spPr>
          <a:xfrm>
            <a:off x="10927080" y="6547104"/>
            <a:ext cx="731520" cy="201168"/>
          </a:xfrm>
          <a:prstGeom prst="rect">
            <a:avLst/>
          </a:prstGeom>
          <a:noFill/>
        </p:spPr>
        <p:txBody>
          <a:bodyPr wrap="square" lIns="13716" rIns="13716" tIns="0" bIns="0">
            <a:spAutoFit/>
          </a:bodyPr>
          <a:lstStyle/>
          <a:p>
            <a:pPr algn="r">
              <a:spcAft>
                <a:spcPts val="500"/>
              </a:spcAft>
              <a:defRPr sz="900" b="0">
                <a:solidFill>
                  <a:srgbClr val="586980"/>
                </a:solidFill>
                <a:latin typeface="Aptos"/>
              </a:defRPr>
            </a:pPr>
            <a:r>
              <a:t>07 / 17</a:t>
            </a:r>
          </a:p>
        </p:txBody>
      </p:sp>
      <p:sp>
        <p:nvSpPr>
          <p:cNvPr id="9" name="Rounded Rectangle 8"/>
          <p:cNvSpPr/>
          <p:nvPr/>
        </p:nvSpPr>
        <p:spPr>
          <a:xfrm>
            <a:off x="502920" y="2148840"/>
            <a:ext cx="2587752" cy="20116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2148840"/>
            <a:ext cx="41148" cy="2011680"/>
          </a:xfrm>
          <a:prstGeom prst="rect">
            <a:avLst/>
          </a:prstGeom>
          <a:solidFill>
            <a:srgbClr val="6B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313432"/>
            <a:ext cx="2221992" cy="457200"/>
          </a:xfrm>
          <a:prstGeom prst="rect">
            <a:avLst/>
          </a:prstGeom>
          <a:noFill/>
        </p:spPr>
        <p:txBody>
          <a:bodyPr wrap="square" lIns="13716" rIns="13716" tIns="0" bIns="0">
            <a:spAutoFit/>
          </a:bodyPr>
          <a:lstStyle/>
          <a:p>
            <a:pPr>
              <a:spcAft>
                <a:spcPts val="500"/>
              </a:spcAft>
              <a:defRPr sz="2000" b="1">
                <a:solidFill>
                  <a:srgbClr val="15233B"/>
                </a:solidFill>
                <a:latin typeface="Aptos"/>
              </a:defRPr>
            </a:pPr>
            <a:r>
              <a:t>Import</a:t>
            </a:r>
          </a:p>
        </p:txBody>
      </p:sp>
      <p:sp>
        <p:nvSpPr>
          <p:cNvPr id="12" name="TextBox 11"/>
          <p:cNvSpPr txBox="1"/>
          <p:nvPr/>
        </p:nvSpPr>
        <p:spPr>
          <a:xfrm>
            <a:off x="685800" y="2926080"/>
            <a:ext cx="2221992" cy="1143000"/>
          </a:xfrm>
          <a:prstGeom prst="rect">
            <a:avLst/>
          </a:prstGeom>
          <a:noFill/>
        </p:spPr>
        <p:txBody>
          <a:bodyPr wrap="square" lIns="13716" rIns="13716" tIns="0" bIns="0">
            <a:spAutoFit/>
          </a:bodyPr>
          <a:lstStyle/>
          <a:p>
            <a:pPr>
              <a:spcAft>
                <a:spcPts val="500"/>
              </a:spcAft>
              <a:defRPr sz="1500" b="0">
                <a:solidFill>
                  <a:srgbClr val="586980"/>
                </a:solidFill>
                <a:latin typeface="Aptos"/>
              </a:defRPr>
            </a:pPr>
            <a:r>
              <a:t>Load PyTorch parameters</a:t>
            </a:r>
          </a:p>
          <a:p>
            <a:pPr>
              <a:spcAft>
                <a:spcPts val="500"/>
              </a:spcAft>
              <a:defRPr sz="1500" b="0">
                <a:solidFill>
                  <a:srgbClr val="586980"/>
                </a:solidFill>
                <a:latin typeface="Aptos"/>
              </a:defRPr>
            </a:pPr>
            <a:r>
              <a:t>and model structure</a:t>
            </a:r>
          </a:p>
        </p:txBody>
      </p:sp>
      <p:sp>
        <p:nvSpPr>
          <p:cNvPr id="13" name="Rounded Rectangle 12"/>
          <p:cNvSpPr/>
          <p:nvPr/>
        </p:nvSpPr>
        <p:spPr>
          <a:xfrm>
            <a:off x="685800" y="3776472"/>
            <a:ext cx="393192" cy="274320"/>
          </a:xfrm>
          <a:prstGeom prst="roundRect">
            <a:avLst>
              <a:gd name="adj" fmla="val 12000"/>
            </a:avLst>
          </a:prstGeom>
          <a:solidFill>
            <a:srgbClr val="E5E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813048"/>
            <a:ext cx="228600" cy="201168"/>
          </a:xfrm>
          <a:prstGeom prst="rect">
            <a:avLst/>
          </a:prstGeom>
          <a:noFill/>
        </p:spPr>
        <p:txBody>
          <a:bodyPr wrap="square" lIns="13716" rIns="13716" tIns="0" bIns="0">
            <a:spAutoFit/>
          </a:bodyPr>
          <a:lstStyle/>
          <a:p>
            <a:pPr>
              <a:spcAft>
                <a:spcPts val="500"/>
              </a:spcAft>
              <a:defRPr sz="1000" b="1">
                <a:solidFill>
                  <a:srgbClr val="6BA6FF"/>
                </a:solidFill>
                <a:latin typeface="Aptos"/>
              </a:defRPr>
            </a:pPr>
            <a:r>
              <a:t>01</a:t>
            </a:r>
          </a:p>
        </p:txBody>
      </p:sp>
      <p:sp>
        <p:nvSpPr>
          <p:cNvPr id="15" name="Rounded Rectangle 14"/>
          <p:cNvSpPr/>
          <p:nvPr/>
        </p:nvSpPr>
        <p:spPr>
          <a:xfrm>
            <a:off x="3364991" y="2148840"/>
            <a:ext cx="2587752" cy="20116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64991" y="2148840"/>
            <a:ext cx="41148" cy="2011680"/>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47872" y="2313432"/>
            <a:ext cx="2221992" cy="457200"/>
          </a:xfrm>
          <a:prstGeom prst="rect">
            <a:avLst/>
          </a:prstGeom>
          <a:noFill/>
        </p:spPr>
        <p:txBody>
          <a:bodyPr wrap="square" lIns="13716" rIns="13716" tIns="0" bIns="0">
            <a:spAutoFit/>
          </a:bodyPr>
          <a:lstStyle/>
          <a:p>
            <a:pPr>
              <a:spcAft>
                <a:spcPts val="500"/>
              </a:spcAft>
              <a:defRPr sz="2000" b="1">
                <a:solidFill>
                  <a:srgbClr val="15233B"/>
                </a:solidFill>
                <a:latin typeface="Aptos"/>
              </a:defRPr>
            </a:pPr>
            <a:r>
              <a:t>Transform</a:t>
            </a:r>
          </a:p>
        </p:txBody>
      </p:sp>
      <p:sp>
        <p:nvSpPr>
          <p:cNvPr id="18" name="TextBox 17"/>
          <p:cNvSpPr txBox="1"/>
          <p:nvPr/>
        </p:nvSpPr>
        <p:spPr>
          <a:xfrm>
            <a:off x="3547872" y="2926080"/>
            <a:ext cx="2221992" cy="1143000"/>
          </a:xfrm>
          <a:prstGeom prst="rect">
            <a:avLst/>
          </a:prstGeom>
          <a:noFill/>
        </p:spPr>
        <p:txBody>
          <a:bodyPr wrap="square" lIns="13716" rIns="13716" tIns="0" bIns="0">
            <a:spAutoFit/>
          </a:bodyPr>
          <a:lstStyle/>
          <a:p>
            <a:pPr>
              <a:spcAft>
                <a:spcPts val="500"/>
              </a:spcAft>
              <a:defRPr sz="1500" b="0">
                <a:solidFill>
                  <a:srgbClr val="586980"/>
                </a:solidFill>
                <a:latin typeface="Aptos"/>
              </a:defRPr>
            </a:pPr>
            <a:r>
              <a:t>Fold BatchNorm; quantize</a:t>
            </a:r>
          </a:p>
          <a:p>
            <a:pPr>
              <a:spcAft>
                <a:spcPts val="500"/>
              </a:spcAft>
              <a:defRPr sz="1500" b="0">
                <a:solidFill>
                  <a:srgbClr val="586980"/>
                </a:solidFill>
                <a:latin typeface="Aptos"/>
              </a:defRPr>
            </a:pPr>
            <a:r>
              <a:t>weights and activations</a:t>
            </a:r>
          </a:p>
        </p:txBody>
      </p:sp>
      <p:sp>
        <p:nvSpPr>
          <p:cNvPr id="19" name="Rounded Rectangle 18"/>
          <p:cNvSpPr/>
          <p:nvPr/>
        </p:nvSpPr>
        <p:spPr>
          <a:xfrm>
            <a:off x="3547872" y="3776472"/>
            <a:ext cx="393192" cy="274320"/>
          </a:xfrm>
          <a:prstGeom prst="roundRect">
            <a:avLst>
              <a:gd name="adj" fmla="val 12000"/>
            </a:avLst>
          </a:prstGeom>
          <a:solidFill>
            <a:srgbClr val="E5E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39312" y="3813048"/>
            <a:ext cx="228600" cy="201168"/>
          </a:xfrm>
          <a:prstGeom prst="rect">
            <a:avLst/>
          </a:prstGeom>
          <a:noFill/>
        </p:spPr>
        <p:txBody>
          <a:bodyPr wrap="square" lIns="13716" rIns="13716" tIns="0" bIns="0">
            <a:spAutoFit/>
          </a:bodyPr>
          <a:lstStyle/>
          <a:p>
            <a:pPr>
              <a:spcAft>
                <a:spcPts val="500"/>
              </a:spcAft>
              <a:defRPr sz="1000" b="1">
                <a:solidFill>
                  <a:srgbClr val="35DFC3"/>
                </a:solidFill>
                <a:latin typeface="Aptos"/>
              </a:defRPr>
            </a:pPr>
            <a:r>
              <a:t>02</a:t>
            </a:r>
          </a:p>
        </p:txBody>
      </p:sp>
      <p:sp>
        <p:nvSpPr>
          <p:cNvPr id="21" name="Rounded Rectangle 20"/>
          <p:cNvSpPr/>
          <p:nvPr/>
        </p:nvSpPr>
        <p:spPr>
          <a:xfrm>
            <a:off x="6227064" y="2148840"/>
            <a:ext cx="2587752" cy="20116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27064" y="2148840"/>
            <a:ext cx="41148" cy="2011680"/>
          </a:xfrm>
          <a:prstGeom prst="rect">
            <a:avLst/>
          </a:prstGeom>
          <a:solidFill>
            <a:srgbClr val="A69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9944" y="2313432"/>
            <a:ext cx="2221992" cy="457200"/>
          </a:xfrm>
          <a:prstGeom prst="rect">
            <a:avLst/>
          </a:prstGeom>
          <a:noFill/>
        </p:spPr>
        <p:txBody>
          <a:bodyPr wrap="square" lIns="13716" rIns="13716" tIns="0" bIns="0">
            <a:spAutoFit/>
          </a:bodyPr>
          <a:lstStyle/>
          <a:p>
            <a:pPr>
              <a:spcAft>
                <a:spcPts val="500"/>
              </a:spcAft>
              <a:defRPr sz="2000" b="1">
                <a:solidFill>
                  <a:srgbClr val="15233B"/>
                </a:solidFill>
                <a:latin typeface="Aptos"/>
              </a:defRPr>
            </a:pPr>
            <a:r>
              <a:t>Schedule</a:t>
            </a:r>
          </a:p>
        </p:txBody>
      </p:sp>
      <p:sp>
        <p:nvSpPr>
          <p:cNvPr id="24" name="TextBox 23"/>
          <p:cNvSpPr txBox="1"/>
          <p:nvPr/>
        </p:nvSpPr>
        <p:spPr>
          <a:xfrm>
            <a:off x="6409944" y="2926080"/>
            <a:ext cx="2221992" cy="1143000"/>
          </a:xfrm>
          <a:prstGeom prst="rect">
            <a:avLst/>
          </a:prstGeom>
          <a:noFill/>
        </p:spPr>
        <p:txBody>
          <a:bodyPr wrap="square" lIns="13716" rIns="13716" tIns="0" bIns="0">
            <a:spAutoFit/>
          </a:bodyPr>
          <a:lstStyle/>
          <a:p>
            <a:pPr>
              <a:spcAft>
                <a:spcPts val="500"/>
              </a:spcAft>
              <a:defRPr sz="1500" b="0">
                <a:solidFill>
                  <a:srgbClr val="586980"/>
                </a:solidFill>
                <a:latin typeface="Aptos"/>
              </a:defRPr>
            </a:pPr>
            <a:r>
              <a:t>Tile tensors; assign SRAM</a:t>
            </a:r>
          </a:p>
          <a:p>
            <a:pPr>
              <a:spcAft>
                <a:spcPts val="500"/>
              </a:spcAft>
              <a:defRPr sz="1500" b="0">
                <a:solidFill>
                  <a:srgbClr val="586980"/>
                </a:solidFill>
                <a:latin typeface="Aptos"/>
              </a:defRPr>
            </a:pPr>
            <a:r>
              <a:t>rows and layer controls</a:t>
            </a:r>
          </a:p>
        </p:txBody>
      </p:sp>
      <p:sp>
        <p:nvSpPr>
          <p:cNvPr id="25" name="Rounded Rectangle 24"/>
          <p:cNvSpPr/>
          <p:nvPr/>
        </p:nvSpPr>
        <p:spPr>
          <a:xfrm>
            <a:off x="6409944" y="3776472"/>
            <a:ext cx="393192" cy="274320"/>
          </a:xfrm>
          <a:prstGeom prst="roundRect">
            <a:avLst>
              <a:gd name="adj" fmla="val 12000"/>
            </a:avLst>
          </a:prstGeom>
          <a:solidFill>
            <a:srgbClr val="E5E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01383" y="3813048"/>
            <a:ext cx="228600" cy="201168"/>
          </a:xfrm>
          <a:prstGeom prst="rect">
            <a:avLst/>
          </a:prstGeom>
          <a:noFill/>
        </p:spPr>
        <p:txBody>
          <a:bodyPr wrap="square" lIns="13716" rIns="13716" tIns="0" bIns="0">
            <a:spAutoFit/>
          </a:bodyPr>
          <a:lstStyle/>
          <a:p>
            <a:pPr>
              <a:spcAft>
                <a:spcPts val="500"/>
              </a:spcAft>
              <a:defRPr sz="1000" b="1">
                <a:solidFill>
                  <a:srgbClr val="A69AFF"/>
                </a:solidFill>
                <a:latin typeface="Aptos"/>
              </a:defRPr>
            </a:pPr>
            <a:r>
              <a:t>03</a:t>
            </a:r>
          </a:p>
        </p:txBody>
      </p:sp>
      <p:sp>
        <p:nvSpPr>
          <p:cNvPr id="27" name="Rounded Rectangle 26"/>
          <p:cNvSpPr/>
          <p:nvPr/>
        </p:nvSpPr>
        <p:spPr>
          <a:xfrm>
            <a:off x="9089136" y="2148840"/>
            <a:ext cx="2587752" cy="20116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089136" y="2148840"/>
            <a:ext cx="41148" cy="2011680"/>
          </a:xfrm>
          <a:prstGeom prst="rect">
            <a:avLst/>
          </a:prstGeom>
          <a:solidFill>
            <a:srgbClr val="FFC6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72016" y="2313432"/>
            <a:ext cx="2221992" cy="457200"/>
          </a:xfrm>
          <a:prstGeom prst="rect">
            <a:avLst/>
          </a:prstGeom>
          <a:noFill/>
        </p:spPr>
        <p:txBody>
          <a:bodyPr wrap="square" lIns="13716" rIns="13716" tIns="0" bIns="0">
            <a:spAutoFit/>
          </a:bodyPr>
          <a:lstStyle/>
          <a:p>
            <a:pPr>
              <a:spcAft>
                <a:spcPts val="500"/>
              </a:spcAft>
              <a:defRPr sz="2000" b="1">
                <a:solidFill>
                  <a:srgbClr val="15233B"/>
                </a:solidFill>
                <a:latin typeface="Aptos"/>
              </a:defRPr>
            </a:pPr>
            <a:r>
              <a:t>Emit</a:t>
            </a:r>
          </a:p>
        </p:txBody>
      </p:sp>
      <p:sp>
        <p:nvSpPr>
          <p:cNvPr id="30" name="TextBox 29"/>
          <p:cNvSpPr txBox="1"/>
          <p:nvPr/>
        </p:nvSpPr>
        <p:spPr>
          <a:xfrm>
            <a:off x="9272016" y="2926080"/>
            <a:ext cx="2221992" cy="1143000"/>
          </a:xfrm>
          <a:prstGeom prst="rect">
            <a:avLst/>
          </a:prstGeom>
          <a:noFill/>
        </p:spPr>
        <p:txBody>
          <a:bodyPr wrap="square" lIns="13716" rIns="13716" tIns="0" bIns="0">
            <a:spAutoFit/>
          </a:bodyPr>
          <a:lstStyle/>
          <a:p>
            <a:pPr>
              <a:spcAft>
                <a:spcPts val="500"/>
              </a:spcAft>
              <a:defRPr sz="1500" b="0">
                <a:solidFill>
                  <a:srgbClr val="586980"/>
                </a:solidFill>
                <a:latin typeface="Aptos"/>
              </a:defRPr>
            </a:pPr>
            <a:r>
              <a:t>Weights, 128-bit microcode,</a:t>
            </a:r>
          </a:p>
          <a:p>
            <a:pPr>
              <a:spcAft>
                <a:spcPts val="500"/>
              </a:spcAft>
              <a:defRPr sz="1500" b="0">
                <a:solidFill>
                  <a:srgbClr val="586980"/>
                </a:solidFill>
                <a:latin typeface="Aptos"/>
              </a:defRPr>
            </a:pPr>
            <a:r>
              <a:t>stimulus and metadata</a:t>
            </a:r>
          </a:p>
        </p:txBody>
      </p:sp>
      <p:sp>
        <p:nvSpPr>
          <p:cNvPr id="31" name="Rounded Rectangle 30"/>
          <p:cNvSpPr/>
          <p:nvPr/>
        </p:nvSpPr>
        <p:spPr>
          <a:xfrm>
            <a:off x="9272016" y="3776472"/>
            <a:ext cx="393192" cy="274320"/>
          </a:xfrm>
          <a:prstGeom prst="roundRect">
            <a:avLst>
              <a:gd name="adj" fmla="val 12000"/>
            </a:avLst>
          </a:prstGeom>
          <a:solidFill>
            <a:srgbClr val="E5E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363456" y="3813048"/>
            <a:ext cx="228600" cy="201168"/>
          </a:xfrm>
          <a:prstGeom prst="rect">
            <a:avLst/>
          </a:prstGeom>
          <a:noFill/>
        </p:spPr>
        <p:txBody>
          <a:bodyPr wrap="square" lIns="13716" rIns="13716" tIns="0" bIns="0">
            <a:spAutoFit/>
          </a:bodyPr>
          <a:lstStyle/>
          <a:p>
            <a:pPr>
              <a:spcAft>
                <a:spcPts val="500"/>
              </a:spcAft>
              <a:defRPr sz="1000" b="1">
                <a:solidFill>
                  <a:srgbClr val="FFC66D"/>
                </a:solidFill>
                <a:latin typeface="Aptos"/>
              </a:defRPr>
            </a:pPr>
            <a:r>
              <a:t>04</a:t>
            </a:r>
          </a:p>
        </p:txBody>
      </p:sp>
      <p:sp>
        <p:nvSpPr>
          <p:cNvPr id="33" name="Rounded Rectangle 32"/>
          <p:cNvSpPr/>
          <p:nvPr/>
        </p:nvSpPr>
        <p:spPr>
          <a:xfrm>
            <a:off x="502920" y="4517136"/>
            <a:ext cx="11173968" cy="914400"/>
          </a:xfrm>
          <a:prstGeom prst="roundRect">
            <a:avLst>
              <a:gd name="adj" fmla="val 12000"/>
            </a:avLst>
          </a:prstGeom>
          <a:solidFill>
            <a:srgbClr val="0B12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4791456"/>
            <a:ext cx="2743200" cy="365760"/>
          </a:xfrm>
          <a:prstGeom prst="rect">
            <a:avLst/>
          </a:prstGeom>
          <a:noFill/>
        </p:spPr>
        <p:txBody>
          <a:bodyPr wrap="square" lIns="13716" rIns="13716" tIns="0" bIns="0">
            <a:spAutoFit/>
          </a:bodyPr>
          <a:lstStyle/>
          <a:p>
            <a:pPr>
              <a:spcAft>
                <a:spcPts val="500"/>
              </a:spcAft>
              <a:defRPr sz="1900" b="1">
                <a:solidFill>
                  <a:srgbClr val="FFFFFF"/>
                </a:solidFill>
                <a:latin typeface="Aptos"/>
              </a:defRPr>
            </a:pPr>
            <a:r>
              <a:t>JTAG / XSDB preload</a:t>
            </a:r>
          </a:p>
        </p:txBody>
      </p:sp>
      <p:sp>
        <p:nvSpPr>
          <p:cNvPr id="35" name="Right Arrow 34"/>
          <p:cNvSpPr/>
          <p:nvPr/>
        </p:nvSpPr>
        <p:spPr>
          <a:xfrm>
            <a:off x="3502152" y="4928616"/>
            <a:ext cx="502920" cy="164592"/>
          </a:xfrm>
          <a:prstGeom prst="rightArrow">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06240" y="4791456"/>
            <a:ext cx="3200400" cy="365760"/>
          </a:xfrm>
          <a:prstGeom prst="rect">
            <a:avLst/>
          </a:prstGeom>
          <a:noFill/>
        </p:spPr>
        <p:txBody>
          <a:bodyPr wrap="square" lIns="13716" rIns="13716" tIns="0" bIns="0">
            <a:spAutoFit/>
          </a:bodyPr>
          <a:lstStyle/>
          <a:p>
            <a:pPr>
              <a:spcAft>
                <a:spcPts val="500"/>
              </a:spcAft>
              <a:defRPr sz="1900" b="1">
                <a:solidFill>
                  <a:srgbClr val="FFFFFF"/>
                </a:solidFill>
                <a:latin typeface="Aptos"/>
              </a:defRPr>
            </a:pPr>
            <a:r>
              <a:t>ARM + AXI-Lite launch</a:t>
            </a:r>
          </a:p>
        </p:txBody>
      </p:sp>
      <p:sp>
        <p:nvSpPr>
          <p:cNvPr id="37" name="Right Arrow 36"/>
          <p:cNvSpPr/>
          <p:nvPr/>
        </p:nvSpPr>
        <p:spPr>
          <a:xfrm>
            <a:off x="7498079" y="4928616"/>
            <a:ext cx="502920" cy="164592"/>
          </a:xfrm>
          <a:prstGeom prst="rightArrow">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66175" y="4791456"/>
            <a:ext cx="3108960" cy="365760"/>
          </a:xfrm>
          <a:prstGeom prst="rect">
            <a:avLst/>
          </a:prstGeom>
          <a:noFill/>
        </p:spPr>
        <p:txBody>
          <a:bodyPr wrap="square" lIns="13716" rIns="13716" tIns="0" bIns="0">
            <a:spAutoFit/>
          </a:bodyPr>
          <a:lstStyle/>
          <a:p>
            <a:pPr>
              <a:spcAft>
                <a:spcPts val="500"/>
              </a:spcAft>
              <a:defRPr sz="1900" b="1">
                <a:solidFill>
                  <a:srgbClr val="FFFFFF"/>
                </a:solidFill>
                <a:latin typeface="Aptos"/>
              </a:defRPr>
            </a:pPr>
            <a:r>
              <a:t>DDR logits → UART</a:t>
            </a:r>
          </a:p>
        </p:txBody>
      </p:sp>
      <p:sp>
        <p:nvSpPr>
          <p:cNvPr id="39" name="TextBox 38"/>
          <p:cNvSpPr txBox="1"/>
          <p:nvPr/>
        </p:nvSpPr>
        <p:spPr>
          <a:xfrm>
            <a:off x="658368" y="5742432"/>
            <a:ext cx="10881360" cy="475488"/>
          </a:xfrm>
          <a:prstGeom prst="rect">
            <a:avLst/>
          </a:prstGeom>
          <a:noFill/>
        </p:spPr>
        <p:txBody>
          <a:bodyPr wrap="square" lIns="13716" rIns="13716" tIns="0" bIns="0">
            <a:spAutoFit/>
          </a:bodyPr>
          <a:lstStyle/>
          <a:p>
            <a:pPr>
              <a:spcAft>
                <a:spcPts val="500"/>
              </a:spcAft>
              <a:defRPr sz="1600" b="0">
                <a:solidFill>
                  <a:srgbClr val="586980"/>
                </a:solidFill>
                <a:latin typeface="Aptos"/>
              </a:defRPr>
            </a:pPr>
            <a:r>
              <a:t>Evaluation detail: the current ImageNet compiler includes a 60-dimensional head projection calibrated using test imagery.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6FA"/>
        </a:solidFill>
        <a:effectLst/>
      </p:bgPr>
    </p:bg>
    <p:spTree>
      <p:nvGrpSpPr>
        <p:cNvPr id="1" name=""/>
        <p:cNvGrpSpPr/>
        <p:nvPr/>
      </p:nvGrpSpPr>
      <p:grpSpPr/>
      <p:sp>
        <p:nvSpPr>
          <p:cNvPr id="2" name="TextBox 1"/>
          <p:cNvSpPr txBox="1"/>
          <p:nvPr/>
        </p:nvSpPr>
        <p:spPr>
          <a:xfrm>
            <a:off x="502920" y="274320"/>
            <a:ext cx="9144000" cy="210312"/>
          </a:xfrm>
          <a:prstGeom prst="rect">
            <a:avLst/>
          </a:prstGeom>
          <a:noFill/>
        </p:spPr>
        <p:txBody>
          <a:bodyPr wrap="square" lIns="13716" rIns="13716" tIns="0" bIns="0">
            <a:spAutoFit/>
          </a:bodyPr>
          <a:lstStyle/>
          <a:p>
            <a:pPr>
              <a:spcAft>
                <a:spcPts val="500"/>
              </a:spcAft>
              <a:defRPr sz="1000" b="1">
                <a:solidFill>
                  <a:srgbClr val="586980"/>
                </a:solidFill>
                <a:latin typeface="Aptos"/>
              </a:defRPr>
            </a:pPr>
            <a:r>
              <a:t>MEMORY + PRECISION</a:t>
            </a:r>
          </a:p>
        </p:txBody>
      </p:sp>
      <p:sp>
        <p:nvSpPr>
          <p:cNvPr id="3" name="TextBox 2"/>
          <p:cNvSpPr txBox="1"/>
          <p:nvPr/>
        </p:nvSpPr>
        <p:spPr>
          <a:xfrm>
            <a:off x="502920" y="713232"/>
            <a:ext cx="11155680" cy="640080"/>
          </a:xfrm>
          <a:prstGeom prst="rect">
            <a:avLst/>
          </a:prstGeom>
          <a:noFill/>
        </p:spPr>
        <p:txBody>
          <a:bodyPr wrap="square" lIns="13716" rIns="13716" tIns="0" bIns="0">
            <a:spAutoFit/>
          </a:bodyPr>
          <a:lstStyle/>
          <a:p>
            <a:pPr>
              <a:spcAft>
                <a:spcPts val="500"/>
              </a:spcAft>
              <a:defRPr sz="3000" b="1">
                <a:solidFill>
                  <a:srgbClr val="15233B"/>
                </a:solidFill>
                <a:latin typeface="Aptos Display"/>
              </a:defRPr>
            </a:pPr>
            <a:r>
              <a:t>Memory planning is central to scaling</a:t>
            </a:r>
          </a:p>
        </p:txBody>
      </p:sp>
      <p:sp>
        <p:nvSpPr>
          <p:cNvPr id="4" name="TextBox 3"/>
          <p:cNvSpPr txBox="1"/>
          <p:nvPr/>
        </p:nvSpPr>
        <p:spPr>
          <a:xfrm>
            <a:off x="512064" y="1426464"/>
            <a:ext cx="11109960" cy="502920"/>
          </a:xfrm>
          <a:prstGeom prst="rect">
            <a:avLst/>
          </a:prstGeom>
          <a:noFill/>
        </p:spPr>
        <p:txBody>
          <a:bodyPr wrap="square" lIns="13716" rIns="13716" tIns="0" bIns="0">
            <a:spAutoFit/>
          </a:bodyPr>
          <a:lstStyle/>
          <a:p>
            <a:pPr>
              <a:spcAft>
                <a:spcPts val="500"/>
              </a:spcAft>
              <a:defRPr sz="1400" b="0">
                <a:solidFill>
                  <a:srgbClr val="586980"/>
                </a:solidFill>
                <a:latin typeface="Aptos"/>
              </a:defRPr>
            </a:pPr>
            <a:r>
              <a:t>DDR stores large model assets; banked SRAM stages the active tensors and weight tiles.</a:t>
            </a:r>
          </a:p>
        </p:txBody>
      </p:sp>
      <p:sp>
        <p:nvSpPr>
          <p:cNvPr id="5" name="Rectangle 4"/>
          <p:cNvSpPr/>
          <p:nvPr/>
        </p:nvSpPr>
        <p:spPr>
          <a:xfrm>
            <a:off x="502920" y="6455664"/>
            <a:ext cx="11183112" cy="10972"/>
          </a:xfrm>
          <a:prstGeom prst="rect">
            <a:avLst/>
          </a:prstGeom>
          <a:solidFill>
            <a:srgbClr val="DCE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3657600" cy="155448"/>
          </a:xfrm>
          <a:prstGeom prst="rect">
            <a:avLst/>
          </a:prstGeom>
          <a:noFill/>
        </p:spPr>
        <p:txBody>
          <a:bodyPr wrap="square" lIns="13716" rIns="13716" tIns="0" bIns="0">
            <a:spAutoFit/>
          </a:bodyPr>
          <a:lstStyle/>
          <a:p>
            <a:pPr>
              <a:spcAft>
                <a:spcPts val="500"/>
              </a:spcAft>
              <a:defRPr sz="800" b="1">
                <a:solidFill>
                  <a:srgbClr val="586980"/>
                </a:solidFill>
                <a:latin typeface="Aptos"/>
              </a:defRPr>
            </a:pPr>
            <a:r>
              <a:t>UNIFIED C-ENGINE  /  ZCU106</a:t>
            </a:r>
          </a:p>
        </p:txBody>
      </p:sp>
      <p:sp>
        <p:nvSpPr>
          <p:cNvPr id="7" name="TextBox 6"/>
          <p:cNvSpPr txBox="1"/>
          <p:nvPr/>
        </p:nvSpPr>
        <p:spPr>
          <a:xfrm>
            <a:off x="3657600" y="6556248"/>
            <a:ext cx="6949440" cy="182880"/>
          </a:xfrm>
          <a:prstGeom prst="rect">
            <a:avLst/>
          </a:prstGeom>
          <a:noFill/>
        </p:spPr>
        <p:txBody>
          <a:bodyPr wrap="square" lIns="13716" rIns="13716" tIns="0" bIns="0">
            <a:spAutoFit/>
          </a:bodyPr>
          <a:lstStyle/>
          <a:p>
            <a:pPr algn="r">
              <a:spcAft>
                <a:spcPts val="500"/>
              </a:spcAft>
              <a:defRPr sz="800" b="0">
                <a:solidFill>
                  <a:srgbClr val="586980"/>
                </a:solidFill>
                <a:latin typeface="Aptos"/>
              </a:defRPr>
            </a:pPr>
            <a:r>
              <a:t>rtl/hw_config_*.vh • models/resnet50_full/compile.py</a:t>
            </a:r>
          </a:p>
        </p:txBody>
      </p:sp>
      <p:sp>
        <p:nvSpPr>
          <p:cNvPr id="8" name="TextBox 7"/>
          <p:cNvSpPr txBox="1"/>
          <p:nvPr/>
        </p:nvSpPr>
        <p:spPr>
          <a:xfrm>
            <a:off x="10927080" y="6547104"/>
            <a:ext cx="731520" cy="201168"/>
          </a:xfrm>
          <a:prstGeom prst="rect">
            <a:avLst/>
          </a:prstGeom>
          <a:noFill/>
        </p:spPr>
        <p:txBody>
          <a:bodyPr wrap="square" lIns="13716" rIns="13716" tIns="0" bIns="0">
            <a:spAutoFit/>
          </a:bodyPr>
          <a:lstStyle/>
          <a:p>
            <a:pPr algn="r">
              <a:spcAft>
                <a:spcPts val="500"/>
              </a:spcAft>
              <a:defRPr sz="900" b="0">
                <a:solidFill>
                  <a:srgbClr val="586980"/>
                </a:solidFill>
                <a:latin typeface="Aptos"/>
              </a:defRPr>
            </a:pPr>
            <a:r>
              <a:t>09 / 17</a:t>
            </a:r>
          </a:p>
        </p:txBody>
      </p:sp>
      <p:sp>
        <p:nvSpPr>
          <p:cNvPr id="9" name="Rectangle 8"/>
          <p:cNvSpPr/>
          <p:nvPr/>
        </p:nvSpPr>
        <p:spPr>
          <a:xfrm>
            <a:off x="502920" y="2048256"/>
            <a:ext cx="11173968" cy="438912"/>
          </a:xfrm>
          <a:prstGeom prst="rect">
            <a:avLst/>
          </a:prstGeom>
          <a:solidFill>
            <a:srgbClr val="1421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2148840"/>
            <a:ext cx="1847088" cy="219456"/>
          </a:xfrm>
          <a:prstGeom prst="rect">
            <a:avLst/>
          </a:prstGeom>
          <a:noFill/>
        </p:spPr>
        <p:txBody>
          <a:bodyPr wrap="square" lIns="13716" rIns="13716" tIns="0" bIns="0">
            <a:spAutoFit/>
          </a:bodyPr>
          <a:lstStyle/>
          <a:p>
            <a:pPr>
              <a:spcAft>
                <a:spcPts val="500"/>
              </a:spcAft>
              <a:defRPr sz="1100" b="1">
                <a:solidFill>
                  <a:srgbClr val="FFFFFF"/>
                </a:solidFill>
                <a:latin typeface="Aptos"/>
              </a:defRPr>
            </a:pPr>
            <a:r>
              <a:t>CONFIGURATION</a:t>
            </a:r>
          </a:p>
        </p:txBody>
      </p:sp>
      <p:sp>
        <p:nvSpPr>
          <p:cNvPr id="11" name="TextBox 10"/>
          <p:cNvSpPr txBox="1"/>
          <p:nvPr/>
        </p:nvSpPr>
        <p:spPr>
          <a:xfrm>
            <a:off x="2679191" y="2148840"/>
            <a:ext cx="4343400" cy="219456"/>
          </a:xfrm>
          <a:prstGeom prst="rect">
            <a:avLst/>
          </a:prstGeom>
          <a:noFill/>
        </p:spPr>
        <p:txBody>
          <a:bodyPr wrap="square" lIns="13716" rIns="13716" tIns="0" bIns="0">
            <a:spAutoFit/>
          </a:bodyPr>
          <a:lstStyle/>
          <a:p>
            <a:pPr>
              <a:spcAft>
                <a:spcPts val="500"/>
              </a:spcAft>
              <a:defRPr sz="1100" b="1">
                <a:solidFill>
                  <a:srgbClr val="FFFFFF"/>
                </a:solidFill>
                <a:latin typeface="Aptos"/>
              </a:defRPr>
            </a:pPr>
            <a:r>
              <a:t>INT8 BUILD</a:t>
            </a:r>
          </a:p>
        </p:txBody>
      </p:sp>
      <p:sp>
        <p:nvSpPr>
          <p:cNvPr id="12" name="TextBox 11"/>
          <p:cNvSpPr txBox="1"/>
          <p:nvPr/>
        </p:nvSpPr>
        <p:spPr>
          <a:xfrm>
            <a:off x="7232904" y="2148840"/>
            <a:ext cx="4352544" cy="219456"/>
          </a:xfrm>
          <a:prstGeom prst="rect">
            <a:avLst/>
          </a:prstGeom>
          <a:noFill/>
        </p:spPr>
        <p:txBody>
          <a:bodyPr wrap="square" lIns="13716" rIns="13716" tIns="0" bIns="0">
            <a:spAutoFit/>
          </a:bodyPr>
          <a:lstStyle/>
          <a:p>
            <a:pPr>
              <a:spcAft>
                <a:spcPts val="500"/>
              </a:spcAft>
              <a:defRPr sz="1100" b="1">
                <a:solidFill>
                  <a:srgbClr val="FFFFFF"/>
                </a:solidFill>
                <a:latin typeface="Aptos"/>
              </a:defRPr>
            </a:pPr>
            <a:r>
              <a:t>INT16 BUILD</a:t>
            </a:r>
          </a:p>
        </p:txBody>
      </p:sp>
      <p:sp>
        <p:nvSpPr>
          <p:cNvPr id="13" name="Rectangle 12"/>
          <p:cNvSpPr/>
          <p:nvPr/>
        </p:nvSpPr>
        <p:spPr>
          <a:xfrm>
            <a:off x="502920" y="2487168"/>
            <a:ext cx="11173968" cy="6035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2633472"/>
            <a:ext cx="1856231" cy="365760"/>
          </a:xfrm>
          <a:prstGeom prst="rect">
            <a:avLst/>
          </a:prstGeom>
          <a:noFill/>
        </p:spPr>
        <p:txBody>
          <a:bodyPr wrap="square" lIns="13716" rIns="13716" tIns="0" bIns="0">
            <a:spAutoFit/>
          </a:bodyPr>
          <a:lstStyle/>
          <a:p>
            <a:pPr>
              <a:spcAft>
                <a:spcPts val="500"/>
              </a:spcAft>
              <a:defRPr sz="1500" b="1">
                <a:solidFill>
                  <a:srgbClr val="15233B"/>
                </a:solidFill>
                <a:latin typeface="Aptos"/>
              </a:defRPr>
            </a:pPr>
            <a:r>
              <a:t>Arithmetic</a:t>
            </a:r>
          </a:p>
        </p:txBody>
      </p:sp>
      <p:sp>
        <p:nvSpPr>
          <p:cNvPr id="15" name="TextBox 14"/>
          <p:cNvSpPr txBox="1"/>
          <p:nvPr/>
        </p:nvSpPr>
        <p:spPr>
          <a:xfrm>
            <a:off x="2679191" y="2633472"/>
            <a:ext cx="4352544" cy="365760"/>
          </a:xfrm>
          <a:prstGeom prst="rect">
            <a:avLst/>
          </a:prstGeom>
          <a:noFill/>
        </p:spPr>
        <p:txBody>
          <a:bodyPr wrap="square" lIns="13716" rIns="13716" tIns="0" bIns="0">
            <a:spAutoFit/>
          </a:bodyPr>
          <a:lstStyle/>
          <a:p>
            <a:pPr>
              <a:spcAft>
                <a:spcPts val="500"/>
              </a:spcAft>
              <a:defRPr sz="1500" b="0">
                <a:solidFill>
                  <a:srgbClr val="15233B"/>
                </a:solidFill>
                <a:latin typeface="Aptos"/>
              </a:defRPr>
            </a:pPr>
            <a:r>
              <a:t>8-bit inputs / weights; 32-bit sums</a:t>
            </a:r>
          </a:p>
        </p:txBody>
      </p:sp>
      <p:sp>
        <p:nvSpPr>
          <p:cNvPr id="16" name="TextBox 15"/>
          <p:cNvSpPr txBox="1"/>
          <p:nvPr/>
        </p:nvSpPr>
        <p:spPr>
          <a:xfrm>
            <a:off x="7232904" y="2633472"/>
            <a:ext cx="4361688" cy="365760"/>
          </a:xfrm>
          <a:prstGeom prst="rect">
            <a:avLst/>
          </a:prstGeom>
          <a:noFill/>
        </p:spPr>
        <p:txBody>
          <a:bodyPr wrap="square" lIns="13716" rIns="13716" tIns="0" bIns="0">
            <a:spAutoFit/>
          </a:bodyPr>
          <a:lstStyle/>
          <a:p>
            <a:pPr>
              <a:spcAft>
                <a:spcPts val="500"/>
              </a:spcAft>
              <a:defRPr sz="1500" b="0">
                <a:solidFill>
                  <a:srgbClr val="15233B"/>
                </a:solidFill>
                <a:latin typeface="Aptos"/>
              </a:defRPr>
            </a:pPr>
            <a:r>
              <a:t>16-bit inputs / weights; 48-bit sums</a:t>
            </a:r>
          </a:p>
        </p:txBody>
      </p:sp>
      <p:sp>
        <p:nvSpPr>
          <p:cNvPr id="17" name="Rectangle 16"/>
          <p:cNvSpPr/>
          <p:nvPr/>
        </p:nvSpPr>
        <p:spPr>
          <a:xfrm>
            <a:off x="502920" y="3090672"/>
            <a:ext cx="11173968" cy="603504"/>
          </a:xfrm>
          <a:prstGeom prst="rect">
            <a:avLst/>
          </a:prstGeom>
          <a:solidFill>
            <a:srgbClr val="EA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3236976"/>
            <a:ext cx="1856231" cy="365760"/>
          </a:xfrm>
          <a:prstGeom prst="rect">
            <a:avLst/>
          </a:prstGeom>
          <a:noFill/>
        </p:spPr>
        <p:txBody>
          <a:bodyPr wrap="square" lIns="13716" rIns="13716" tIns="0" bIns="0">
            <a:spAutoFit/>
          </a:bodyPr>
          <a:lstStyle/>
          <a:p>
            <a:pPr>
              <a:spcAft>
                <a:spcPts val="500"/>
              </a:spcAft>
              <a:defRPr sz="1500" b="1">
                <a:solidFill>
                  <a:srgbClr val="15233B"/>
                </a:solidFill>
                <a:latin typeface="Aptos"/>
              </a:defRPr>
            </a:pPr>
            <a:r>
              <a:t>SRAM geometry</a:t>
            </a:r>
          </a:p>
        </p:txBody>
      </p:sp>
      <p:sp>
        <p:nvSpPr>
          <p:cNvPr id="19" name="TextBox 18"/>
          <p:cNvSpPr txBox="1"/>
          <p:nvPr/>
        </p:nvSpPr>
        <p:spPr>
          <a:xfrm>
            <a:off x="2679191" y="3236976"/>
            <a:ext cx="4352544" cy="365760"/>
          </a:xfrm>
          <a:prstGeom prst="rect">
            <a:avLst/>
          </a:prstGeom>
          <a:noFill/>
        </p:spPr>
        <p:txBody>
          <a:bodyPr wrap="square" lIns="13716" rIns="13716" tIns="0" bIns="0">
            <a:spAutoFit/>
          </a:bodyPr>
          <a:lstStyle/>
          <a:p>
            <a:pPr>
              <a:spcAft>
                <a:spcPts val="500"/>
              </a:spcAft>
              <a:defRPr sz="1500" b="0">
                <a:solidFill>
                  <a:srgbClr val="15233B"/>
                </a:solidFill>
                <a:latin typeface="Aptos"/>
              </a:defRPr>
            </a:pPr>
            <a:r>
              <a:t>16 banks × 128 bits × 15,360 rows</a:t>
            </a:r>
          </a:p>
        </p:txBody>
      </p:sp>
      <p:sp>
        <p:nvSpPr>
          <p:cNvPr id="20" name="TextBox 19"/>
          <p:cNvSpPr txBox="1"/>
          <p:nvPr/>
        </p:nvSpPr>
        <p:spPr>
          <a:xfrm>
            <a:off x="7232904" y="3236976"/>
            <a:ext cx="4361688" cy="365760"/>
          </a:xfrm>
          <a:prstGeom prst="rect">
            <a:avLst/>
          </a:prstGeom>
          <a:noFill/>
        </p:spPr>
        <p:txBody>
          <a:bodyPr wrap="square" lIns="13716" rIns="13716" tIns="0" bIns="0">
            <a:spAutoFit/>
          </a:bodyPr>
          <a:lstStyle/>
          <a:p>
            <a:pPr>
              <a:spcAft>
                <a:spcPts val="500"/>
              </a:spcAft>
              <a:defRPr sz="1500" b="0">
                <a:solidFill>
                  <a:srgbClr val="15233B"/>
                </a:solidFill>
                <a:latin typeface="Aptos"/>
              </a:defRPr>
            </a:pPr>
            <a:r>
              <a:t>32 banks × 128 bits × 4,096 rows</a:t>
            </a:r>
          </a:p>
        </p:txBody>
      </p:sp>
      <p:sp>
        <p:nvSpPr>
          <p:cNvPr id="21" name="Rectangle 20"/>
          <p:cNvSpPr/>
          <p:nvPr/>
        </p:nvSpPr>
        <p:spPr>
          <a:xfrm>
            <a:off x="502920" y="3694176"/>
            <a:ext cx="11173968" cy="6035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3840480"/>
            <a:ext cx="1856231" cy="365760"/>
          </a:xfrm>
          <a:prstGeom prst="rect">
            <a:avLst/>
          </a:prstGeom>
          <a:noFill/>
        </p:spPr>
        <p:txBody>
          <a:bodyPr wrap="square" lIns="13716" rIns="13716" tIns="0" bIns="0">
            <a:spAutoFit/>
          </a:bodyPr>
          <a:lstStyle/>
          <a:p>
            <a:pPr>
              <a:spcAft>
                <a:spcPts val="500"/>
              </a:spcAft>
              <a:defRPr sz="1500" b="1">
                <a:solidFill>
                  <a:srgbClr val="15233B"/>
                </a:solidFill>
                <a:latin typeface="Aptos"/>
              </a:defRPr>
            </a:pPr>
            <a:r>
              <a:t>Logical capacity</a:t>
            </a:r>
          </a:p>
        </p:txBody>
      </p:sp>
      <p:sp>
        <p:nvSpPr>
          <p:cNvPr id="23" name="TextBox 22"/>
          <p:cNvSpPr txBox="1"/>
          <p:nvPr/>
        </p:nvSpPr>
        <p:spPr>
          <a:xfrm>
            <a:off x="2679191" y="3840480"/>
            <a:ext cx="4352544" cy="365760"/>
          </a:xfrm>
          <a:prstGeom prst="rect">
            <a:avLst/>
          </a:prstGeom>
          <a:noFill/>
        </p:spPr>
        <p:txBody>
          <a:bodyPr wrap="square" lIns="13716" rIns="13716" tIns="0" bIns="0">
            <a:spAutoFit/>
          </a:bodyPr>
          <a:lstStyle/>
          <a:p>
            <a:pPr>
              <a:spcAft>
                <a:spcPts val="500"/>
              </a:spcAft>
              <a:defRPr sz="1500" b="0">
                <a:solidFill>
                  <a:srgbClr val="15233B"/>
                </a:solidFill>
                <a:latin typeface="Aptos"/>
              </a:defRPr>
            </a:pPr>
            <a:r>
              <a:t>3.93 MB (3.75 MiB)</a:t>
            </a:r>
          </a:p>
        </p:txBody>
      </p:sp>
      <p:sp>
        <p:nvSpPr>
          <p:cNvPr id="24" name="TextBox 23"/>
          <p:cNvSpPr txBox="1"/>
          <p:nvPr/>
        </p:nvSpPr>
        <p:spPr>
          <a:xfrm>
            <a:off x="7232904" y="3840480"/>
            <a:ext cx="4361688" cy="365760"/>
          </a:xfrm>
          <a:prstGeom prst="rect">
            <a:avLst/>
          </a:prstGeom>
          <a:noFill/>
        </p:spPr>
        <p:txBody>
          <a:bodyPr wrap="square" lIns="13716" rIns="13716" tIns="0" bIns="0">
            <a:spAutoFit/>
          </a:bodyPr>
          <a:lstStyle/>
          <a:p>
            <a:pPr>
              <a:spcAft>
                <a:spcPts val="500"/>
              </a:spcAft>
              <a:defRPr sz="1500" b="0">
                <a:solidFill>
                  <a:srgbClr val="15233B"/>
                </a:solidFill>
                <a:latin typeface="Aptos"/>
              </a:defRPr>
            </a:pPr>
            <a:r>
              <a:t>2.10 MB (2.00 MiB)</a:t>
            </a:r>
          </a:p>
        </p:txBody>
      </p:sp>
      <p:sp>
        <p:nvSpPr>
          <p:cNvPr id="25" name="Rectangle 24"/>
          <p:cNvSpPr/>
          <p:nvPr/>
        </p:nvSpPr>
        <p:spPr>
          <a:xfrm>
            <a:off x="502920" y="4297680"/>
            <a:ext cx="11173968" cy="603504"/>
          </a:xfrm>
          <a:prstGeom prst="rect">
            <a:avLst/>
          </a:prstGeom>
          <a:solidFill>
            <a:srgbClr val="EA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4443984"/>
            <a:ext cx="1856231" cy="365760"/>
          </a:xfrm>
          <a:prstGeom prst="rect">
            <a:avLst/>
          </a:prstGeom>
          <a:noFill/>
        </p:spPr>
        <p:txBody>
          <a:bodyPr wrap="square" lIns="13716" rIns="13716" tIns="0" bIns="0">
            <a:spAutoFit/>
          </a:bodyPr>
          <a:lstStyle/>
          <a:p>
            <a:pPr>
              <a:spcAft>
                <a:spcPts val="500"/>
              </a:spcAft>
              <a:defRPr sz="1500" b="1">
                <a:solidFill>
                  <a:srgbClr val="15233B"/>
                </a:solidFill>
                <a:latin typeface="Aptos"/>
              </a:defRPr>
            </a:pPr>
            <a:r>
              <a:t>Instruction store</a:t>
            </a:r>
          </a:p>
        </p:txBody>
      </p:sp>
      <p:sp>
        <p:nvSpPr>
          <p:cNvPr id="27" name="TextBox 26"/>
          <p:cNvSpPr txBox="1"/>
          <p:nvPr/>
        </p:nvSpPr>
        <p:spPr>
          <a:xfrm>
            <a:off x="2679191" y="4443984"/>
            <a:ext cx="4352544" cy="365760"/>
          </a:xfrm>
          <a:prstGeom prst="rect">
            <a:avLst/>
          </a:prstGeom>
          <a:noFill/>
        </p:spPr>
        <p:txBody>
          <a:bodyPr wrap="square" lIns="13716" rIns="13716" tIns="0" bIns="0">
            <a:spAutoFit/>
          </a:bodyPr>
          <a:lstStyle/>
          <a:p>
            <a:pPr>
              <a:spcAft>
                <a:spcPts val="500"/>
              </a:spcAft>
              <a:defRPr sz="1500" b="0">
                <a:solidFill>
                  <a:srgbClr val="15233B"/>
                </a:solidFill>
                <a:latin typeface="Aptos"/>
              </a:defRPr>
            </a:pPr>
            <a:r>
              <a:t>256 × 128-bit words</a:t>
            </a:r>
          </a:p>
        </p:txBody>
      </p:sp>
      <p:sp>
        <p:nvSpPr>
          <p:cNvPr id="28" name="TextBox 27"/>
          <p:cNvSpPr txBox="1"/>
          <p:nvPr/>
        </p:nvSpPr>
        <p:spPr>
          <a:xfrm>
            <a:off x="7232904" y="4443984"/>
            <a:ext cx="4361688" cy="365760"/>
          </a:xfrm>
          <a:prstGeom prst="rect">
            <a:avLst/>
          </a:prstGeom>
          <a:noFill/>
        </p:spPr>
        <p:txBody>
          <a:bodyPr wrap="square" lIns="13716" rIns="13716" tIns="0" bIns="0">
            <a:spAutoFit/>
          </a:bodyPr>
          <a:lstStyle/>
          <a:p>
            <a:pPr>
              <a:spcAft>
                <a:spcPts val="500"/>
              </a:spcAft>
              <a:defRPr sz="1500" b="0">
                <a:solidFill>
                  <a:srgbClr val="15233B"/>
                </a:solidFill>
                <a:latin typeface="Aptos"/>
              </a:defRPr>
            </a:pPr>
            <a:r>
              <a:t>256 × 128-bit words</a:t>
            </a:r>
          </a:p>
        </p:txBody>
      </p:sp>
      <p:sp>
        <p:nvSpPr>
          <p:cNvPr id="29" name="TextBox 28"/>
          <p:cNvSpPr txBox="1"/>
          <p:nvPr/>
        </p:nvSpPr>
        <p:spPr>
          <a:xfrm>
            <a:off x="548640" y="5056632"/>
            <a:ext cx="10972800" cy="301752"/>
          </a:xfrm>
          <a:prstGeom prst="rect">
            <a:avLst/>
          </a:prstGeom>
          <a:noFill/>
        </p:spPr>
        <p:txBody>
          <a:bodyPr wrap="square" lIns="13716" rIns="13716" tIns="0" bIns="0">
            <a:spAutoFit/>
          </a:bodyPr>
          <a:lstStyle/>
          <a:p>
            <a:pPr>
              <a:spcAft>
                <a:spcPts val="500"/>
              </a:spcAft>
              <a:defRPr sz="1800" b="1">
                <a:solidFill>
                  <a:srgbClr val="15233B"/>
                </a:solidFill>
                <a:latin typeface="Aptos"/>
              </a:defRPr>
            </a:pPr>
            <a:r>
              <a:t>Example: current ResNet-50 INT8 compiler allocation</a:t>
            </a:r>
          </a:p>
        </p:txBody>
      </p:sp>
      <p:sp>
        <p:nvSpPr>
          <p:cNvPr id="30" name="Rounded Rectangle 29"/>
          <p:cNvSpPr/>
          <p:nvPr/>
        </p:nvSpPr>
        <p:spPr>
          <a:xfrm>
            <a:off x="548640" y="5513832"/>
            <a:ext cx="1480685" cy="530352"/>
          </a:xfrm>
          <a:prstGeom prst="roundRect">
            <a:avLst>
              <a:gd name="adj" fmla="val 12000"/>
            </a:avLst>
          </a:prstGeom>
          <a:solidFill>
            <a:srgbClr val="6B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5216" y="5568696"/>
            <a:ext cx="1412105" cy="393192"/>
          </a:xfrm>
          <a:prstGeom prst="rect">
            <a:avLst/>
          </a:prstGeom>
          <a:noFill/>
        </p:spPr>
        <p:txBody>
          <a:bodyPr wrap="square" lIns="13716" rIns="13716" tIns="0" bIns="0">
            <a:spAutoFit/>
          </a:bodyPr>
          <a:lstStyle/>
          <a:p>
            <a:pPr algn="ctr">
              <a:spcAft>
                <a:spcPts val="500"/>
              </a:spcAft>
              <a:defRPr sz="1100" b="1">
                <a:solidFill>
                  <a:srgbClr val="0B1224"/>
                </a:solidFill>
                <a:latin typeface="Aptos"/>
              </a:defRPr>
            </a:pPr>
            <a:r>
              <a:t>Input +</a:t>
            </a:r>
          </a:p>
          <a:p>
            <a:pPr algn="ctr">
              <a:spcAft>
                <a:spcPts val="500"/>
              </a:spcAft>
              <a:defRPr sz="1100" b="1">
                <a:solidFill>
                  <a:srgbClr val="0B1224"/>
                </a:solidFill>
                <a:latin typeface="Aptos"/>
              </a:defRPr>
            </a:pPr>
            <a:r>
              <a:t>stage 0</a:t>
            </a:r>
          </a:p>
        </p:txBody>
      </p:sp>
      <p:sp>
        <p:nvSpPr>
          <p:cNvPr id="32" name="Rounded Rectangle 31"/>
          <p:cNvSpPr/>
          <p:nvPr/>
        </p:nvSpPr>
        <p:spPr>
          <a:xfrm>
            <a:off x="2061329" y="5513832"/>
            <a:ext cx="2777275" cy="530352"/>
          </a:xfrm>
          <a:prstGeom prst="roundRect">
            <a:avLst>
              <a:gd name="adj" fmla="val 12000"/>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097905" y="5568696"/>
            <a:ext cx="2708695" cy="393192"/>
          </a:xfrm>
          <a:prstGeom prst="rect">
            <a:avLst/>
          </a:prstGeom>
          <a:noFill/>
        </p:spPr>
        <p:txBody>
          <a:bodyPr wrap="square" lIns="13716" rIns="13716" tIns="0" bIns="0">
            <a:spAutoFit/>
          </a:bodyPr>
          <a:lstStyle/>
          <a:p>
            <a:pPr algn="ctr">
              <a:spcAft>
                <a:spcPts val="500"/>
              </a:spcAft>
              <a:defRPr sz="1100" b="1">
                <a:solidFill>
                  <a:srgbClr val="0B1224"/>
                </a:solidFill>
                <a:latin typeface="Aptos"/>
              </a:defRPr>
            </a:pPr>
            <a:r>
              <a:t>Ping</a:t>
            </a:r>
          </a:p>
        </p:txBody>
      </p:sp>
      <p:sp>
        <p:nvSpPr>
          <p:cNvPr id="34" name="Rounded Rectangle 33"/>
          <p:cNvSpPr/>
          <p:nvPr/>
        </p:nvSpPr>
        <p:spPr>
          <a:xfrm>
            <a:off x="4870608" y="5513832"/>
            <a:ext cx="2849308" cy="530352"/>
          </a:xfrm>
          <a:prstGeom prst="roundRect">
            <a:avLst>
              <a:gd name="adj" fmla="val 12000"/>
            </a:avLst>
          </a:prstGeom>
          <a:solidFill>
            <a:srgbClr val="A69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07184" y="5568696"/>
            <a:ext cx="2780728" cy="393192"/>
          </a:xfrm>
          <a:prstGeom prst="rect">
            <a:avLst/>
          </a:prstGeom>
          <a:noFill/>
        </p:spPr>
        <p:txBody>
          <a:bodyPr wrap="square" lIns="13716" rIns="13716" tIns="0" bIns="0">
            <a:spAutoFit/>
          </a:bodyPr>
          <a:lstStyle/>
          <a:p>
            <a:pPr algn="ctr">
              <a:spcAft>
                <a:spcPts val="500"/>
              </a:spcAft>
              <a:defRPr sz="1100" b="1">
                <a:solidFill>
                  <a:srgbClr val="0B1224"/>
                </a:solidFill>
                <a:latin typeface="Aptos"/>
              </a:defRPr>
            </a:pPr>
            <a:r>
              <a:t>Pong</a:t>
            </a:r>
          </a:p>
        </p:txBody>
      </p:sp>
      <p:sp>
        <p:nvSpPr>
          <p:cNvPr id="36" name="Rounded Rectangle 35"/>
          <p:cNvSpPr/>
          <p:nvPr/>
        </p:nvSpPr>
        <p:spPr>
          <a:xfrm>
            <a:off x="7751921" y="5513832"/>
            <a:ext cx="2849308" cy="530352"/>
          </a:xfrm>
          <a:prstGeom prst="roundRect">
            <a:avLst>
              <a:gd name="adj" fmla="val 12000"/>
            </a:avLst>
          </a:prstGeom>
          <a:solidFill>
            <a:srgbClr val="D5AC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88497" y="5568696"/>
            <a:ext cx="2780728" cy="393192"/>
          </a:xfrm>
          <a:prstGeom prst="rect">
            <a:avLst/>
          </a:prstGeom>
          <a:noFill/>
        </p:spPr>
        <p:txBody>
          <a:bodyPr wrap="square" lIns="13716" rIns="13716" tIns="0" bIns="0">
            <a:spAutoFit/>
          </a:bodyPr>
          <a:lstStyle/>
          <a:p>
            <a:pPr algn="ctr">
              <a:spcAft>
                <a:spcPts val="500"/>
              </a:spcAft>
              <a:defRPr sz="1100" b="1">
                <a:solidFill>
                  <a:srgbClr val="0B1224"/>
                </a:solidFill>
                <a:latin typeface="Aptos"/>
              </a:defRPr>
            </a:pPr>
            <a:r>
              <a:t>Residual</a:t>
            </a:r>
          </a:p>
        </p:txBody>
      </p:sp>
      <p:sp>
        <p:nvSpPr>
          <p:cNvPr id="38" name="Rounded Rectangle 37"/>
          <p:cNvSpPr/>
          <p:nvPr/>
        </p:nvSpPr>
        <p:spPr>
          <a:xfrm>
            <a:off x="10633233" y="5513832"/>
            <a:ext cx="947642" cy="530352"/>
          </a:xfrm>
          <a:prstGeom prst="roundRect">
            <a:avLst>
              <a:gd name="adj" fmla="val 12000"/>
            </a:avLst>
          </a:prstGeom>
          <a:solidFill>
            <a:srgbClr val="8BA3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69809" y="5568696"/>
            <a:ext cx="879062" cy="393192"/>
          </a:xfrm>
          <a:prstGeom prst="rect">
            <a:avLst/>
          </a:prstGeom>
          <a:noFill/>
        </p:spPr>
        <p:txBody>
          <a:bodyPr wrap="square" lIns="13716" rIns="13716" tIns="0" bIns="0">
            <a:spAutoFit/>
          </a:bodyPr>
          <a:lstStyle/>
          <a:p>
            <a:pPr algn="ctr">
              <a:spcAft>
                <a:spcPts val="500"/>
              </a:spcAft>
              <a:defRPr sz="1100" b="1">
                <a:solidFill>
                  <a:srgbClr val="0B1224"/>
                </a:solidFill>
                <a:latin typeface="Aptos"/>
              </a:defRPr>
            </a:pPr>
            <a:r>
              <a:t>Weights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6FA"/>
        </a:solidFill>
        <a:effectLst/>
      </p:bgPr>
    </p:bg>
    <p:spTree>
      <p:nvGrpSpPr>
        <p:cNvPr id="1" name=""/>
        <p:cNvGrpSpPr/>
        <p:nvPr/>
      </p:nvGrpSpPr>
      <p:grpSpPr/>
      <p:sp>
        <p:nvSpPr>
          <p:cNvPr id="2" name="TextBox 1"/>
          <p:cNvSpPr txBox="1"/>
          <p:nvPr/>
        </p:nvSpPr>
        <p:spPr>
          <a:xfrm>
            <a:off x="502920" y="274320"/>
            <a:ext cx="9144000" cy="210312"/>
          </a:xfrm>
          <a:prstGeom prst="rect">
            <a:avLst/>
          </a:prstGeom>
          <a:noFill/>
        </p:spPr>
        <p:txBody>
          <a:bodyPr wrap="square" lIns="13716" rIns="13716" tIns="0" bIns="0">
            <a:spAutoFit/>
          </a:bodyPr>
          <a:lstStyle/>
          <a:p>
            <a:pPr>
              <a:spcAft>
                <a:spcPts val="500"/>
              </a:spcAft>
              <a:defRPr sz="1000" b="1">
                <a:solidFill>
                  <a:srgbClr val="586980"/>
                </a:solidFill>
                <a:latin typeface="Aptos"/>
              </a:defRPr>
            </a:pPr>
            <a:r>
              <a:t>IMPLEMENTATION RESULTS</a:t>
            </a:r>
          </a:p>
        </p:txBody>
      </p:sp>
      <p:sp>
        <p:nvSpPr>
          <p:cNvPr id="3" name="TextBox 2"/>
          <p:cNvSpPr txBox="1"/>
          <p:nvPr/>
        </p:nvSpPr>
        <p:spPr>
          <a:xfrm>
            <a:off x="502920" y="713232"/>
            <a:ext cx="11155680" cy="640080"/>
          </a:xfrm>
          <a:prstGeom prst="rect">
            <a:avLst/>
          </a:prstGeom>
          <a:noFill/>
        </p:spPr>
        <p:txBody>
          <a:bodyPr wrap="square" lIns="13716" rIns="13716" tIns="0" bIns="0">
            <a:spAutoFit/>
          </a:bodyPr>
          <a:lstStyle/>
          <a:p>
            <a:pPr>
              <a:spcAft>
                <a:spcPts val="500"/>
              </a:spcAft>
              <a:defRPr sz="3000" b="1">
                <a:solidFill>
                  <a:srgbClr val="15233B"/>
                </a:solidFill>
                <a:latin typeface="Aptos Display"/>
              </a:defRPr>
            </a:pPr>
            <a:r>
              <a:t>Both saved hardware builds meet timing</a:t>
            </a:r>
          </a:p>
        </p:txBody>
      </p:sp>
      <p:sp>
        <p:nvSpPr>
          <p:cNvPr id="4" name="TextBox 3"/>
          <p:cNvSpPr txBox="1"/>
          <p:nvPr/>
        </p:nvSpPr>
        <p:spPr>
          <a:xfrm>
            <a:off x="512064" y="1426464"/>
            <a:ext cx="11109960" cy="502920"/>
          </a:xfrm>
          <a:prstGeom prst="rect">
            <a:avLst/>
          </a:prstGeom>
          <a:noFill/>
        </p:spPr>
        <p:txBody>
          <a:bodyPr wrap="square" lIns="13716" rIns="13716" tIns="0" bIns="0">
            <a:spAutoFit/>
          </a:bodyPr>
          <a:lstStyle/>
          <a:p>
            <a:pPr>
              <a:spcAft>
                <a:spcPts val="500"/>
              </a:spcAft>
              <a:defRPr sz="1400" b="0">
                <a:solidFill>
                  <a:srgbClr val="586980"/>
                </a:solidFill>
                <a:latin typeface="Aptos"/>
              </a:defRPr>
            </a:pPr>
            <a:r>
              <a:t>Routed Vivado reports provide the physical implementation baseline.</a:t>
            </a:r>
          </a:p>
        </p:txBody>
      </p:sp>
      <p:sp>
        <p:nvSpPr>
          <p:cNvPr id="5" name="Rectangle 4"/>
          <p:cNvSpPr/>
          <p:nvPr/>
        </p:nvSpPr>
        <p:spPr>
          <a:xfrm>
            <a:off x="502920" y="6455664"/>
            <a:ext cx="11183112" cy="10972"/>
          </a:xfrm>
          <a:prstGeom prst="rect">
            <a:avLst/>
          </a:prstGeom>
          <a:solidFill>
            <a:srgbClr val="DCE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3657600" cy="155448"/>
          </a:xfrm>
          <a:prstGeom prst="rect">
            <a:avLst/>
          </a:prstGeom>
          <a:noFill/>
        </p:spPr>
        <p:txBody>
          <a:bodyPr wrap="square" lIns="13716" rIns="13716" tIns="0" bIns="0">
            <a:spAutoFit/>
          </a:bodyPr>
          <a:lstStyle/>
          <a:p>
            <a:pPr>
              <a:spcAft>
                <a:spcPts val="500"/>
              </a:spcAft>
              <a:defRPr sz="800" b="1">
                <a:solidFill>
                  <a:srgbClr val="586980"/>
                </a:solidFill>
                <a:latin typeface="Aptos"/>
              </a:defRPr>
            </a:pPr>
            <a:r>
              <a:t>UNIFIED C-ENGINE  /  ZCU106</a:t>
            </a:r>
          </a:p>
        </p:txBody>
      </p:sp>
      <p:sp>
        <p:nvSpPr>
          <p:cNvPr id="7" name="TextBox 6"/>
          <p:cNvSpPr txBox="1"/>
          <p:nvPr/>
        </p:nvSpPr>
        <p:spPr>
          <a:xfrm>
            <a:off x="3657600" y="6556248"/>
            <a:ext cx="6949440" cy="182880"/>
          </a:xfrm>
          <a:prstGeom prst="rect">
            <a:avLst/>
          </a:prstGeom>
          <a:noFill/>
        </p:spPr>
        <p:txBody>
          <a:bodyPr wrap="square" lIns="13716" rIns="13716" tIns="0" bIns="0">
            <a:spAutoFit/>
          </a:bodyPr>
          <a:lstStyle/>
          <a:p>
            <a:pPr algn="r">
              <a:spcAft>
                <a:spcPts val="500"/>
              </a:spcAft>
              <a:defRPr sz="800" b="0">
                <a:solidFill>
                  <a:srgbClr val="586980"/>
                </a:solidFill>
                <a:latin typeface="Aptos"/>
              </a:defRPr>
            </a:pPr>
            <a:r>
              <a:t>fpga/export/{8bit,16bit}/{timing_summary,utilization}.rpt</a:t>
            </a:r>
          </a:p>
        </p:txBody>
      </p:sp>
      <p:sp>
        <p:nvSpPr>
          <p:cNvPr id="8" name="TextBox 7"/>
          <p:cNvSpPr txBox="1"/>
          <p:nvPr/>
        </p:nvSpPr>
        <p:spPr>
          <a:xfrm>
            <a:off x="10927080" y="6547104"/>
            <a:ext cx="731520" cy="201168"/>
          </a:xfrm>
          <a:prstGeom prst="rect">
            <a:avLst/>
          </a:prstGeom>
          <a:noFill/>
        </p:spPr>
        <p:txBody>
          <a:bodyPr wrap="square" lIns="13716" rIns="13716" tIns="0" bIns="0">
            <a:spAutoFit/>
          </a:bodyPr>
          <a:lstStyle/>
          <a:p>
            <a:pPr algn="r">
              <a:spcAft>
                <a:spcPts val="500"/>
              </a:spcAft>
              <a:defRPr sz="900" b="0">
                <a:solidFill>
                  <a:srgbClr val="586980"/>
                </a:solidFill>
                <a:latin typeface="Aptos"/>
              </a:defRPr>
            </a:pPr>
            <a:r>
              <a:t>10 / 17</a:t>
            </a:r>
          </a:p>
        </p:txBody>
      </p:sp>
      <p:sp>
        <p:nvSpPr>
          <p:cNvPr id="9" name="Rounded Rectangle 8"/>
          <p:cNvSpPr/>
          <p:nvPr/>
        </p:nvSpPr>
        <p:spPr>
          <a:xfrm>
            <a:off x="502920" y="1993392"/>
            <a:ext cx="2743200" cy="10058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84832"/>
            <a:ext cx="2377440" cy="502920"/>
          </a:xfrm>
          <a:prstGeom prst="rect">
            <a:avLst/>
          </a:prstGeom>
          <a:noFill/>
        </p:spPr>
        <p:txBody>
          <a:bodyPr wrap="square" lIns="13716" rIns="13716" tIns="0" bIns="0">
            <a:spAutoFit/>
          </a:bodyPr>
          <a:lstStyle/>
          <a:p>
            <a:pPr>
              <a:spcAft>
                <a:spcPts val="500"/>
              </a:spcAft>
              <a:defRPr sz="3100" b="1">
                <a:solidFill>
                  <a:srgbClr val="35DFC3"/>
                </a:solidFill>
                <a:latin typeface="Aptos Display"/>
              </a:defRPr>
            </a:pPr>
            <a:r>
              <a:t>74.996 MHz</a:t>
            </a:r>
          </a:p>
        </p:txBody>
      </p:sp>
      <p:sp>
        <p:nvSpPr>
          <p:cNvPr id="11" name="TextBox 10"/>
          <p:cNvSpPr txBox="1"/>
          <p:nvPr/>
        </p:nvSpPr>
        <p:spPr>
          <a:xfrm>
            <a:off x="685800" y="2679192"/>
            <a:ext cx="2377440" cy="228600"/>
          </a:xfrm>
          <a:prstGeom prst="rect">
            <a:avLst/>
          </a:prstGeom>
          <a:noFill/>
        </p:spPr>
        <p:txBody>
          <a:bodyPr wrap="square" lIns="13716" rIns="13716" tIns="0" bIns="0">
            <a:spAutoFit/>
          </a:bodyPr>
          <a:lstStyle/>
          <a:p>
            <a:pPr>
              <a:spcAft>
                <a:spcPts val="500"/>
              </a:spcAft>
              <a:defRPr sz="1100" b="0">
                <a:solidFill>
                  <a:srgbClr val="586980"/>
                </a:solidFill>
                <a:latin typeface="Aptos"/>
              </a:defRPr>
            </a:pPr>
            <a:r>
              <a:t>INT8 actual reported clock</a:t>
            </a:r>
          </a:p>
        </p:txBody>
      </p:sp>
      <p:sp>
        <p:nvSpPr>
          <p:cNvPr id="12" name="Rounded Rectangle 11"/>
          <p:cNvSpPr/>
          <p:nvPr/>
        </p:nvSpPr>
        <p:spPr>
          <a:xfrm>
            <a:off x="3465576" y="1993392"/>
            <a:ext cx="2743200" cy="10058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48456" y="2084832"/>
            <a:ext cx="2377440" cy="502920"/>
          </a:xfrm>
          <a:prstGeom prst="rect">
            <a:avLst/>
          </a:prstGeom>
          <a:noFill/>
        </p:spPr>
        <p:txBody>
          <a:bodyPr wrap="square" lIns="13716" rIns="13716" tIns="0" bIns="0">
            <a:spAutoFit/>
          </a:bodyPr>
          <a:lstStyle/>
          <a:p>
            <a:pPr>
              <a:spcAft>
                <a:spcPts val="500"/>
              </a:spcAft>
              <a:defRPr sz="3100" b="1">
                <a:solidFill>
                  <a:srgbClr val="35DFC3"/>
                </a:solidFill>
                <a:latin typeface="Aptos Display"/>
              </a:defRPr>
            </a:pPr>
            <a:r>
              <a:t>+0.595 ns</a:t>
            </a:r>
          </a:p>
        </p:txBody>
      </p:sp>
      <p:sp>
        <p:nvSpPr>
          <p:cNvPr id="14" name="TextBox 13"/>
          <p:cNvSpPr txBox="1"/>
          <p:nvPr/>
        </p:nvSpPr>
        <p:spPr>
          <a:xfrm>
            <a:off x="3648456" y="2679192"/>
            <a:ext cx="2377440" cy="228600"/>
          </a:xfrm>
          <a:prstGeom prst="rect">
            <a:avLst/>
          </a:prstGeom>
          <a:noFill/>
        </p:spPr>
        <p:txBody>
          <a:bodyPr wrap="square" lIns="13716" rIns="13716" tIns="0" bIns="0">
            <a:spAutoFit/>
          </a:bodyPr>
          <a:lstStyle/>
          <a:p>
            <a:pPr>
              <a:spcAft>
                <a:spcPts val="500"/>
              </a:spcAft>
              <a:defRPr sz="1100" b="0">
                <a:solidFill>
                  <a:srgbClr val="586980"/>
                </a:solidFill>
                <a:latin typeface="Aptos"/>
              </a:defRPr>
            </a:pPr>
            <a:r>
              <a:t>INT8 worst setup slack</a:t>
            </a:r>
          </a:p>
        </p:txBody>
      </p:sp>
      <p:sp>
        <p:nvSpPr>
          <p:cNvPr id="15" name="Rounded Rectangle 14"/>
          <p:cNvSpPr/>
          <p:nvPr/>
        </p:nvSpPr>
        <p:spPr>
          <a:xfrm>
            <a:off x="6428232" y="1993392"/>
            <a:ext cx="2514600" cy="10058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11112" y="2084832"/>
            <a:ext cx="2148840" cy="502920"/>
          </a:xfrm>
          <a:prstGeom prst="rect">
            <a:avLst/>
          </a:prstGeom>
          <a:noFill/>
        </p:spPr>
        <p:txBody>
          <a:bodyPr wrap="square" lIns="13716" rIns="13716" tIns="0" bIns="0">
            <a:spAutoFit/>
          </a:bodyPr>
          <a:lstStyle/>
          <a:p>
            <a:pPr>
              <a:spcAft>
                <a:spcPts val="500"/>
              </a:spcAft>
              <a:defRPr sz="3100" b="1">
                <a:solidFill>
                  <a:srgbClr val="6BA6FF"/>
                </a:solidFill>
                <a:latin typeface="Aptos Display"/>
              </a:defRPr>
            </a:pPr>
            <a:r>
              <a:t>68.176 MHz</a:t>
            </a:r>
          </a:p>
        </p:txBody>
      </p:sp>
      <p:sp>
        <p:nvSpPr>
          <p:cNvPr id="17" name="TextBox 16"/>
          <p:cNvSpPr txBox="1"/>
          <p:nvPr/>
        </p:nvSpPr>
        <p:spPr>
          <a:xfrm>
            <a:off x="6611112" y="2679192"/>
            <a:ext cx="2148840" cy="228600"/>
          </a:xfrm>
          <a:prstGeom prst="rect">
            <a:avLst/>
          </a:prstGeom>
          <a:noFill/>
        </p:spPr>
        <p:txBody>
          <a:bodyPr wrap="square" lIns="13716" rIns="13716" tIns="0" bIns="0">
            <a:spAutoFit/>
          </a:bodyPr>
          <a:lstStyle/>
          <a:p>
            <a:pPr>
              <a:spcAft>
                <a:spcPts val="500"/>
              </a:spcAft>
              <a:defRPr sz="1100" b="0">
                <a:solidFill>
                  <a:srgbClr val="586980"/>
                </a:solidFill>
                <a:latin typeface="Aptos"/>
              </a:defRPr>
            </a:pPr>
            <a:r>
              <a:t>INT16 actual reported clock</a:t>
            </a:r>
          </a:p>
        </p:txBody>
      </p:sp>
      <p:sp>
        <p:nvSpPr>
          <p:cNvPr id="18" name="Rounded Rectangle 17"/>
          <p:cNvSpPr/>
          <p:nvPr/>
        </p:nvSpPr>
        <p:spPr>
          <a:xfrm>
            <a:off x="9162288" y="1993392"/>
            <a:ext cx="2514600" cy="10058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45167" y="2084832"/>
            <a:ext cx="2148840" cy="502920"/>
          </a:xfrm>
          <a:prstGeom prst="rect">
            <a:avLst/>
          </a:prstGeom>
          <a:noFill/>
        </p:spPr>
        <p:txBody>
          <a:bodyPr wrap="square" lIns="13716" rIns="13716" tIns="0" bIns="0">
            <a:spAutoFit/>
          </a:bodyPr>
          <a:lstStyle/>
          <a:p>
            <a:pPr>
              <a:spcAft>
                <a:spcPts val="500"/>
              </a:spcAft>
              <a:defRPr sz="3100" b="1">
                <a:solidFill>
                  <a:srgbClr val="6BA6FF"/>
                </a:solidFill>
                <a:latin typeface="Aptos Display"/>
              </a:defRPr>
            </a:pPr>
            <a:r>
              <a:t>+0.079 ns</a:t>
            </a:r>
          </a:p>
        </p:txBody>
      </p:sp>
      <p:sp>
        <p:nvSpPr>
          <p:cNvPr id="20" name="TextBox 19"/>
          <p:cNvSpPr txBox="1"/>
          <p:nvPr/>
        </p:nvSpPr>
        <p:spPr>
          <a:xfrm>
            <a:off x="9345167" y="2679192"/>
            <a:ext cx="2148840" cy="228600"/>
          </a:xfrm>
          <a:prstGeom prst="rect">
            <a:avLst/>
          </a:prstGeom>
          <a:noFill/>
        </p:spPr>
        <p:txBody>
          <a:bodyPr wrap="square" lIns="13716" rIns="13716" tIns="0" bIns="0">
            <a:spAutoFit/>
          </a:bodyPr>
          <a:lstStyle/>
          <a:p>
            <a:pPr>
              <a:spcAft>
                <a:spcPts val="500"/>
              </a:spcAft>
              <a:defRPr sz="1100" b="0">
                <a:solidFill>
                  <a:srgbClr val="586980"/>
                </a:solidFill>
                <a:latin typeface="Aptos"/>
              </a:defRPr>
            </a:pPr>
            <a:r>
              <a:t>INT16 worst setup slack</a:t>
            </a:r>
          </a:p>
        </p:txBody>
      </p:sp>
      <p:sp>
        <p:nvSpPr>
          <p:cNvPr id="21" name="TextBox 20"/>
          <p:cNvSpPr txBox="1"/>
          <p:nvPr/>
        </p:nvSpPr>
        <p:spPr>
          <a:xfrm>
            <a:off x="548640" y="3346704"/>
            <a:ext cx="5486400" cy="274320"/>
          </a:xfrm>
          <a:prstGeom prst="rect">
            <a:avLst/>
          </a:prstGeom>
          <a:noFill/>
        </p:spPr>
        <p:txBody>
          <a:bodyPr wrap="square" lIns="13716" rIns="13716" tIns="0" bIns="0">
            <a:spAutoFit/>
          </a:bodyPr>
          <a:lstStyle/>
          <a:p>
            <a:pPr>
              <a:spcAft>
                <a:spcPts val="500"/>
              </a:spcAft>
              <a:defRPr sz="1200" b="1">
                <a:solidFill>
                  <a:srgbClr val="586980"/>
                </a:solidFill>
                <a:latin typeface="Aptos"/>
              </a:defRPr>
            </a:pPr>
            <a:r>
              <a:t>RESOURCE UTILIZATION</a:t>
            </a:r>
          </a:p>
        </p:txBody>
      </p:sp>
      <p:sp>
        <p:nvSpPr>
          <p:cNvPr id="22" name="TextBox 21"/>
          <p:cNvSpPr txBox="1"/>
          <p:nvPr/>
        </p:nvSpPr>
        <p:spPr>
          <a:xfrm>
            <a:off x="9098280" y="3346704"/>
            <a:ext cx="914400" cy="228600"/>
          </a:xfrm>
          <a:prstGeom prst="rect">
            <a:avLst/>
          </a:prstGeom>
          <a:noFill/>
        </p:spPr>
        <p:txBody>
          <a:bodyPr wrap="square" lIns="13716" rIns="13716" tIns="0" bIns="0">
            <a:spAutoFit/>
          </a:bodyPr>
          <a:lstStyle/>
          <a:p>
            <a:pPr>
              <a:spcAft>
                <a:spcPts val="500"/>
              </a:spcAft>
              <a:defRPr sz="1100" b="1">
                <a:solidFill>
                  <a:srgbClr val="35DFC3"/>
                </a:solidFill>
                <a:latin typeface="Aptos"/>
              </a:defRPr>
            </a:pPr>
            <a:r>
              <a:t>INT8</a:t>
            </a:r>
          </a:p>
        </p:txBody>
      </p:sp>
      <p:sp>
        <p:nvSpPr>
          <p:cNvPr id="23" name="TextBox 22"/>
          <p:cNvSpPr txBox="1"/>
          <p:nvPr/>
        </p:nvSpPr>
        <p:spPr>
          <a:xfrm>
            <a:off x="10149840" y="3346704"/>
            <a:ext cx="914400" cy="228600"/>
          </a:xfrm>
          <a:prstGeom prst="rect">
            <a:avLst/>
          </a:prstGeom>
          <a:noFill/>
        </p:spPr>
        <p:txBody>
          <a:bodyPr wrap="square" lIns="13716" rIns="13716" tIns="0" bIns="0">
            <a:spAutoFit/>
          </a:bodyPr>
          <a:lstStyle/>
          <a:p>
            <a:pPr>
              <a:spcAft>
                <a:spcPts val="500"/>
              </a:spcAft>
              <a:defRPr sz="1100" b="1">
                <a:solidFill>
                  <a:srgbClr val="6BA6FF"/>
                </a:solidFill>
                <a:latin typeface="Aptos"/>
              </a:defRPr>
            </a:pPr>
            <a:r>
              <a:t>INT16</a:t>
            </a:r>
          </a:p>
        </p:txBody>
      </p:sp>
      <p:sp>
        <p:nvSpPr>
          <p:cNvPr id="24" name="TextBox 23"/>
          <p:cNvSpPr txBox="1"/>
          <p:nvPr/>
        </p:nvSpPr>
        <p:spPr>
          <a:xfrm>
            <a:off x="548640" y="3803904"/>
            <a:ext cx="1417320" cy="237744"/>
          </a:xfrm>
          <a:prstGeom prst="rect">
            <a:avLst/>
          </a:prstGeom>
          <a:noFill/>
        </p:spPr>
        <p:txBody>
          <a:bodyPr wrap="square" lIns="13716" rIns="13716" tIns="0" bIns="0">
            <a:spAutoFit/>
          </a:bodyPr>
          <a:lstStyle/>
          <a:p>
            <a:pPr>
              <a:spcAft>
                <a:spcPts val="500"/>
              </a:spcAft>
              <a:defRPr sz="1400" b="1">
                <a:solidFill>
                  <a:srgbClr val="15233B"/>
                </a:solidFill>
                <a:latin typeface="Aptos"/>
              </a:defRPr>
            </a:pPr>
            <a:r>
              <a:t>LUTs</a:t>
            </a:r>
          </a:p>
        </p:txBody>
      </p:sp>
      <p:sp>
        <p:nvSpPr>
          <p:cNvPr id="25" name="Rectangle 24"/>
          <p:cNvSpPr/>
          <p:nvPr/>
        </p:nvSpPr>
        <p:spPr>
          <a:xfrm>
            <a:off x="2057400" y="3817620"/>
            <a:ext cx="6601968" cy="100584"/>
          </a:xfrm>
          <a:prstGeom prst="rect">
            <a:avLst/>
          </a:prstGeom>
          <a:solidFill>
            <a:srgbClr val="DCE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057400" y="3817620"/>
            <a:ext cx="2560903" cy="100584"/>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057400" y="3959352"/>
            <a:ext cx="6601968" cy="100584"/>
          </a:xfrm>
          <a:prstGeom prst="rect">
            <a:avLst/>
          </a:prstGeom>
          <a:solidFill>
            <a:srgbClr val="DCE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057400" y="3959352"/>
            <a:ext cx="3796131" cy="100584"/>
          </a:xfrm>
          <a:prstGeom prst="rect">
            <a:avLst/>
          </a:prstGeom>
          <a:solidFill>
            <a:srgbClr val="6B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98280" y="3803904"/>
            <a:ext cx="914400" cy="274320"/>
          </a:xfrm>
          <a:prstGeom prst="rect">
            <a:avLst/>
          </a:prstGeom>
          <a:noFill/>
        </p:spPr>
        <p:txBody>
          <a:bodyPr wrap="square" lIns="13716" rIns="13716" tIns="0" bIns="0">
            <a:spAutoFit/>
          </a:bodyPr>
          <a:lstStyle/>
          <a:p>
            <a:pPr>
              <a:spcAft>
                <a:spcPts val="500"/>
              </a:spcAft>
              <a:defRPr sz="1400" b="0">
                <a:solidFill>
                  <a:srgbClr val="15233B"/>
                </a:solidFill>
                <a:latin typeface="Aptos"/>
              </a:defRPr>
            </a:pPr>
            <a:r>
              <a:t>38.8%</a:t>
            </a:r>
          </a:p>
        </p:txBody>
      </p:sp>
      <p:sp>
        <p:nvSpPr>
          <p:cNvPr id="30" name="TextBox 29"/>
          <p:cNvSpPr txBox="1"/>
          <p:nvPr/>
        </p:nvSpPr>
        <p:spPr>
          <a:xfrm>
            <a:off x="10149840" y="3803904"/>
            <a:ext cx="914400" cy="274320"/>
          </a:xfrm>
          <a:prstGeom prst="rect">
            <a:avLst/>
          </a:prstGeom>
          <a:noFill/>
        </p:spPr>
        <p:txBody>
          <a:bodyPr wrap="square" lIns="13716" rIns="13716" tIns="0" bIns="0">
            <a:spAutoFit/>
          </a:bodyPr>
          <a:lstStyle/>
          <a:p>
            <a:pPr>
              <a:spcAft>
                <a:spcPts val="500"/>
              </a:spcAft>
              <a:defRPr sz="1400" b="0">
                <a:solidFill>
                  <a:srgbClr val="15233B"/>
                </a:solidFill>
                <a:latin typeface="Aptos"/>
              </a:defRPr>
            </a:pPr>
            <a:r>
              <a:t>57.5%</a:t>
            </a:r>
          </a:p>
        </p:txBody>
      </p:sp>
      <p:sp>
        <p:nvSpPr>
          <p:cNvPr id="31" name="TextBox 30"/>
          <p:cNvSpPr txBox="1"/>
          <p:nvPr/>
        </p:nvSpPr>
        <p:spPr>
          <a:xfrm>
            <a:off x="548640" y="4197096"/>
            <a:ext cx="1417320" cy="237744"/>
          </a:xfrm>
          <a:prstGeom prst="rect">
            <a:avLst/>
          </a:prstGeom>
          <a:noFill/>
        </p:spPr>
        <p:txBody>
          <a:bodyPr wrap="square" lIns="13716" rIns="13716" tIns="0" bIns="0">
            <a:spAutoFit/>
          </a:bodyPr>
          <a:lstStyle/>
          <a:p>
            <a:pPr>
              <a:spcAft>
                <a:spcPts val="500"/>
              </a:spcAft>
              <a:defRPr sz="1400" b="1">
                <a:solidFill>
                  <a:srgbClr val="15233B"/>
                </a:solidFill>
                <a:latin typeface="Aptos"/>
              </a:defRPr>
            </a:pPr>
            <a:r>
              <a:t>Flip-flops</a:t>
            </a:r>
          </a:p>
        </p:txBody>
      </p:sp>
      <p:sp>
        <p:nvSpPr>
          <p:cNvPr id="32" name="Rectangle 31"/>
          <p:cNvSpPr/>
          <p:nvPr/>
        </p:nvSpPr>
        <p:spPr>
          <a:xfrm>
            <a:off x="2057400" y="4210812"/>
            <a:ext cx="6601968" cy="100584"/>
          </a:xfrm>
          <a:prstGeom prst="rect">
            <a:avLst/>
          </a:prstGeom>
          <a:solidFill>
            <a:srgbClr val="DCE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057400" y="4210812"/>
            <a:ext cx="815343" cy="100584"/>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057400" y="4352544"/>
            <a:ext cx="6601968" cy="100584"/>
          </a:xfrm>
          <a:prstGeom prst="rect">
            <a:avLst/>
          </a:prstGeom>
          <a:solidFill>
            <a:srgbClr val="DCE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057400" y="4352544"/>
            <a:ext cx="1270218" cy="100584"/>
          </a:xfrm>
          <a:prstGeom prst="rect">
            <a:avLst/>
          </a:prstGeom>
          <a:solidFill>
            <a:srgbClr val="6B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98280" y="4197096"/>
            <a:ext cx="914400" cy="274320"/>
          </a:xfrm>
          <a:prstGeom prst="rect">
            <a:avLst/>
          </a:prstGeom>
          <a:noFill/>
        </p:spPr>
        <p:txBody>
          <a:bodyPr wrap="square" lIns="13716" rIns="13716" tIns="0" bIns="0">
            <a:spAutoFit/>
          </a:bodyPr>
          <a:lstStyle/>
          <a:p>
            <a:pPr>
              <a:spcAft>
                <a:spcPts val="500"/>
              </a:spcAft>
              <a:defRPr sz="1400" b="0">
                <a:solidFill>
                  <a:srgbClr val="15233B"/>
                </a:solidFill>
                <a:latin typeface="Aptos"/>
              </a:defRPr>
            </a:pPr>
            <a:r>
              <a:t>12.3%</a:t>
            </a:r>
          </a:p>
        </p:txBody>
      </p:sp>
      <p:sp>
        <p:nvSpPr>
          <p:cNvPr id="37" name="TextBox 36"/>
          <p:cNvSpPr txBox="1"/>
          <p:nvPr/>
        </p:nvSpPr>
        <p:spPr>
          <a:xfrm>
            <a:off x="10149840" y="4197096"/>
            <a:ext cx="914400" cy="274320"/>
          </a:xfrm>
          <a:prstGeom prst="rect">
            <a:avLst/>
          </a:prstGeom>
          <a:noFill/>
        </p:spPr>
        <p:txBody>
          <a:bodyPr wrap="square" lIns="13716" rIns="13716" tIns="0" bIns="0">
            <a:spAutoFit/>
          </a:bodyPr>
          <a:lstStyle/>
          <a:p>
            <a:pPr>
              <a:spcAft>
                <a:spcPts val="500"/>
              </a:spcAft>
              <a:defRPr sz="1400" b="0">
                <a:solidFill>
                  <a:srgbClr val="15233B"/>
                </a:solidFill>
                <a:latin typeface="Aptos"/>
              </a:defRPr>
            </a:pPr>
            <a:r>
              <a:t>19.2%</a:t>
            </a:r>
          </a:p>
        </p:txBody>
      </p:sp>
      <p:sp>
        <p:nvSpPr>
          <p:cNvPr id="38" name="TextBox 37"/>
          <p:cNvSpPr txBox="1"/>
          <p:nvPr/>
        </p:nvSpPr>
        <p:spPr>
          <a:xfrm>
            <a:off x="548640" y="4590288"/>
            <a:ext cx="1417320" cy="237744"/>
          </a:xfrm>
          <a:prstGeom prst="rect">
            <a:avLst/>
          </a:prstGeom>
          <a:noFill/>
        </p:spPr>
        <p:txBody>
          <a:bodyPr wrap="square" lIns="13716" rIns="13716" tIns="0" bIns="0">
            <a:spAutoFit/>
          </a:bodyPr>
          <a:lstStyle/>
          <a:p>
            <a:pPr>
              <a:spcAft>
                <a:spcPts val="500"/>
              </a:spcAft>
              <a:defRPr sz="1400" b="1">
                <a:solidFill>
                  <a:srgbClr val="15233B"/>
                </a:solidFill>
                <a:latin typeface="Aptos"/>
              </a:defRPr>
            </a:pPr>
            <a:r>
              <a:t>DSPs</a:t>
            </a:r>
          </a:p>
        </p:txBody>
      </p:sp>
      <p:sp>
        <p:nvSpPr>
          <p:cNvPr id="39" name="Rectangle 38"/>
          <p:cNvSpPr/>
          <p:nvPr/>
        </p:nvSpPr>
        <p:spPr>
          <a:xfrm>
            <a:off x="2057400" y="4604004"/>
            <a:ext cx="6601968" cy="100584"/>
          </a:xfrm>
          <a:prstGeom prst="rect">
            <a:avLst/>
          </a:prstGeom>
          <a:solidFill>
            <a:srgbClr val="DCE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057400" y="4604004"/>
            <a:ext cx="1979270" cy="100584"/>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057400" y="4745736"/>
            <a:ext cx="6601968" cy="100584"/>
          </a:xfrm>
          <a:prstGeom prst="rect">
            <a:avLst/>
          </a:prstGeom>
          <a:solidFill>
            <a:srgbClr val="DCE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057400" y="4745736"/>
            <a:ext cx="1975308" cy="100584"/>
          </a:xfrm>
          <a:prstGeom prst="rect">
            <a:avLst/>
          </a:prstGeom>
          <a:solidFill>
            <a:srgbClr val="6B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098280" y="4590288"/>
            <a:ext cx="914400" cy="274320"/>
          </a:xfrm>
          <a:prstGeom prst="rect">
            <a:avLst/>
          </a:prstGeom>
          <a:noFill/>
        </p:spPr>
        <p:txBody>
          <a:bodyPr wrap="square" lIns="13716" rIns="13716" tIns="0" bIns="0">
            <a:spAutoFit/>
          </a:bodyPr>
          <a:lstStyle/>
          <a:p>
            <a:pPr>
              <a:spcAft>
                <a:spcPts val="500"/>
              </a:spcAft>
              <a:defRPr sz="1400" b="0">
                <a:solidFill>
                  <a:srgbClr val="15233B"/>
                </a:solidFill>
                <a:latin typeface="Aptos"/>
              </a:defRPr>
            </a:pPr>
            <a:r>
              <a:t>30.0%</a:t>
            </a:r>
          </a:p>
        </p:txBody>
      </p:sp>
      <p:sp>
        <p:nvSpPr>
          <p:cNvPr id="44" name="TextBox 43"/>
          <p:cNvSpPr txBox="1"/>
          <p:nvPr/>
        </p:nvSpPr>
        <p:spPr>
          <a:xfrm>
            <a:off x="10149840" y="4590288"/>
            <a:ext cx="914400" cy="274320"/>
          </a:xfrm>
          <a:prstGeom prst="rect">
            <a:avLst/>
          </a:prstGeom>
          <a:noFill/>
        </p:spPr>
        <p:txBody>
          <a:bodyPr wrap="square" lIns="13716" rIns="13716" tIns="0" bIns="0">
            <a:spAutoFit/>
          </a:bodyPr>
          <a:lstStyle/>
          <a:p>
            <a:pPr>
              <a:spcAft>
                <a:spcPts val="500"/>
              </a:spcAft>
              <a:defRPr sz="1400" b="0">
                <a:solidFill>
                  <a:srgbClr val="15233B"/>
                </a:solidFill>
                <a:latin typeface="Aptos"/>
              </a:defRPr>
            </a:pPr>
            <a:r>
              <a:t>29.9%</a:t>
            </a:r>
          </a:p>
        </p:txBody>
      </p:sp>
      <p:sp>
        <p:nvSpPr>
          <p:cNvPr id="45" name="TextBox 44"/>
          <p:cNvSpPr txBox="1"/>
          <p:nvPr/>
        </p:nvSpPr>
        <p:spPr>
          <a:xfrm>
            <a:off x="548640" y="4983480"/>
            <a:ext cx="1417320" cy="237744"/>
          </a:xfrm>
          <a:prstGeom prst="rect">
            <a:avLst/>
          </a:prstGeom>
          <a:noFill/>
        </p:spPr>
        <p:txBody>
          <a:bodyPr wrap="square" lIns="13716" rIns="13716" tIns="0" bIns="0">
            <a:spAutoFit/>
          </a:bodyPr>
          <a:lstStyle/>
          <a:p>
            <a:pPr>
              <a:spcAft>
                <a:spcPts val="500"/>
              </a:spcAft>
              <a:defRPr sz="1400" b="1">
                <a:solidFill>
                  <a:srgbClr val="15233B"/>
                </a:solidFill>
                <a:latin typeface="Aptos"/>
              </a:defRPr>
            </a:pPr>
            <a:r>
              <a:t>UltraRAM</a:t>
            </a:r>
          </a:p>
        </p:txBody>
      </p:sp>
      <p:sp>
        <p:nvSpPr>
          <p:cNvPr id="46" name="Rectangle 45"/>
          <p:cNvSpPr/>
          <p:nvPr/>
        </p:nvSpPr>
        <p:spPr>
          <a:xfrm>
            <a:off x="2057400" y="4997196"/>
            <a:ext cx="6601968" cy="100584"/>
          </a:xfrm>
          <a:prstGeom prst="rect">
            <a:avLst/>
          </a:prstGeom>
          <a:solidFill>
            <a:srgbClr val="DCE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057400" y="4997196"/>
            <a:ext cx="6601968" cy="100584"/>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057400" y="5138928"/>
            <a:ext cx="6601968" cy="100584"/>
          </a:xfrm>
          <a:prstGeom prst="rect">
            <a:avLst/>
          </a:prstGeom>
          <a:solidFill>
            <a:srgbClr val="DCE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057400" y="5138928"/>
            <a:ext cx="4401532" cy="100584"/>
          </a:xfrm>
          <a:prstGeom prst="rect">
            <a:avLst/>
          </a:prstGeom>
          <a:solidFill>
            <a:srgbClr val="6B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098280" y="4983480"/>
            <a:ext cx="914400" cy="274320"/>
          </a:xfrm>
          <a:prstGeom prst="rect">
            <a:avLst/>
          </a:prstGeom>
          <a:noFill/>
        </p:spPr>
        <p:txBody>
          <a:bodyPr wrap="square" lIns="13716" rIns="13716" tIns="0" bIns="0">
            <a:spAutoFit/>
          </a:bodyPr>
          <a:lstStyle/>
          <a:p>
            <a:pPr>
              <a:spcAft>
                <a:spcPts val="500"/>
              </a:spcAft>
              <a:defRPr sz="1400" b="0">
                <a:solidFill>
                  <a:srgbClr val="15233B"/>
                </a:solidFill>
                <a:latin typeface="Aptos"/>
              </a:defRPr>
            </a:pPr>
            <a:r>
              <a:t>100.0%</a:t>
            </a:r>
          </a:p>
        </p:txBody>
      </p:sp>
      <p:sp>
        <p:nvSpPr>
          <p:cNvPr id="51" name="TextBox 50"/>
          <p:cNvSpPr txBox="1"/>
          <p:nvPr/>
        </p:nvSpPr>
        <p:spPr>
          <a:xfrm>
            <a:off x="10149840" y="4983480"/>
            <a:ext cx="914400" cy="274320"/>
          </a:xfrm>
          <a:prstGeom prst="rect">
            <a:avLst/>
          </a:prstGeom>
          <a:noFill/>
        </p:spPr>
        <p:txBody>
          <a:bodyPr wrap="square" lIns="13716" rIns="13716" tIns="0" bIns="0">
            <a:spAutoFit/>
          </a:bodyPr>
          <a:lstStyle/>
          <a:p>
            <a:pPr>
              <a:spcAft>
                <a:spcPts val="500"/>
              </a:spcAft>
              <a:defRPr sz="1400" b="0">
                <a:solidFill>
                  <a:srgbClr val="15233B"/>
                </a:solidFill>
                <a:latin typeface="Aptos"/>
              </a:defRPr>
            </a:pPr>
            <a:r>
              <a:t>66.7%</a:t>
            </a:r>
          </a:p>
        </p:txBody>
      </p:sp>
      <p:sp>
        <p:nvSpPr>
          <p:cNvPr id="52" name="TextBox 51"/>
          <p:cNvSpPr txBox="1"/>
          <p:nvPr/>
        </p:nvSpPr>
        <p:spPr>
          <a:xfrm>
            <a:off x="548640" y="5376672"/>
            <a:ext cx="1417320" cy="237744"/>
          </a:xfrm>
          <a:prstGeom prst="rect">
            <a:avLst/>
          </a:prstGeom>
          <a:noFill/>
        </p:spPr>
        <p:txBody>
          <a:bodyPr wrap="square" lIns="13716" rIns="13716" tIns="0" bIns="0">
            <a:spAutoFit/>
          </a:bodyPr>
          <a:lstStyle/>
          <a:p>
            <a:pPr>
              <a:spcAft>
                <a:spcPts val="500"/>
              </a:spcAft>
              <a:defRPr sz="1400" b="1">
                <a:solidFill>
                  <a:srgbClr val="15233B"/>
                </a:solidFill>
                <a:latin typeface="Aptos"/>
              </a:defRPr>
            </a:pPr>
            <a:r>
              <a:t>Block RAM</a:t>
            </a:r>
          </a:p>
        </p:txBody>
      </p:sp>
      <p:sp>
        <p:nvSpPr>
          <p:cNvPr id="53" name="Rectangle 52"/>
          <p:cNvSpPr/>
          <p:nvPr/>
        </p:nvSpPr>
        <p:spPr>
          <a:xfrm>
            <a:off x="2057400" y="5390388"/>
            <a:ext cx="6601968" cy="100584"/>
          </a:xfrm>
          <a:prstGeom prst="rect">
            <a:avLst/>
          </a:prstGeom>
          <a:solidFill>
            <a:srgbClr val="DCE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057400" y="5390388"/>
            <a:ext cx="4570542" cy="100584"/>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057400" y="5532120"/>
            <a:ext cx="6601968" cy="100584"/>
          </a:xfrm>
          <a:prstGeom prst="rect">
            <a:avLst/>
          </a:prstGeom>
          <a:solidFill>
            <a:srgbClr val="DCE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98280" y="5376672"/>
            <a:ext cx="914400" cy="274320"/>
          </a:xfrm>
          <a:prstGeom prst="rect">
            <a:avLst/>
          </a:prstGeom>
          <a:noFill/>
        </p:spPr>
        <p:txBody>
          <a:bodyPr wrap="square" lIns="13716" rIns="13716" tIns="0" bIns="0">
            <a:spAutoFit/>
          </a:bodyPr>
          <a:lstStyle/>
          <a:p>
            <a:pPr>
              <a:spcAft>
                <a:spcPts val="500"/>
              </a:spcAft>
              <a:defRPr sz="1400" b="0">
                <a:solidFill>
                  <a:srgbClr val="15233B"/>
                </a:solidFill>
                <a:latin typeface="Aptos"/>
              </a:defRPr>
            </a:pPr>
            <a:r>
              <a:t>69.2%</a:t>
            </a:r>
          </a:p>
        </p:txBody>
      </p:sp>
      <p:sp>
        <p:nvSpPr>
          <p:cNvPr id="57" name="TextBox 56"/>
          <p:cNvSpPr txBox="1"/>
          <p:nvPr/>
        </p:nvSpPr>
        <p:spPr>
          <a:xfrm>
            <a:off x="10149840" y="5376672"/>
            <a:ext cx="914400" cy="274320"/>
          </a:xfrm>
          <a:prstGeom prst="rect">
            <a:avLst/>
          </a:prstGeom>
          <a:noFill/>
        </p:spPr>
        <p:txBody>
          <a:bodyPr wrap="square" lIns="13716" rIns="13716" tIns="0" bIns="0">
            <a:spAutoFit/>
          </a:bodyPr>
          <a:lstStyle/>
          <a:p>
            <a:pPr>
              <a:spcAft>
                <a:spcPts val="500"/>
              </a:spcAft>
              <a:defRPr sz="1400" b="0">
                <a:solidFill>
                  <a:srgbClr val="15233B"/>
                </a:solidFill>
                <a:latin typeface="Aptos"/>
              </a:defRPr>
            </a:pPr>
            <a:r>
              <a:t>0.0%</a:t>
            </a:r>
          </a:p>
        </p:txBody>
      </p:sp>
      <p:sp>
        <p:nvSpPr>
          <p:cNvPr id="58" name="TextBox 57"/>
          <p:cNvSpPr txBox="1"/>
          <p:nvPr/>
        </p:nvSpPr>
        <p:spPr>
          <a:xfrm>
            <a:off x="548640" y="6007608"/>
            <a:ext cx="11064240" cy="292608"/>
          </a:xfrm>
          <a:prstGeom prst="rect">
            <a:avLst/>
          </a:prstGeom>
          <a:noFill/>
        </p:spPr>
        <p:txBody>
          <a:bodyPr wrap="square" lIns="13716" rIns="13716" tIns="0" bIns="0">
            <a:spAutoFit/>
          </a:bodyPr>
          <a:lstStyle/>
          <a:p>
            <a:pPr>
              <a:spcAft>
                <a:spcPts val="500"/>
              </a:spcAft>
              <a:defRPr sz="1300" b="0">
                <a:solidFill>
                  <a:srgbClr val="586980"/>
                </a:solidFill>
                <a:latin typeface="Aptos"/>
              </a:defRPr>
            </a:pPr>
            <a:r>
              <a:t>INT8 uses all 96 UltraRAM blocks. INT16 configuration requests 70 MHz; the saved report lists 68.176 MHz.</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6FA"/>
        </a:solidFill>
        <a:effectLst/>
      </p:bgPr>
    </p:bg>
    <p:spTree>
      <p:nvGrpSpPr>
        <p:cNvPr id="1" name=""/>
        <p:cNvGrpSpPr/>
        <p:nvPr/>
      </p:nvGrpSpPr>
      <p:grpSpPr/>
      <p:sp>
        <p:nvSpPr>
          <p:cNvPr id="2" name="TextBox 1"/>
          <p:cNvSpPr txBox="1"/>
          <p:nvPr/>
        </p:nvSpPr>
        <p:spPr>
          <a:xfrm>
            <a:off x="502920" y="274320"/>
            <a:ext cx="9144000" cy="210312"/>
          </a:xfrm>
          <a:prstGeom prst="rect">
            <a:avLst/>
          </a:prstGeom>
          <a:noFill/>
        </p:spPr>
        <p:txBody>
          <a:bodyPr wrap="square" lIns="13716" rIns="13716" tIns="0" bIns="0">
            <a:spAutoFit/>
          </a:bodyPr>
          <a:lstStyle/>
          <a:p>
            <a:pPr>
              <a:spcAft>
                <a:spcPts val="500"/>
              </a:spcAft>
              <a:defRPr sz="1000" b="1">
                <a:solidFill>
                  <a:srgbClr val="586980"/>
                </a:solidFill>
                <a:latin typeface="Aptos"/>
              </a:defRPr>
            </a:pPr>
            <a:r>
              <a:t>RECORDED RESULTS</a:t>
            </a:r>
          </a:p>
        </p:txBody>
      </p:sp>
      <p:sp>
        <p:nvSpPr>
          <p:cNvPr id="3" name="TextBox 2"/>
          <p:cNvSpPr txBox="1"/>
          <p:nvPr/>
        </p:nvSpPr>
        <p:spPr>
          <a:xfrm>
            <a:off x="502920" y="713232"/>
            <a:ext cx="11155680" cy="640080"/>
          </a:xfrm>
          <a:prstGeom prst="rect">
            <a:avLst/>
          </a:prstGeom>
          <a:noFill/>
        </p:spPr>
        <p:txBody>
          <a:bodyPr wrap="square" lIns="13716" rIns="13716" tIns="0" bIns="0">
            <a:spAutoFit/>
          </a:bodyPr>
          <a:lstStyle/>
          <a:p>
            <a:pPr>
              <a:spcAft>
                <a:spcPts val="500"/>
              </a:spcAft>
              <a:defRPr sz="3000" b="1">
                <a:solidFill>
                  <a:srgbClr val="15233B"/>
                </a:solidFill>
                <a:latin typeface="Aptos Display"/>
              </a:defRPr>
            </a:pPr>
            <a:r>
              <a:t>Recorded simulation results: three completed runs</a:t>
            </a:r>
          </a:p>
        </p:txBody>
      </p:sp>
      <p:sp>
        <p:nvSpPr>
          <p:cNvPr id="4" name="TextBox 3"/>
          <p:cNvSpPr txBox="1"/>
          <p:nvPr/>
        </p:nvSpPr>
        <p:spPr>
          <a:xfrm>
            <a:off x="512064" y="1426464"/>
            <a:ext cx="11109960" cy="502920"/>
          </a:xfrm>
          <a:prstGeom prst="rect">
            <a:avLst/>
          </a:prstGeom>
          <a:noFill/>
        </p:spPr>
        <p:txBody>
          <a:bodyPr wrap="square" lIns="13716" rIns="13716" tIns="0" bIns="0">
            <a:spAutoFit/>
          </a:bodyPr>
          <a:lstStyle/>
          <a:p>
            <a:pPr>
              <a:spcAft>
                <a:spcPts val="500"/>
              </a:spcAft>
              <a:defRPr sz="1400" b="0">
                <a:solidFill>
                  <a:srgbClr val="586980"/>
                </a:solidFill>
                <a:latin typeface="Aptos"/>
              </a:defRPr>
            </a:pPr>
            <a:r>
              <a:t>Saved INT8 logs show functional completion; elapsed hardware time below is calculated from cycles at 75 MHz.</a:t>
            </a:r>
          </a:p>
        </p:txBody>
      </p:sp>
      <p:sp>
        <p:nvSpPr>
          <p:cNvPr id="5" name="Rectangle 4"/>
          <p:cNvSpPr/>
          <p:nvPr/>
        </p:nvSpPr>
        <p:spPr>
          <a:xfrm>
            <a:off x="502920" y="6455664"/>
            <a:ext cx="11183112" cy="10972"/>
          </a:xfrm>
          <a:prstGeom prst="rect">
            <a:avLst/>
          </a:prstGeom>
          <a:solidFill>
            <a:srgbClr val="DCE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3657600" cy="155448"/>
          </a:xfrm>
          <a:prstGeom prst="rect">
            <a:avLst/>
          </a:prstGeom>
          <a:noFill/>
        </p:spPr>
        <p:txBody>
          <a:bodyPr wrap="square" lIns="13716" rIns="13716" tIns="0" bIns="0">
            <a:spAutoFit/>
          </a:bodyPr>
          <a:lstStyle/>
          <a:p>
            <a:pPr>
              <a:spcAft>
                <a:spcPts val="500"/>
              </a:spcAft>
              <a:defRPr sz="800" b="1">
                <a:solidFill>
                  <a:srgbClr val="586980"/>
                </a:solidFill>
                <a:latin typeface="Aptos"/>
              </a:defRPr>
            </a:pPr>
            <a:r>
              <a:t>UNIFIED C-ENGINE  /  ZCU106</a:t>
            </a:r>
          </a:p>
        </p:txBody>
      </p:sp>
      <p:sp>
        <p:nvSpPr>
          <p:cNvPr id="7" name="TextBox 6"/>
          <p:cNvSpPr txBox="1"/>
          <p:nvPr/>
        </p:nvSpPr>
        <p:spPr>
          <a:xfrm>
            <a:off x="3657600" y="6556248"/>
            <a:ext cx="6949440" cy="182880"/>
          </a:xfrm>
          <a:prstGeom prst="rect">
            <a:avLst/>
          </a:prstGeom>
          <a:noFill/>
        </p:spPr>
        <p:txBody>
          <a:bodyPr wrap="square" lIns="13716" rIns="13716" tIns="0" bIns="0">
            <a:spAutoFit/>
          </a:bodyPr>
          <a:lstStyle/>
          <a:p>
            <a:pPr algn="r">
              <a:spcAft>
                <a:spcPts val="500"/>
              </a:spcAft>
              <a:defRPr sz="800" b="0">
                <a:solidFill>
                  <a:srgbClr val="586980"/>
                </a:solidFill>
                <a:latin typeface="Aptos"/>
              </a:defRPr>
            </a:pPr>
            <a:r>
              <a:t>sim/logs/{mnist,mobilenetv2,efficientnetb0,resnet50}_8bit.log</a:t>
            </a:r>
          </a:p>
        </p:txBody>
      </p:sp>
      <p:sp>
        <p:nvSpPr>
          <p:cNvPr id="8" name="TextBox 7"/>
          <p:cNvSpPr txBox="1"/>
          <p:nvPr/>
        </p:nvSpPr>
        <p:spPr>
          <a:xfrm>
            <a:off x="10927080" y="6547104"/>
            <a:ext cx="731520" cy="201168"/>
          </a:xfrm>
          <a:prstGeom prst="rect">
            <a:avLst/>
          </a:prstGeom>
          <a:noFill/>
        </p:spPr>
        <p:txBody>
          <a:bodyPr wrap="square" lIns="13716" rIns="13716" tIns="0" bIns="0">
            <a:spAutoFit/>
          </a:bodyPr>
          <a:lstStyle/>
          <a:p>
            <a:pPr algn="r">
              <a:spcAft>
                <a:spcPts val="500"/>
              </a:spcAft>
              <a:defRPr sz="900" b="0">
                <a:solidFill>
                  <a:srgbClr val="586980"/>
                </a:solidFill>
                <a:latin typeface="Aptos"/>
              </a:defRPr>
            </a:pPr>
            <a:r>
              <a:t>11 / 17</a:t>
            </a:r>
          </a:p>
        </p:txBody>
      </p:sp>
      <p:sp>
        <p:nvSpPr>
          <p:cNvPr id="9" name="Rectangle 8"/>
          <p:cNvSpPr/>
          <p:nvPr/>
        </p:nvSpPr>
        <p:spPr>
          <a:xfrm>
            <a:off x="502920" y="2048256"/>
            <a:ext cx="11173968" cy="438912"/>
          </a:xfrm>
          <a:prstGeom prst="rect">
            <a:avLst/>
          </a:prstGeom>
          <a:solidFill>
            <a:srgbClr val="1421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2148840"/>
            <a:ext cx="3538727" cy="219456"/>
          </a:xfrm>
          <a:prstGeom prst="rect">
            <a:avLst/>
          </a:prstGeom>
          <a:noFill/>
        </p:spPr>
        <p:txBody>
          <a:bodyPr wrap="square" lIns="13716" rIns="13716" tIns="0" bIns="0">
            <a:spAutoFit/>
          </a:bodyPr>
          <a:lstStyle/>
          <a:p>
            <a:pPr>
              <a:spcAft>
                <a:spcPts val="500"/>
              </a:spcAft>
              <a:defRPr sz="1100" b="1">
                <a:solidFill>
                  <a:srgbClr val="FFFFFF"/>
                </a:solidFill>
                <a:latin typeface="Aptos"/>
              </a:defRPr>
            </a:pPr>
            <a:r>
              <a:t>MODEL / RECORDED PATH</a:t>
            </a:r>
          </a:p>
        </p:txBody>
      </p:sp>
      <p:sp>
        <p:nvSpPr>
          <p:cNvPr id="11" name="TextBox 10"/>
          <p:cNvSpPr txBox="1"/>
          <p:nvPr/>
        </p:nvSpPr>
        <p:spPr>
          <a:xfrm>
            <a:off x="4370831" y="2148840"/>
            <a:ext cx="1655064" cy="219456"/>
          </a:xfrm>
          <a:prstGeom prst="rect">
            <a:avLst/>
          </a:prstGeom>
          <a:noFill/>
        </p:spPr>
        <p:txBody>
          <a:bodyPr wrap="square" lIns="13716" rIns="13716" tIns="0" bIns="0">
            <a:spAutoFit/>
          </a:bodyPr>
          <a:lstStyle/>
          <a:p>
            <a:pPr>
              <a:spcAft>
                <a:spcPts val="500"/>
              </a:spcAft>
              <a:defRPr sz="1100" b="1">
                <a:solidFill>
                  <a:srgbClr val="FFFFFF"/>
                </a:solidFill>
                <a:latin typeface="Aptos"/>
              </a:defRPr>
            </a:pPr>
            <a:r>
              <a:t>CYCLES</a:t>
            </a:r>
          </a:p>
        </p:txBody>
      </p:sp>
      <p:sp>
        <p:nvSpPr>
          <p:cNvPr id="12" name="TextBox 11"/>
          <p:cNvSpPr txBox="1"/>
          <p:nvPr/>
        </p:nvSpPr>
        <p:spPr>
          <a:xfrm>
            <a:off x="6236207" y="2148840"/>
            <a:ext cx="1618488" cy="219456"/>
          </a:xfrm>
          <a:prstGeom prst="rect">
            <a:avLst/>
          </a:prstGeom>
          <a:noFill/>
        </p:spPr>
        <p:txBody>
          <a:bodyPr wrap="square" lIns="13716" rIns="13716" tIns="0" bIns="0">
            <a:spAutoFit/>
          </a:bodyPr>
          <a:lstStyle/>
          <a:p>
            <a:pPr>
              <a:spcAft>
                <a:spcPts val="500"/>
              </a:spcAft>
              <a:defRPr sz="1100" b="1">
                <a:solidFill>
                  <a:srgbClr val="FFFFFF"/>
                </a:solidFill>
                <a:latin typeface="Aptos"/>
              </a:defRPr>
            </a:pPr>
            <a:r>
              <a:t>TIME AT 75 MHz</a:t>
            </a:r>
          </a:p>
        </p:txBody>
      </p:sp>
      <p:sp>
        <p:nvSpPr>
          <p:cNvPr id="13" name="TextBox 12"/>
          <p:cNvSpPr txBox="1"/>
          <p:nvPr/>
        </p:nvSpPr>
        <p:spPr>
          <a:xfrm>
            <a:off x="8065008" y="2148840"/>
            <a:ext cx="3520440" cy="219456"/>
          </a:xfrm>
          <a:prstGeom prst="rect">
            <a:avLst/>
          </a:prstGeom>
          <a:noFill/>
        </p:spPr>
        <p:txBody>
          <a:bodyPr wrap="square" lIns="13716" rIns="13716" tIns="0" bIns="0">
            <a:spAutoFit/>
          </a:bodyPr>
          <a:lstStyle/>
          <a:p>
            <a:pPr>
              <a:spcAft>
                <a:spcPts val="500"/>
              </a:spcAft>
              <a:defRPr sz="1100" b="1">
                <a:solidFill>
                  <a:srgbClr val="FFFFFF"/>
                </a:solidFill>
                <a:latin typeface="Aptos"/>
              </a:defRPr>
            </a:pPr>
            <a:r>
              <a:t>RECORDED OUTCOME</a:t>
            </a:r>
          </a:p>
        </p:txBody>
      </p:sp>
      <p:sp>
        <p:nvSpPr>
          <p:cNvPr id="14" name="Rectangle 13"/>
          <p:cNvSpPr/>
          <p:nvPr/>
        </p:nvSpPr>
        <p:spPr>
          <a:xfrm>
            <a:off x="502920" y="2487168"/>
            <a:ext cx="11173968" cy="6035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2633472"/>
            <a:ext cx="3547871" cy="365760"/>
          </a:xfrm>
          <a:prstGeom prst="rect">
            <a:avLst/>
          </a:prstGeom>
          <a:noFill/>
        </p:spPr>
        <p:txBody>
          <a:bodyPr wrap="square" lIns="13716" rIns="13716" tIns="0" bIns="0">
            <a:spAutoFit/>
          </a:bodyPr>
          <a:lstStyle/>
          <a:p>
            <a:pPr>
              <a:spcAft>
                <a:spcPts val="500"/>
              </a:spcAft>
              <a:defRPr sz="1500" b="1">
                <a:solidFill>
                  <a:srgbClr val="15233B"/>
                </a:solidFill>
                <a:latin typeface="Aptos"/>
              </a:defRPr>
            </a:pPr>
            <a:r>
              <a:t>MNIST / raw 8 × 32 input</a:t>
            </a:r>
          </a:p>
        </p:txBody>
      </p:sp>
      <p:sp>
        <p:nvSpPr>
          <p:cNvPr id="16" name="TextBox 15"/>
          <p:cNvSpPr txBox="1"/>
          <p:nvPr/>
        </p:nvSpPr>
        <p:spPr>
          <a:xfrm>
            <a:off x="4370831" y="2633472"/>
            <a:ext cx="1664208" cy="365760"/>
          </a:xfrm>
          <a:prstGeom prst="rect">
            <a:avLst/>
          </a:prstGeom>
          <a:noFill/>
        </p:spPr>
        <p:txBody>
          <a:bodyPr wrap="square" lIns="13716" rIns="13716" tIns="0" bIns="0">
            <a:spAutoFit/>
          </a:bodyPr>
          <a:lstStyle/>
          <a:p>
            <a:pPr>
              <a:spcAft>
                <a:spcPts val="500"/>
              </a:spcAft>
              <a:defRPr sz="1500" b="0">
                <a:solidFill>
                  <a:srgbClr val="15233B"/>
                </a:solidFill>
                <a:latin typeface="Aptos"/>
              </a:defRPr>
            </a:pPr>
            <a:r>
              <a:t>322</a:t>
            </a:r>
          </a:p>
        </p:txBody>
      </p:sp>
      <p:sp>
        <p:nvSpPr>
          <p:cNvPr id="17" name="TextBox 16"/>
          <p:cNvSpPr txBox="1"/>
          <p:nvPr/>
        </p:nvSpPr>
        <p:spPr>
          <a:xfrm>
            <a:off x="6236207" y="2633472"/>
            <a:ext cx="1627632" cy="365760"/>
          </a:xfrm>
          <a:prstGeom prst="rect">
            <a:avLst/>
          </a:prstGeom>
          <a:noFill/>
        </p:spPr>
        <p:txBody>
          <a:bodyPr wrap="square" lIns="13716" rIns="13716" tIns="0" bIns="0">
            <a:spAutoFit/>
          </a:bodyPr>
          <a:lstStyle/>
          <a:p>
            <a:pPr>
              <a:spcAft>
                <a:spcPts val="500"/>
              </a:spcAft>
              <a:defRPr sz="1500" b="0">
                <a:solidFill>
                  <a:srgbClr val="15233B"/>
                </a:solidFill>
                <a:latin typeface="Aptos"/>
              </a:defRPr>
            </a:pPr>
            <a:r>
              <a:t>4.29 µs</a:t>
            </a:r>
          </a:p>
        </p:txBody>
      </p:sp>
      <p:sp>
        <p:nvSpPr>
          <p:cNvPr id="18" name="TextBox 17"/>
          <p:cNvSpPr txBox="1"/>
          <p:nvPr/>
        </p:nvSpPr>
        <p:spPr>
          <a:xfrm>
            <a:off x="8065008" y="2633472"/>
            <a:ext cx="3529584" cy="365760"/>
          </a:xfrm>
          <a:prstGeom prst="rect">
            <a:avLst/>
          </a:prstGeom>
          <a:noFill/>
        </p:spPr>
        <p:txBody>
          <a:bodyPr wrap="square" lIns="13716" rIns="13716" tIns="0" bIns="0">
            <a:spAutoFit/>
          </a:bodyPr>
          <a:lstStyle/>
          <a:p>
            <a:pPr>
              <a:spcAft>
                <a:spcPts val="500"/>
              </a:spcAft>
              <a:defRPr sz="1500" b="0">
                <a:solidFill>
                  <a:srgbClr val="15233B"/>
                </a:solidFill>
                <a:latin typeface="Aptos"/>
              </a:defRPr>
            </a:pPr>
            <a:r>
              <a:t>PASS; 10 logits match</a:t>
            </a:r>
          </a:p>
        </p:txBody>
      </p:sp>
      <p:sp>
        <p:nvSpPr>
          <p:cNvPr id="19" name="Rectangle 18"/>
          <p:cNvSpPr/>
          <p:nvPr/>
        </p:nvSpPr>
        <p:spPr>
          <a:xfrm>
            <a:off x="502920" y="3090672"/>
            <a:ext cx="11173968" cy="603504"/>
          </a:xfrm>
          <a:prstGeom prst="rect">
            <a:avLst/>
          </a:prstGeom>
          <a:solidFill>
            <a:srgbClr val="EA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3236976"/>
            <a:ext cx="3547871" cy="365760"/>
          </a:xfrm>
          <a:prstGeom prst="rect">
            <a:avLst/>
          </a:prstGeom>
          <a:noFill/>
        </p:spPr>
        <p:txBody>
          <a:bodyPr wrap="square" lIns="13716" rIns="13716" tIns="0" bIns="0">
            <a:spAutoFit/>
          </a:bodyPr>
          <a:lstStyle/>
          <a:p>
            <a:pPr>
              <a:spcAft>
                <a:spcPts val="500"/>
              </a:spcAft>
              <a:defRPr sz="1500" b="1">
                <a:solidFill>
                  <a:srgbClr val="15233B"/>
                </a:solidFill>
                <a:latin typeface="Aptos"/>
              </a:defRPr>
            </a:pPr>
            <a:r>
              <a:t>MobileNetV2 / full RGB path</a:t>
            </a:r>
          </a:p>
        </p:txBody>
      </p:sp>
      <p:sp>
        <p:nvSpPr>
          <p:cNvPr id="21" name="TextBox 20"/>
          <p:cNvSpPr txBox="1"/>
          <p:nvPr/>
        </p:nvSpPr>
        <p:spPr>
          <a:xfrm>
            <a:off x="4370831" y="3236976"/>
            <a:ext cx="1664208" cy="365760"/>
          </a:xfrm>
          <a:prstGeom prst="rect">
            <a:avLst/>
          </a:prstGeom>
          <a:noFill/>
        </p:spPr>
        <p:txBody>
          <a:bodyPr wrap="square" lIns="13716" rIns="13716" tIns="0" bIns="0">
            <a:spAutoFit/>
          </a:bodyPr>
          <a:lstStyle/>
          <a:p>
            <a:pPr>
              <a:spcAft>
                <a:spcPts val="500"/>
              </a:spcAft>
              <a:defRPr sz="1500" b="0">
                <a:solidFill>
                  <a:srgbClr val="15233B"/>
                </a:solidFill>
                <a:latin typeface="Aptos"/>
              </a:defRPr>
            </a:pPr>
            <a:r>
              <a:t>421,020,214</a:t>
            </a:r>
          </a:p>
        </p:txBody>
      </p:sp>
      <p:sp>
        <p:nvSpPr>
          <p:cNvPr id="22" name="TextBox 21"/>
          <p:cNvSpPr txBox="1"/>
          <p:nvPr/>
        </p:nvSpPr>
        <p:spPr>
          <a:xfrm>
            <a:off x="6236207" y="3236976"/>
            <a:ext cx="1627632" cy="365760"/>
          </a:xfrm>
          <a:prstGeom prst="rect">
            <a:avLst/>
          </a:prstGeom>
          <a:noFill/>
        </p:spPr>
        <p:txBody>
          <a:bodyPr wrap="square" lIns="13716" rIns="13716" tIns="0" bIns="0">
            <a:spAutoFit/>
          </a:bodyPr>
          <a:lstStyle/>
          <a:p>
            <a:pPr>
              <a:spcAft>
                <a:spcPts val="500"/>
              </a:spcAft>
              <a:defRPr sz="1500" b="0">
                <a:solidFill>
                  <a:srgbClr val="15233B"/>
                </a:solidFill>
                <a:latin typeface="Aptos"/>
              </a:defRPr>
            </a:pPr>
            <a:r>
              <a:t>5.614 s</a:t>
            </a:r>
          </a:p>
        </p:txBody>
      </p:sp>
      <p:sp>
        <p:nvSpPr>
          <p:cNvPr id="23" name="TextBox 22"/>
          <p:cNvSpPr txBox="1"/>
          <p:nvPr/>
        </p:nvSpPr>
        <p:spPr>
          <a:xfrm>
            <a:off x="8065008" y="3236976"/>
            <a:ext cx="3529584" cy="365760"/>
          </a:xfrm>
          <a:prstGeom prst="rect">
            <a:avLst/>
          </a:prstGeom>
          <a:noFill/>
        </p:spPr>
        <p:txBody>
          <a:bodyPr wrap="square" lIns="13716" rIns="13716" tIns="0" bIns="0">
            <a:spAutoFit/>
          </a:bodyPr>
          <a:lstStyle/>
          <a:p>
            <a:pPr>
              <a:spcAft>
                <a:spcPts val="500"/>
              </a:spcAft>
              <a:defRPr sz="1500" b="0">
                <a:solidFill>
                  <a:srgbClr val="15233B"/>
                </a:solidFill>
                <a:latin typeface="Aptos"/>
              </a:defRPr>
            </a:pPr>
            <a:r>
              <a:t>PASS; 0 / 1,000 mismatches</a:t>
            </a:r>
          </a:p>
        </p:txBody>
      </p:sp>
      <p:sp>
        <p:nvSpPr>
          <p:cNvPr id="24" name="Rectangle 23"/>
          <p:cNvSpPr/>
          <p:nvPr/>
        </p:nvSpPr>
        <p:spPr>
          <a:xfrm>
            <a:off x="502920" y="3694176"/>
            <a:ext cx="11173968" cy="6035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 y="3840480"/>
            <a:ext cx="3547871" cy="365760"/>
          </a:xfrm>
          <a:prstGeom prst="rect">
            <a:avLst/>
          </a:prstGeom>
          <a:noFill/>
        </p:spPr>
        <p:txBody>
          <a:bodyPr wrap="square" lIns="13716" rIns="13716" tIns="0" bIns="0">
            <a:spAutoFit/>
          </a:bodyPr>
          <a:lstStyle/>
          <a:p>
            <a:pPr>
              <a:spcAft>
                <a:spcPts val="500"/>
              </a:spcAft>
              <a:defRPr sz="1500" b="1">
                <a:solidFill>
                  <a:srgbClr val="15233B"/>
                </a:solidFill>
                <a:latin typeface="Aptos"/>
              </a:defRPr>
            </a:pPr>
            <a:r>
              <a:t>EfficientNet-B0 / full RGB path</a:t>
            </a:r>
          </a:p>
        </p:txBody>
      </p:sp>
      <p:sp>
        <p:nvSpPr>
          <p:cNvPr id="26" name="TextBox 25"/>
          <p:cNvSpPr txBox="1"/>
          <p:nvPr/>
        </p:nvSpPr>
        <p:spPr>
          <a:xfrm>
            <a:off x="4370831" y="3840480"/>
            <a:ext cx="1664208" cy="365760"/>
          </a:xfrm>
          <a:prstGeom prst="rect">
            <a:avLst/>
          </a:prstGeom>
          <a:noFill/>
        </p:spPr>
        <p:txBody>
          <a:bodyPr wrap="square" lIns="13716" rIns="13716" tIns="0" bIns="0">
            <a:spAutoFit/>
          </a:bodyPr>
          <a:lstStyle/>
          <a:p>
            <a:pPr>
              <a:spcAft>
                <a:spcPts val="500"/>
              </a:spcAft>
              <a:defRPr sz="1500" b="0">
                <a:solidFill>
                  <a:srgbClr val="15233B"/>
                </a:solidFill>
                <a:latin typeface="Aptos"/>
              </a:defRPr>
            </a:pPr>
            <a:r>
              <a:t>575,471,589</a:t>
            </a:r>
          </a:p>
        </p:txBody>
      </p:sp>
      <p:sp>
        <p:nvSpPr>
          <p:cNvPr id="27" name="TextBox 26"/>
          <p:cNvSpPr txBox="1"/>
          <p:nvPr/>
        </p:nvSpPr>
        <p:spPr>
          <a:xfrm>
            <a:off x="6236207" y="3840480"/>
            <a:ext cx="1627632" cy="365760"/>
          </a:xfrm>
          <a:prstGeom prst="rect">
            <a:avLst/>
          </a:prstGeom>
          <a:noFill/>
        </p:spPr>
        <p:txBody>
          <a:bodyPr wrap="square" lIns="13716" rIns="13716" tIns="0" bIns="0">
            <a:spAutoFit/>
          </a:bodyPr>
          <a:lstStyle/>
          <a:p>
            <a:pPr>
              <a:spcAft>
                <a:spcPts val="500"/>
              </a:spcAft>
              <a:defRPr sz="1500" b="0">
                <a:solidFill>
                  <a:srgbClr val="15233B"/>
                </a:solidFill>
                <a:latin typeface="Aptos"/>
              </a:defRPr>
            </a:pPr>
            <a:r>
              <a:t>7.673 s</a:t>
            </a:r>
          </a:p>
        </p:txBody>
      </p:sp>
      <p:sp>
        <p:nvSpPr>
          <p:cNvPr id="28" name="TextBox 27"/>
          <p:cNvSpPr txBox="1"/>
          <p:nvPr/>
        </p:nvSpPr>
        <p:spPr>
          <a:xfrm>
            <a:off x="8065008" y="3840480"/>
            <a:ext cx="3529584" cy="365760"/>
          </a:xfrm>
          <a:prstGeom prst="rect">
            <a:avLst/>
          </a:prstGeom>
          <a:noFill/>
        </p:spPr>
        <p:txBody>
          <a:bodyPr wrap="square" lIns="13716" rIns="13716" tIns="0" bIns="0">
            <a:spAutoFit/>
          </a:bodyPr>
          <a:lstStyle/>
          <a:p>
            <a:pPr>
              <a:spcAft>
                <a:spcPts val="500"/>
              </a:spcAft>
              <a:defRPr sz="1500" b="0">
                <a:solidFill>
                  <a:srgbClr val="15233B"/>
                </a:solidFill>
                <a:latin typeface="Aptos"/>
              </a:defRPr>
            </a:pPr>
            <a:r>
              <a:t>PASS; 0 / 1,000 mismatches</a:t>
            </a:r>
          </a:p>
        </p:txBody>
      </p:sp>
      <p:sp>
        <p:nvSpPr>
          <p:cNvPr id="29" name="Rectangle 28"/>
          <p:cNvSpPr/>
          <p:nvPr/>
        </p:nvSpPr>
        <p:spPr>
          <a:xfrm>
            <a:off x="502920" y="4297680"/>
            <a:ext cx="11173968" cy="603504"/>
          </a:xfrm>
          <a:prstGeom prst="rect">
            <a:avLst/>
          </a:prstGeom>
          <a:solidFill>
            <a:srgbClr val="EA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4443984"/>
            <a:ext cx="3547871" cy="365760"/>
          </a:xfrm>
          <a:prstGeom prst="rect">
            <a:avLst/>
          </a:prstGeom>
          <a:noFill/>
        </p:spPr>
        <p:txBody>
          <a:bodyPr wrap="square" lIns="13716" rIns="13716" tIns="0" bIns="0">
            <a:spAutoFit/>
          </a:bodyPr>
          <a:lstStyle/>
          <a:p>
            <a:pPr>
              <a:spcAft>
                <a:spcPts val="500"/>
              </a:spcAft>
              <a:defRPr sz="1500" b="1">
                <a:solidFill>
                  <a:srgbClr val="15233B"/>
                </a:solidFill>
                <a:latin typeface="Aptos"/>
              </a:defRPr>
            </a:pPr>
            <a:r>
              <a:t>ResNet-50 / full RGB path</a:t>
            </a:r>
          </a:p>
        </p:txBody>
      </p:sp>
      <p:sp>
        <p:nvSpPr>
          <p:cNvPr id="31" name="TextBox 30"/>
          <p:cNvSpPr txBox="1"/>
          <p:nvPr/>
        </p:nvSpPr>
        <p:spPr>
          <a:xfrm>
            <a:off x="4370831" y="4443984"/>
            <a:ext cx="1664208" cy="365760"/>
          </a:xfrm>
          <a:prstGeom prst="rect">
            <a:avLst/>
          </a:prstGeom>
          <a:noFill/>
        </p:spPr>
        <p:txBody>
          <a:bodyPr wrap="square" lIns="13716" rIns="13716" tIns="0" bIns="0">
            <a:spAutoFit/>
          </a:bodyPr>
          <a:lstStyle/>
          <a:p>
            <a:pPr>
              <a:spcAft>
                <a:spcPts val="500"/>
              </a:spcAft>
              <a:defRPr sz="1500" b="0">
                <a:solidFill>
                  <a:srgbClr val="15233B"/>
                </a:solidFill>
                <a:latin typeface="Aptos"/>
              </a:defRPr>
            </a:pPr>
            <a:r>
              <a:t>134 M reached</a:t>
            </a:r>
          </a:p>
        </p:txBody>
      </p:sp>
      <p:sp>
        <p:nvSpPr>
          <p:cNvPr id="32" name="TextBox 31"/>
          <p:cNvSpPr txBox="1"/>
          <p:nvPr/>
        </p:nvSpPr>
        <p:spPr>
          <a:xfrm>
            <a:off x="6236207" y="4443984"/>
            <a:ext cx="1627632" cy="365760"/>
          </a:xfrm>
          <a:prstGeom prst="rect">
            <a:avLst/>
          </a:prstGeom>
          <a:noFill/>
        </p:spPr>
        <p:txBody>
          <a:bodyPr wrap="square" lIns="13716" rIns="13716" tIns="0" bIns="0">
            <a:spAutoFit/>
          </a:bodyPr>
          <a:lstStyle/>
          <a:p>
            <a:pPr>
              <a:spcAft>
                <a:spcPts val="500"/>
              </a:spcAft>
              <a:defRPr sz="1500" b="0">
                <a:solidFill>
                  <a:srgbClr val="15233B"/>
                </a:solidFill>
                <a:latin typeface="Aptos"/>
              </a:defRPr>
            </a:pPr>
            <a:r>
              <a:t>Incomplete run</a:t>
            </a:r>
          </a:p>
        </p:txBody>
      </p:sp>
      <p:sp>
        <p:nvSpPr>
          <p:cNvPr id="33" name="TextBox 32"/>
          <p:cNvSpPr txBox="1"/>
          <p:nvPr/>
        </p:nvSpPr>
        <p:spPr>
          <a:xfrm>
            <a:off x="8065008" y="4443984"/>
            <a:ext cx="3529584" cy="365760"/>
          </a:xfrm>
          <a:prstGeom prst="rect">
            <a:avLst/>
          </a:prstGeom>
          <a:noFill/>
        </p:spPr>
        <p:txBody>
          <a:bodyPr wrap="square" lIns="13716" rIns="13716" tIns="0" bIns="0">
            <a:spAutoFit/>
          </a:bodyPr>
          <a:lstStyle/>
          <a:p>
            <a:pPr>
              <a:spcAft>
                <a:spcPts val="500"/>
              </a:spcAft>
              <a:defRPr sz="1500" b="0">
                <a:solidFill>
                  <a:srgbClr val="15233B"/>
                </a:solidFill>
                <a:latin typeface="Aptos"/>
              </a:defRPr>
            </a:pPr>
            <a:r>
              <a:t>No completion marker</a:t>
            </a:r>
          </a:p>
        </p:txBody>
      </p:sp>
      <p:sp>
        <p:nvSpPr>
          <p:cNvPr id="34" name="Rounded Rectangle 33"/>
          <p:cNvSpPr/>
          <p:nvPr/>
        </p:nvSpPr>
        <p:spPr>
          <a:xfrm>
            <a:off x="502920" y="5166360"/>
            <a:ext cx="5422392" cy="896112"/>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920" y="5166360"/>
            <a:ext cx="41148" cy="89611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5330952"/>
            <a:ext cx="5056631" cy="457200"/>
          </a:xfrm>
          <a:prstGeom prst="rect">
            <a:avLst/>
          </a:prstGeom>
          <a:noFill/>
        </p:spPr>
        <p:txBody>
          <a:bodyPr wrap="square" lIns="13716" rIns="13716" tIns="0" bIns="0">
            <a:spAutoFit/>
          </a:bodyPr>
          <a:lstStyle/>
          <a:p>
            <a:pPr>
              <a:spcAft>
                <a:spcPts val="500"/>
              </a:spcAft>
              <a:defRPr sz="1800" b="1">
                <a:solidFill>
                  <a:srgbClr val="15233B"/>
                </a:solidFill>
                <a:latin typeface="Aptos"/>
              </a:defRPr>
            </a:pPr>
            <a:r>
              <a:t>0.178 FPS  /  MobileNetV2</a:t>
            </a:r>
          </a:p>
        </p:txBody>
      </p:sp>
      <p:sp>
        <p:nvSpPr>
          <p:cNvPr id="37" name="Rounded Rectangle 36"/>
          <p:cNvSpPr/>
          <p:nvPr/>
        </p:nvSpPr>
        <p:spPr>
          <a:xfrm>
            <a:off x="6153912" y="5166360"/>
            <a:ext cx="5522976" cy="896112"/>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53912" y="5166360"/>
            <a:ext cx="41148" cy="896112"/>
          </a:xfrm>
          <a:prstGeom prst="rect">
            <a:avLst/>
          </a:prstGeom>
          <a:solidFill>
            <a:srgbClr val="6B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36792" y="5330952"/>
            <a:ext cx="5157216" cy="457200"/>
          </a:xfrm>
          <a:prstGeom prst="rect">
            <a:avLst/>
          </a:prstGeom>
          <a:noFill/>
        </p:spPr>
        <p:txBody>
          <a:bodyPr wrap="square" lIns="13716" rIns="13716" tIns="0" bIns="0">
            <a:spAutoFit/>
          </a:bodyPr>
          <a:lstStyle/>
          <a:p>
            <a:pPr>
              <a:spcAft>
                <a:spcPts val="500"/>
              </a:spcAft>
              <a:defRPr sz="1800" b="1">
                <a:solidFill>
                  <a:srgbClr val="15233B"/>
                </a:solidFill>
                <a:latin typeface="Aptos"/>
              </a:defRPr>
            </a:pPr>
            <a:r>
              <a:t>0.130 FPS  /  EfficientNet-B0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224"/>
        </a:solidFill>
        <a:effectLst/>
      </p:bgPr>
    </p:bg>
    <p:spTree>
      <p:nvGrpSpPr>
        <p:cNvPr id="1" name=""/>
        <p:cNvGrpSpPr/>
        <p:nvPr/>
      </p:nvGrpSpPr>
      <p:grpSpPr/>
      <p:sp>
        <p:nvSpPr>
          <p:cNvPr id="2" name="TextBox 1"/>
          <p:cNvSpPr txBox="1"/>
          <p:nvPr/>
        </p:nvSpPr>
        <p:spPr>
          <a:xfrm>
            <a:off x="502920" y="274320"/>
            <a:ext cx="9144000" cy="210312"/>
          </a:xfrm>
          <a:prstGeom prst="rect">
            <a:avLst/>
          </a:prstGeom>
          <a:noFill/>
        </p:spPr>
        <p:txBody>
          <a:bodyPr wrap="square" lIns="13716" rIns="13716" tIns="0" bIns="0">
            <a:spAutoFit/>
          </a:bodyPr>
          <a:lstStyle/>
          <a:p>
            <a:pPr>
              <a:spcAft>
                <a:spcPts val="500"/>
              </a:spcAft>
              <a:defRPr sz="1000" b="1">
                <a:solidFill>
                  <a:srgbClr val="35DFC3"/>
                </a:solidFill>
                <a:latin typeface="Aptos"/>
              </a:defRPr>
            </a:pPr>
            <a:r>
              <a:t>RESULT INTERPRETATION</a:t>
            </a:r>
          </a:p>
        </p:txBody>
      </p:sp>
      <p:sp>
        <p:nvSpPr>
          <p:cNvPr id="3" name="TextBox 2"/>
          <p:cNvSpPr txBox="1"/>
          <p:nvPr/>
        </p:nvSpPr>
        <p:spPr>
          <a:xfrm>
            <a:off x="502920" y="713232"/>
            <a:ext cx="11155680" cy="640080"/>
          </a:xfrm>
          <a:prstGeom prst="rect">
            <a:avLst/>
          </a:prstGeom>
          <a:noFill/>
        </p:spPr>
        <p:txBody>
          <a:bodyPr wrap="square" lIns="13716" rIns="13716" tIns="0" bIns="0">
            <a:spAutoFit/>
          </a:bodyPr>
          <a:lstStyle/>
          <a:p>
            <a:pPr>
              <a:spcAft>
                <a:spcPts val="500"/>
              </a:spcAft>
              <a:defRPr sz="3000" b="1">
                <a:solidFill>
                  <a:srgbClr val="FFFFFF"/>
                </a:solidFill>
                <a:latin typeface="Aptos Display"/>
              </a:defRPr>
            </a:pPr>
            <a:r>
              <a:t>A correct top-1 example is only part of accuracy</a:t>
            </a:r>
          </a:p>
        </p:txBody>
      </p:sp>
      <p:sp>
        <p:nvSpPr>
          <p:cNvPr id="4" name="TextBox 3"/>
          <p:cNvSpPr txBox="1"/>
          <p:nvPr/>
        </p:nvSpPr>
        <p:spPr>
          <a:xfrm>
            <a:off x="512064" y="1426464"/>
            <a:ext cx="11109960" cy="502920"/>
          </a:xfrm>
          <a:prstGeom prst="rect">
            <a:avLst/>
          </a:prstGeom>
          <a:noFill/>
        </p:spPr>
        <p:txBody>
          <a:bodyPr wrap="square" lIns="13716" rIns="13716" tIns="0" bIns="0">
            <a:spAutoFit/>
          </a:bodyPr>
          <a:lstStyle/>
          <a:p>
            <a:pPr>
              <a:spcAft>
                <a:spcPts val="500"/>
              </a:spcAft>
              <a:defRPr sz="1400" b="0">
                <a:solidFill>
                  <a:srgbClr val="A8B7CF"/>
                </a:solidFill>
                <a:latin typeface="Aptos"/>
              </a:defRPr>
            </a:pPr>
            <a:r>
              <a:t>The saved dog-image runs identify Samoyed, while the full distributions reveal quantization limits.</a:t>
            </a:r>
          </a:p>
        </p:txBody>
      </p:sp>
      <p:sp>
        <p:nvSpPr>
          <p:cNvPr id="5" name="Rectangle 4"/>
          <p:cNvSpPr/>
          <p:nvPr/>
        </p:nvSpPr>
        <p:spPr>
          <a:xfrm>
            <a:off x="502920" y="6455664"/>
            <a:ext cx="11183112" cy="10972"/>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3657600" cy="155448"/>
          </a:xfrm>
          <a:prstGeom prst="rect">
            <a:avLst/>
          </a:prstGeom>
          <a:noFill/>
        </p:spPr>
        <p:txBody>
          <a:bodyPr wrap="square" lIns="13716" rIns="13716" tIns="0" bIns="0">
            <a:spAutoFit/>
          </a:bodyPr>
          <a:lstStyle/>
          <a:p>
            <a:pPr>
              <a:spcAft>
                <a:spcPts val="500"/>
              </a:spcAft>
              <a:defRPr sz="800" b="1">
                <a:solidFill>
                  <a:srgbClr val="A8B7CF"/>
                </a:solidFill>
                <a:latin typeface="Aptos"/>
              </a:defRPr>
            </a:pPr>
            <a:r>
              <a:t>UNIFIED C-ENGINE  /  ZCU106</a:t>
            </a:r>
          </a:p>
        </p:txBody>
      </p:sp>
      <p:sp>
        <p:nvSpPr>
          <p:cNvPr id="7" name="TextBox 6"/>
          <p:cNvSpPr txBox="1"/>
          <p:nvPr/>
        </p:nvSpPr>
        <p:spPr>
          <a:xfrm>
            <a:off x="3657600" y="6556248"/>
            <a:ext cx="6949440" cy="182880"/>
          </a:xfrm>
          <a:prstGeom prst="rect">
            <a:avLst/>
          </a:prstGeom>
          <a:noFill/>
        </p:spPr>
        <p:txBody>
          <a:bodyPr wrap="square" lIns="13716" rIns="13716" tIns="0" bIns="0">
            <a:spAutoFit/>
          </a:bodyPr>
          <a:lstStyle/>
          <a:p>
            <a:pPr algn="r">
              <a:spcAft>
                <a:spcPts val="500"/>
              </a:spcAft>
              <a:defRPr sz="800" b="0">
                <a:solidFill>
                  <a:srgbClr val="A8B7CF"/>
                </a:solidFill>
                <a:latin typeface="Aptos"/>
              </a:defRPr>
            </a:pPr>
            <a:r>
              <a:t>data/test_images/dog.jpg • sim/logs/*_8bit.log • model compilers</a:t>
            </a:r>
          </a:p>
        </p:txBody>
      </p:sp>
      <p:sp>
        <p:nvSpPr>
          <p:cNvPr id="8" name="TextBox 7"/>
          <p:cNvSpPr txBox="1"/>
          <p:nvPr/>
        </p:nvSpPr>
        <p:spPr>
          <a:xfrm>
            <a:off x="10927080" y="6547104"/>
            <a:ext cx="731520" cy="201168"/>
          </a:xfrm>
          <a:prstGeom prst="rect">
            <a:avLst/>
          </a:prstGeom>
          <a:noFill/>
        </p:spPr>
        <p:txBody>
          <a:bodyPr wrap="square" lIns="13716" rIns="13716" tIns="0" bIns="0">
            <a:spAutoFit/>
          </a:bodyPr>
          <a:lstStyle/>
          <a:p>
            <a:pPr algn="r">
              <a:spcAft>
                <a:spcPts val="500"/>
              </a:spcAft>
              <a:defRPr sz="900" b="0">
                <a:solidFill>
                  <a:srgbClr val="35DFC3"/>
                </a:solidFill>
                <a:latin typeface="Aptos"/>
              </a:defRPr>
            </a:pPr>
            <a:r>
              <a:t>12 / 17</a:t>
            </a:r>
          </a:p>
        </p:txBody>
      </p:sp>
      <p:pic>
        <p:nvPicPr>
          <p:cNvPr id="9" name="Picture 8" descr="dog.jpg"/>
          <p:cNvPicPr>
            <a:picLocks noChangeAspect="1"/>
          </p:cNvPicPr>
          <p:nvPr/>
        </p:nvPicPr>
        <p:blipFill>
          <a:blip r:embed="rId2"/>
          <a:stretch>
            <a:fillRect/>
          </a:stretch>
        </p:blipFill>
        <p:spPr>
          <a:xfrm>
            <a:off x="502920" y="2112264"/>
            <a:ext cx="4160520" cy="3264408"/>
          </a:xfrm>
          <a:prstGeom prst="rect">
            <a:avLst/>
          </a:prstGeom>
        </p:spPr>
      </p:pic>
      <p:sp>
        <p:nvSpPr>
          <p:cNvPr id="10" name="Rounded Rectangle 9"/>
          <p:cNvSpPr/>
          <p:nvPr/>
        </p:nvSpPr>
        <p:spPr>
          <a:xfrm>
            <a:off x="658368" y="5550408"/>
            <a:ext cx="1920240" cy="274320"/>
          </a:xfrm>
          <a:prstGeom prst="roundRect">
            <a:avLst>
              <a:gd name="adj" fmla="val 12000"/>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5586984"/>
            <a:ext cx="1755648" cy="201168"/>
          </a:xfrm>
          <a:prstGeom prst="rect">
            <a:avLst/>
          </a:prstGeom>
          <a:noFill/>
        </p:spPr>
        <p:txBody>
          <a:bodyPr wrap="square" lIns="13716" rIns="13716" tIns="0" bIns="0">
            <a:spAutoFit/>
          </a:bodyPr>
          <a:lstStyle/>
          <a:p>
            <a:pPr>
              <a:spcAft>
                <a:spcPts val="500"/>
              </a:spcAft>
              <a:defRPr sz="1000" b="1">
                <a:solidFill>
                  <a:srgbClr val="35DFC3"/>
                </a:solidFill>
                <a:latin typeface="Aptos"/>
              </a:defRPr>
            </a:pPr>
            <a:r>
              <a:t>TEST IMAGE: DOG.JPG</a:t>
            </a:r>
          </a:p>
        </p:txBody>
      </p:sp>
      <p:sp>
        <p:nvSpPr>
          <p:cNvPr id="12" name="Rounded Rectangle 11"/>
          <p:cNvSpPr/>
          <p:nvPr/>
        </p:nvSpPr>
        <p:spPr>
          <a:xfrm>
            <a:off x="4983480" y="2112264"/>
            <a:ext cx="6693408" cy="1042415"/>
          </a:xfrm>
          <a:prstGeom prst="roundRect">
            <a:avLst>
              <a:gd name="adj" fmla="val 12000"/>
            </a:avLst>
          </a:prstGeom>
          <a:solidFill>
            <a:srgbClr val="1421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983480" y="2112264"/>
            <a:ext cx="41148" cy="1042415"/>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66360" y="2276856"/>
            <a:ext cx="6327648" cy="457200"/>
          </a:xfrm>
          <a:prstGeom prst="rect">
            <a:avLst/>
          </a:prstGeom>
          <a:noFill/>
        </p:spPr>
        <p:txBody>
          <a:bodyPr wrap="square" lIns="13716" rIns="13716" tIns="0" bIns="0">
            <a:spAutoFit/>
          </a:bodyPr>
          <a:lstStyle/>
          <a:p>
            <a:pPr>
              <a:spcAft>
                <a:spcPts val="500"/>
              </a:spcAft>
              <a:defRPr sz="1800" b="1">
                <a:solidFill>
                  <a:srgbClr val="FFFFFF"/>
                </a:solidFill>
                <a:latin typeface="Aptos"/>
              </a:defRPr>
            </a:pPr>
            <a:r>
              <a:t>MobileNetV2: Samoyed #258</a:t>
            </a:r>
          </a:p>
        </p:txBody>
      </p:sp>
      <p:sp>
        <p:nvSpPr>
          <p:cNvPr id="15" name="TextBox 14"/>
          <p:cNvSpPr txBox="1"/>
          <p:nvPr/>
        </p:nvSpPr>
        <p:spPr>
          <a:xfrm>
            <a:off x="5166360" y="2724912"/>
            <a:ext cx="6327648" cy="384047"/>
          </a:xfrm>
          <a:prstGeom prst="rect">
            <a:avLst/>
          </a:prstGeom>
          <a:noFill/>
        </p:spPr>
        <p:txBody>
          <a:bodyPr wrap="square" lIns="13716" rIns="13716" tIns="0" bIns="0">
            <a:spAutoFit/>
          </a:bodyPr>
          <a:lstStyle/>
          <a:p>
            <a:pPr>
              <a:spcAft>
                <a:spcPts val="500"/>
              </a:spcAft>
              <a:defRPr sz="1300" b="0">
                <a:solidFill>
                  <a:srgbClr val="A8B7CF"/>
                </a:solidFill>
                <a:latin typeface="Aptos"/>
              </a:defRPr>
            </a:pPr>
            <a:r>
              <a:t>Logit 90; next recorded class is thunder snake (72).</a:t>
            </a:r>
          </a:p>
        </p:txBody>
      </p:sp>
      <p:sp>
        <p:nvSpPr>
          <p:cNvPr id="16" name="Rounded Rectangle 15"/>
          <p:cNvSpPr/>
          <p:nvPr/>
        </p:nvSpPr>
        <p:spPr>
          <a:xfrm>
            <a:off x="4983480" y="3364992"/>
            <a:ext cx="6693408" cy="1042415"/>
          </a:xfrm>
          <a:prstGeom prst="roundRect">
            <a:avLst>
              <a:gd name="adj" fmla="val 12000"/>
            </a:avLst>
          </a:prstGeom>
          <a:solidFill>
            <a:srgbClr val="1421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983480" y="3364992"/>
            <a:ext cx="41148" cy="1042415"/>
          </a:xfrm>
          <a:prstGeom prst="rect">
            <a:avLst/>
          </a:prstGeom>
          <a:solidFill>
            <a:srgbClr val="FFC6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66360" y="3529584"/>
            <a:ext cx="6327648" cy="457200"/>
          </a:xfrm>
          <a:prstGeom prst="rect">
            <a:avLst/>
          </a:prstGeom>
          <a:noFill/>
        </p:spPr>
        <p:txBody>
          <a:bodyPr wrap="square" lIns="13716" rIns="13716" tIns="0" bIns="0">
            <a:spAutoFit/>
          </a:bodyPr>
          <a:lstStyle/>
          <a:p>
            <a:pPr>
              <a:spcAft>
                <a:spcPts val="500"/>
              </a:spcAft>
              <a:defRPr sz="1800" b="1">
                <a:solidFill>
                  <a:srgbClr val="FFFFFF"/>
                </a:solidFill>
                <a:latin typeface="Aptos"/>
              </a:defRPr>
            </a:pPr>
            <a:r>
              <a:t>EfficientNet-B0: three-way top tie</a:t>
            </a:r>
          </a:p>
        </p:txBody>
      </p:sp>
      <p:sp>
        <p:nvSpPr>
          <p:cNvPr id="19" name="TextBox 18"/>
          <p:cNvSpPr txBox="1"/>
          <p:nvPr/>
        </p:nvSpPr>
        <p:spPr>
          <a:xfrm>
            <a:off x="5166360" y="3977640"/>
            <a:ext cx="6327648" cy="384047"/>
          </a:xfrm>
          <a:prstGeom prst="rect">
            <a:avLst/>
          </a:prstGeom>
          <a:noFill/>
        </p:spPr>
        <p:txBody>
          <a:bodyPr wrap="square" lIns="13716" rIns="13716" tIns="0" bIns="0">
            <a:spAutoFit/>
          </a:bodyPr>
          <a:lstStyle/>
          <a:p>
            <a:pPr>
              <a:spcAft>
                <a:spcPts val="500"/>
              </a:spcAft>
              <a:defRPr sz="1300" b="0">
                <a:solidFill>
                  <a:srgbClr val="A8B7CF"/>
                </a:solidFill>
                <a:latin typeface="Aptos"/>
              </a:defRPr>
            </a:pPr>
            <a:r>
              <a:t>Samoyed, ibex and analog clock all saturate at 127.</a:t>
            </a:r>
          </a:p>
        </p:txBody>
      </p:sp>
      <p:sp>
        <p:nvSpPr>
          <p:cNvPr id="20" name="TextBox 19"/>
          <p:cNvSpPr txBox="1"/>
          <p:nvPr/>
        </p:nvSpPr>
        <p:spPr>
          <a:xfrm>
            <a:off x="5166360" y="4754880"/>
            <a:ext cx="5943600" cy="411480"/>
          </a:xfrm>
          <a:prstGeom prst="rect">
            <a:avLst/>
          </a:prstGeom>
          <a:noFill/>
        </p:spPr>
        <p:txBody>
          <a:bodyPr wrap="square" lIns="13716" rIns="13716" tIns="0" bIns="0">
            <a:spAutoFit/>
          </a:bodyPr>
          <a:lstStyle/>
          <a:p>
            <a:pPr>
              <a:spcAft>
                <a:spcPts val="500"/>
              </a:spcAft>
              <a:defRPr sz="2100" b="1">
                <a:solidFill>
                  <a:srgbClr val="FFFFFF"/>
                </a:solidFill>
                <a:latin typeface="Aptos"/>
              </a:defRPr>
            </a:pPr>
            <a:r>
              <a:t>What the evidence supports</a:t>
            </a:r>
          </a:p>
        </p:txBody>
      </p:sp>
      <p:sp>
        <p:nvSpPr>
          <p:cNvPr id="21" name="TextBox 20"/>
          <p:cNvSpPr txBox="1"/>
          <p:nvPr/>
        </p:nvSpPr>
        <p:spPr>
          <a:xfrm>
            <a:off x="5166360" y="5303520"/>
            <a:ext cx="6035040" cy="685800"/>
          </a:xfrm>
          <a:prstGeom prst="rect">
            <a:avLst/>
          </a:prstGeom>
          <a:noFill/>
        </p:spPr>
        <p:txBody>
          <a:bodyPr wrap="square" lIns="13716" rIns="13716" tIns="0" bIns="0">
            <a:spAutoFit/>
          </a:bodyPr>
          <a:lstStyle/>
          <a:p>
            <a:pPr>
              <a:spcAft>
                <a:spcPts val="500"/>
              </a:spcAft>
              <a:defRPr sz="1700" b="0">
                <a:solidFill>
                  <a:srgbClr val="A8B7CF"/>
                </a:solidFill>
                <a:latin typeface="Aptos"/>
              </a:defRPr>
            </a:pPr>
            <a:r>
              <a:t>Exact agreement with the logged quantized reference.</a:t>
            </a:r>
          </a:p>
          <a:p>
            <a:pPr>
              <a:spcAft>
                <a:spcPts val="500"/>
              </a:spcAft>
              <a:defRPr sz="1700" b="0">
                <a:solidFill>
                  <a:srgbClr val="A8B7CF"/>
                </a:solidFill>
                <a:latin typeface="Aptos"/>
              </a:defRPr>
            </a:pPr>
            <a:r>
              <a:t>A limited sample; held-out dataset accuracy remains open.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6FA"/>
        </a:solidFill>
        <a:effectLst/>
      </p:bgPr>
    </p:bg>
    <p:spTree>
      <p:nvGrpSpPr>
        <p:cNvPr id="1" name=""/>
        <p:cNvGrpSpPr/>
        <p:nvPr/>
      </p:nvGrpSpPr>
      <p:grpSpPr/>
      <p:sp>
        <p:nvSpPr>
          <p:cNvPr id="2" name="TextBox 1"/>
          <p:cNvSpPr txBox="1"/>
          <p:nvPr/>
        </p:nvSpPr>
        <p:spPr>
          <a:xfrm>
            <a:off x="502920" y="274320"/>
            <a:ext cx="9144000" cy="210312"/>
          </a:xfrm>
          <a:prstGeom prst="rect">
            <a:avLst/>
          </a:prstGeom>
          <a:noFill/>
        </p:spPr>
        <p:txBody>
          <a:bodyPr wrap="square" lIns="13716" rIns="13716" tIns="0" bIns="0">
            <a:spAutoFit/>
          </a:bodyPr>
          <a:lstStyle/>
          <a:p>
            <a:pPr>
              <a:spcAft>
                <a:spcPts val="500"/>
              </a:spcAft>
              <a:defRPr sz="1000" b="1">
                <a:solidFill>
                  <a:srgbClr val="586980"/>
                </a:solidFill>
                <a:latin typeface="Aptos"/>
              </a:defRPr>
            </a:pPr>
            <a:r>
              <a:t>PHYSICAL BOARD STATUS</a:t>
            </a:r>
          </a:p>
        </p:txBody>
      </p:sp>
      <p:sp>
        <p:nvSpPr>
          <p:cNvPr id="3" name="TextBox 2"/>
          <p:cNvSpPr txBox="1"/>
          <p:nvPr/>
        </p:nvSpPr>
        <p:spPr>
          <a:xfrm>
            <a:off x="502920" y="713232"/>
            <a:ext cx="11155680" cy="640080"/>
          </a:xfrm>
          <a:prstGeom prst="rect">
            <a:avLst/>
          </a:prstGeom>
          <a:noFill/>
        </p:spPr>
        <p:txBody>
          <a:bodyPr wrap="square" lIns="13716" rIns="13716" tIns="0" bIns="0">
            <a:spAutoFit/>
          </a:bodyPr>
          <a:lstStyle/>
          <a:p>
            <a:pPr>
              <a:spcAft>
                <a:spcPts val="500"/>
              </a:spcAft>
              <a:defRPr sz="3000" b="1">
                <a:solidFill>
                  <a:srgbClr val="15233B"/>
                </a:solidFill>
                <a:latin typeface="Aptos Display"/>
              </a:defRPr>
            </a:pPr>
            <a:r>
              <a:t>The board flow runs; output quality needs closure</a:t>
            </a:r>
          </a:p>
        </p:txBody>
      </p:sp>
      <p:sp>
        <p:nvSpPr>
          <p:cNvPr id="4" name="TextBox 3"/>
          <p:cNvSpPr txBox="1"/>
          <p:nvPr/>
        </p:nvSpPr>
        <p:spPr>
          <a:xfrm>
            <a:off x="512064" y="1426464"/>
            <a:ext cx="11109960" cy="502920"/>
          </a:xfrm>
          <a:prstGeom prst="rect">
            <a:avLst/>
          </a:prstGeom>
          <a:noFill/>
        </p:spPr>
        <p:txBody>
          <a:bodyPr wrap="square" lIns="13716" rIns="13716" tIns="0" bIns="0">
            <a:spAutoFit/>
          </a:bodyPr>
          <a:lstStyle/>
          <a:p>
            <a:pPr>
              <a:spcAft>
                <a:spcPts val="500"/>
              </a:spcAft>
              <a:defRPr sz="1400" b="0">
                <a:solidFill>
                  <a:srgbClr val="586980"/>
                </a:solidFill>
                <a:latin typeface="Aptos"/>
              </a:defRPr>
            </a:pPr>
            <a:r>
              <a:t>A saved UART capture confirms baremetal launch, FPGA execution and result readback.</a:t>
            </a:r>
          </a:p>
        </p:txBody>
      </p:sp>
      <p:sp>
        <p:nvSpPr>
          <p:cNvPr id="5" name="Rectangle 4"/>
          <p:cNvSpPr/>
          <p:nvPr/>
        </p:nvSpPr>
        <p:spPr>
          <a:xfrm>
            <a:off x="502920" y="6455664"/>
            <a:ext cx="11183112" cy="10972"/>
          </a:xfrm>
          <a:prstGeom prst="rect">
            <a:avLst/>
          </a:prstGeom>
          <a:solidFill>
            <a:srgbClr val="DCE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3657600" cy="155448"/>
          </a:xfrm>
          <a:prstGeom prst="rect">
            <a:avLst/>
          </a:prstGeom>
          <a:noFill/>
        </p:spPr>
        <p:txBody>
          <a:bodyPr wrap="square" lIns="13716" rIns="13716" tIns="0" bIns="0">
            <a:spAutoFit/>
          </a:bodyPr>
          <a:lstStyle/>
          <a:p>
            <a:pPr>
              <a:spcAft>
                <a:spcPts val="500"/>
              </a:spcAft>
              <a:defRPr sz="800" b="1">
                <a:solidFill>
                  <a:srgbClr val="586980"/>
                </a:solidFill>
                <a:latin typeface="Aptos"/>
              </a:defRPr>
            </a:pPr>
            <a:r>
              <a:t>UNIFIED C-ENGINE  /  ZCU106</a:t>
            </a:r>
          </a:p>
        </p:txBody>
      </p:sp>
      <p:sp>
        <p:nvSpPr>
          <p:cNvPr id="7" name="TextBox 6"/>
          <p:cNvSpPr txBox="1"/>
          <p:nvPr/>
        </p:nvSpPr>
        <p:spPr>
          <a:xfrm>
            <a:off x="3657600" y="6556248"/>
            <a:ext cx="6949440" cy="182880"/>
          </a:xfrm>
          <a:prstGeom prst="rect">
            <a:avLst/>
          </a:prstGeom>
          <a:noFill/>
        </p:spPr>
        <p:txBody>
          <a:bodyPr wrap="square" lIns="13716" rIns="13716" tIns="0" bIns="0">
            <a:spAutoFit/>
          </a:bodyPr>
          <a:lstStyle/>
          <a:p>
            <a:pPr algn="r">
              <a:spcAft>
                <a:spcPts val="500"/>
              </a:spcAft>
              <a:defRPr sz="800" b="0">
                <a:solidFill>
                  <a:srgbClr val="586980"/>
                </a:solidFill>
                <a:latin typeface="Aptos"/>
              </a:defRPr>
            </a:pPr>
            <a:r>
              <a:t>baremetal/scripts/last_uart_capture.log • baremetal/build • fpga/export</a:t>
            </a:r>
          </a:p>
        </p:txBody>
      </p:sp>
      <p:sp>
        <p:nvSpPr>
          <p:cNvPr id="8" name="TextBox 7"/>
          <p:cNvSpPr txBox="1"/>
          <p:nvPr/>
        </p:nvSpPr>
        <p:spPr>
          <a:xfrm>
            <a:off x="10927080" y="6547104"/>
            <a:ext cx="731520" cy="201168"/>
          </a:xfrm>
          <a:prstGeom prst="rect">
            <a:avLst/>
          </a:prstGeom>
          <a:noFill/>
        </p:spPr>
        <p:txBody>
          <a:bodyPr wrap="square" lIns="13716" rIns="13716" tIns="0" bIns="0">
            <a:spAutoFit/>
          </a:bodyPr>
          <a:lstStyle/>
          <a:p>
            <a:pPr algn="r">
              <a:spcAft>
                <a:spcPts val="500"/>
              </a:spcAft>
              <a:defRPr sz="900" b="0">
                <a:solidFill>
                  <a:srgbClr val="586980"/>
                </a:solidFill>
                <a:latin typeface="Aptos"/>
              </a:defRPr>
            </a:pPr>
            <a:r>
              <a:t>13 / 17</a:t>
            </a:r>
          </a:p>
        </p:txBody>
      </p:sp>
      <p:sp>
        <p:nvSpPr>
          <p:cNvPr id="9" name="Rounded Rectangle 8"/>
          <p:cNvSpPr/>
          <p:nvPr/>
        </p:nvSpPr>
        <p:spPr>
          <a:xfrm>
            <a:off x="502920" y="2029968"/>
            <a:ext cx="3529584" cy="10058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121408"/>
            <a:ext cx="3163824" cy="502920"/>
          </a:xfrm>
          <a:prstGeom prst="rect">
            <a:avLst/>
          </a:prstGeom>
          <a:noFill/>
        </p:spPr>
        <p:txBody>
          <a:bodyPr wrap="square" lIns="13716" rIns="13716" tIns="0" bIns="0">
            <a:spAutoFit/>
          </a:bodyPr>
          <a:lstStyle/>
          <a:p>
            <a:pPr>
              <a:spcAft>
                <a:spcPts val="500"/>
              </a:spcAft>
              <a:defRPr sz="3100" b="1">
                <a:solidFill>
                  <a:srgbClr val="35DFC3"/>
                </a:solidFill>
                <a:latin typeface="Aptos Display"/>
              </a:defRPr>
            </a:pPr>
            <a:r>
              <a:t>1,685</a:t>
            </a:r>
          </a:p>
        </p:txBody>
      </p:sp>
      <p:sp>
        <p:nvSpPr>
          <p:cNvPr id="11" name="TextBox 10"/>
          <p:cNvSpPr txBox="1"/>
          <p:nvPr/>
        </p:nvSpPr>
        <p:spPr>
          <a:xfrm>
            <a:off x="685800" y="2715768"/>
            <a:ext cx="3163824" cy="228600"/>
          </a:xfrm>
          <a:prstGeom prst="rect">
            <a:avLst/>
          </a:prstGeom>
          <a:noFill/>
        </p:spPr>
        <p:txBody>
          <a:bodyPr wrap="square" lIns="13716" rIns="13716" tIns="0" bIns="0">
            <a:spAutoFit/>
          </a:bodyPr>
          <a:lstStyle/>
          <a:p>
            <a:pPr>
              <a:spcAft>
                <a:spcPts val="500"/>
              </a:spcAft>
              <a:defRPr sz="1100" b="0">
                <a:solidFill>
                  <a:srgbClr val="586980"/>
                </a:solidFill>
                <a:latin typeface="Aptos"/>
              </a:defRPr>
            </a:pPr>
            <a:r>
              <a:t>MNIST hardware cycles in saved UART capture</a:t>
            </a:r>
          </a:p>
        </p:txBody>
      </p:sp>
      <p:sp>
        <p:nvSpPr>
          <p:cNvPr id="12" name="Rounded Rectangle 11"/>
          <p:cNvSpPr/>
          <p:nvPr/>
        </p:nvSpPr>
        <p:spPr>
          <a:xfrm>
            <a:off x="4325112" y="2029968"/>
            <a:ext cx="3529584" cy="10058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07992" y="2121408"/>
            <a:ext cx="3163824" cy="502920"/>
          </a:xfrm>
          <a:prstGeom prst="rect">
            <a:avLst/>
          </a:prstGeom>
          <a:noFill/>
        </p:spPr>
        <p:txBody>
          <a:bodyPr wrap="square" lIns="13716" rIns="13716" tIns="0" bIns="0">
            <a:spAutoFit/>
          </a:bodyPr>
          <a:lstStyle/>
          <a:p>
            <a:pPr>
              <a:spcAft>
                <a:spcPts val="500"/>
              </a:spcAft>
              <a:defRPr sz="3100" b="1">
                <a:solidFill>
                  <a:srgbClr val="6BA6FF"/>
                </a:solidFill>
                <a:latin typeface="Aptos Display"/>
              </a:defRPr>
            </a:pPr>
            <a:r>
              <a:t>22.46 µs</a:t>
            </a:r>
          </a:p>
        </p:txBody>
      </p:sp>
      <p:sp>
        <p:nvSpPr>
          <p:cNvPr id="14" name="TextBox 13"/>
          <p:cNvSpPr txBox="1"/>
          <p:nvPr/>
        </p:nvSpPr>
        <p:spPr>
          <a:xfrm>
            <a:off x="4507992" y="2715768"/>
            <a:ext cx="3163824" cy="228600"/>
          </a:xfrm>
          <a:prstGeom prst="rect">
            <a:avLst/>
          </a:prstGeom>
          <a:noFill/>
        </p:spPr>
        <p:txBody>
          <a:bodyPr wrap="square" lIns="13716" rIns="13716" tIns="0" bIns="0">
            <a:spAutoFit/>
          </a:bodyPr>
          <a:lstStyle/>
          <a:p>
            <a:pPr>
              <a:spcAft>
                <a:spcPts val="500"/>
              </a:spcAft>
              <a:defRPr sz="1100" b="0">
                <a:solidFill>
                  <a:srgbClr val="586980"/>
                </a:solidFill>
                <a:latin typeface="Aptos"/>
              </a:defRPr>
            </a:pPr>
            <a:r>
              <a:t>latency reported by the baremetal application</a:t>
            </a:r>
          </a:p>
        </p:txBody>
      </p:sp>
      <p:sp>
        <p:nvSpPr>
          <p:cNvPr id="15" name="Rounded Rectangle 14"/>
          <p:cNvSpPr/>
          <p:nvPr/>
        </p:nvSpPr>
        <p:spPr>
          <a:xfrm>
            <a:off x="8147304" y="2029968"/>
            <a:ext cx="3529584" cy="10058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0183" y="2121408"/>
            <a:ext cx="3163824" cy="502920"/>
          </a:xfrm>
          <a:prstGeom prst="rect">
            <a:avLst/>
          </a:prstGeom>
          <a:noFill/>
        </p:spPr>
        <p:txBody>
          <a:bodyPr wrap="square" lIns="13716" rIns="13716" tIns="0" bIns="0">
            <a:spAutoFit/>
          </a:bodyPr>
          <a:lstStyle/>
          <a:p>
            <a:pPr>
              <a:spcAft>
                <a:spcPts val="500"/>
              </a:spcAft>
              <a:defRPr sz="3100" b="1">
                <a:solidFill>
                  <a:srgbClr val="FFC66D"/>
                </a:solidFill>
                <a:latin typeface="Aptos Display"/>
              </a:defRPr>
            </a:pPr>
            <a:r>
              <a:t>4-way tie</a:t>
            </a:r>
          </a:p>
        </p:txBody>
      </p:sp>
      <p:sp>
        <p:nvSpPr>
          <p:cNvPr id="17" name="TextBox 16"/>
          <p:cNvSpPr txBox="1"/>
          <p:nvPr/>
        </p:nvSpPr>
        <p:spPr>
          <a:xfrm>
            <a:off x="8330183" y="2715768"/>
            <a:ext cx="3163824" cy="228600"/>
          </a:xfrm>
          <a:prstGeom prst="rect">
            <a:avLst/>
          </a:prstGeom>
          <a:noFill/>
        </p:spPr>
        <p:txBody>
          <a:bodyPr wrap="square" lIns="13716" rIns="13716" tIns="0" bIns="0">
            <a:spAutoFit/>
          </a:bodyPr>
          <a:lstStyle/>
          <a:p>
            <a:pPr>
              <a:spcAft>
                <a:spcPts val="500"/>
              </a:spcAft>
              <a:defRPr sz="1100" b="0">
                <a:solidFill>
                  <a:srgbClr val="586980"/>
                </a:solidFill>
                <a:latin typeface="Aptos"/>
              </a:defRPr>
            </a:pPr>
            <a:r>
              <a:t>digits 0, 2, 6 and 8 all have logit 127</a:t>
            </a:r>
          </a:p>
        </p:txBody>
      </p:sp>
      <p:sp>
        <p:nvSpPr>
          <p:cNvPr id="18" name="Rounded Rectangle 17"/>
          <p:cNvSpPr/>
          <p:nvPr/>
        </p:nvSpPr>
        <p:spPr>
          <a:xfrm>
            <a:off x="502920" y="3456432"/>
            <a:ext cx="5431536" cy="22402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3456432"/>
            <a:ext cx="41148" cy="2240280"/>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621024"/>
            <a:ext cx="5065776" cy="457200"/>
          </a:xfrm>
          <a:prstGeom prst="rect">
            <a:avLst/>
          </a:prstGeom>
          <a:noFill/>
        </p:spPr>
        <p:txBody>
          <a:bodyPr wrap="square" lIns="13716" rIns="13716" tIns="0" bIns="0">
            <a:spAutoFit/>
          </a:bodyPr>
          <a:lstStyle/>
          <a:p>
            <a:pPr>
              <a:spcAft>
                <a:spcPts val="500"/>
              </a:spcAft>
              <a:defRPr sz="2000" b="1">
                <a:solidFill>
                  <a:srgbClr val="15233B"/>
                </a:solidFill>
                <a:latin typeface="Aptos"/>
              </a:defRPr>
            </a:pPr>
            <a:r>
              <a:t>Deployment assets present</a:t>
            </a:r>
          </a:p>
        </p:txBody>
      </p:sp>
      <p:sp>
        <p:nvSpPr>
          <p:cNvPr id="21" name="TextBox 20"/>
          <p:cNvSpPr txBox="1"/>
          <p:nvPr/>
        </p:nvSpPr>
        <p:spPr>
          <a:xfrm>
            <a:off x="685800" y="4233672"/>
            <a:ext cx="5065776" cy="1371600"/>
          </a:xfrm>
          <a:prstGeom prst="rect">
            <a:avLst/>
          </a:prstGeom>
          <a:noFill/>
        </p:spPr>
        <p:txBody>
          <a:bodyPr wrap="square" lIns="13716" rIns="13716" tIns="0" bIns="0">
            <a:spAutoFit/>
          </a:bodyPr>
          <a:lstStyle/>
          <a:p>
            <a:pPr>
              <a:spcAft>
                <a:spcPts val="500"/>
              </a:spcAft>
              <a:defRPr sz="1500" b="0">
                <a:solidFill>
                  <a:srgbClr val="586980"/>
                </a:solidFill>
                <a:latin typeface="Aptos"/>
              </a:defRPr>
            </a:pPr>
            <a:r>
              <a:t>INT8 / INT16 bitstreams and XSA exports</a:t>
            </a:r>
          </a:p>
          <a:p>
            <a:pPr>
              <a:spcAft>
                <a:spcPts val="500"/>
              </a:spcAft>
              <a:defRPr sz="1500" b="0">
                <a:solidFill>
                  <a:srgbClr val="586980"/>
                </a:solidFill>
                <a:latin typeface="Aptos"/>
              </a:defRPr>
            </a:pPr>
            <a:r>
              <a:t>Cortex-A53 baremetal ELF binaries</a:t>
            </a:r>
          </a:p>
          <a:p>
            <a:pPr>
              <a:spcAft>
                <a:spcPts val="500"/>
              </a:spcAft>
              <a:defRPr sz="1500" b="0">
                <a:solidFill>
                  <a:srgbClr val="586980"/>
                </a:solidFill>
                <a:latin typeface="Aptos"/>
              </a:defRPr>
            </a:pPr>
            <a:r>
              <a:t>JTAG / XSDB scripts and UART tooling</a:t>
            </a:r>
          </a:p>
        </p:txBody>
      </p:sp>
      <p:sp>
        <p:nvSpPr>
          <p:cNvPr id="22" name="Rounded Rectangle 21"/>
          <p:cNvSpPr/>
          <p:nvPr/>
        </p:nvSpPr>
        <p:spPr>
          <a:xfrm>
            <a:off x="6227064" y="3456432"/>
            <a:ext cx="5449824" cy="22402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7064" y="3456432"/>
            <a:ext cx="41148" cy="2240280"/>
          </a:xfrm>
          <a:prstGeom prst="rect">
            <a:avLst/>
          </a:prstGeom>
          <a:solidFill>
            <a:srgbClr val="FFC6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9944" y="3621024"/>
            <a:ext cx="5084064" cy="457200"/>
          </a:xfrm>
          <a:prstGeom prst="rect">
            <a:avLst/>
          </a:prstGeom>
          <a:noFill/>
        </p:spPr>
        <p:txBody>
          <a:bodyPr wrap="square" lIns="13716" rIns="13716" tIns="0" bIns="0">
            <a:spAutoFit/>
          </a:bodyPr>
          <a:lstStyle/>
          <a:p>
            <a:pPr>
              <a:spcAft>
                <a:spcPts val="500"/>
              </a:spcAft>
              <a:defRPr sz="2000" b="1">
                <a:solidFill>
                  <a:srgbClr val="15233B"/>
                </a:solidFill>
                <a:latin typeface="Aptos"/>
              </a:defRPr>
            </a:pPr>
            <a:r>
              <a:t>Next board acceptance criteria</a:t>
            </a:r>
          </a:p>
        </p:txBody>
      </p:sp>
      <p:sp>
        <p:nvSpPr>
          <p:cNvPr id="25" name="TextBox 24"/>
          <p:cNvSpPr txBox="1"/>
          <p:nvPr/>
        </p:nvSpPr>
        <p:spPr>
          <a:xfrm>
            <a:off x="6409944" y="4233672"/>
            <a:ext cx="5084064" cy="1371600"/>
          </a:xfrm>
          <a:prstGeom prst="rect">
            <a:avLst/>
          </a:prstGeom>
          <a:noFill/>
        </p:spPr>
        <p:txBody>
          <a:bodyPr wrap="square" lIns="13716" rIns="13716" tIns="0" bIns="0">
            <a:spAutoFit/>
          </a:bodyPr>
          <a:lstStyle/>
          <a:p>
            <a:pPr>
              <a:spcAft>
                <a:spcPts val="500"/>
              </a:spcAft>
              <a:defRPr sz="1500" b="0">
                <a:solidFill>
                  <a:srgbClr val="586980"/>
                </a:solidFill>
                <a:latin typeface="Aptos"/>
              </a:defRPr>
            </a:pPr>
            <a:r>
              <a:t>Align bitstream, model assets and microcode</a:t>
            </a:r>
          </a:p>
          <a:p>
            <a:pPr>
              <a:spcAft>
                <a:spcPts val="500"/>
              </a:spcAft>
              <a:defRPr sz="1500" b="0">
                <a:solidFill>
                  <a:srgbClr val="586980"/>
                </a:solidFill>
                <a:latin typeface="Aptos"/>
              </a:defRPr>
            </a:pPr>
            <a:r>
              <a:t>Match board logits to the fixed-point reference</a:t>
            </a:r>
          </a:p>
          <a:p>
            <a:pPr>
              <a:spcAft>
                <a:spcPts val="500"/>
              </a:spcAft>
              <a:defRPr sz="1500" b="0">
                <a:solidFill>
                  <a:srgbClr val="586980"/>
                </a:solidFill>
                <a:latin typeface="Aptos"/>
              </a:defRPr>
            </a:pPr>
            <a:r>
              <a:t>Capture all four models with latency and top-k</a:t>
            </a:r>
          </a:p>
        </p:txBody>
      </p:sp>
      <p:sp>
        <p:nvSpPr>
          <p:cNvPr id="26" name="TextBox 25"/>
          <p:cNvSpPr txBox="1"/>
          <p:nvPr/>
        </p:nvSpPr>
        <p:spPr>
          <a:xfrm>
            <a:off x="594360" y="5980176"/>
            <a:ext cx="10972800" cy="292608"/>
          </a:xfrm>
          <a:prstGeom prst="rect">
            <a:avLst/>
          </a:prstGeom>
          <a:noFill/>
        </p:spPr>
        <p:txBody>
          <a:bodyPr wrap="square" lIns="13716" rIns="13716" tIns="0" bIns="0">
            <a:spAutoFit/>
          </a:bodyPr>
          <a:lstStyle/>
          <a:p>
            <a:pPr>
              <a:spcAft>
                <a:spcPts val="500"/>
              </a:spcAft>
              <a:defRPr sz="1400" b="0">
                <a:solidFill>
                  <a:srgbClr val="586980"/>
                </a:solidFill>
                <a:latin typeface="Aptos"/>
              </a:defRPr>
            </a:pPr>
            <a:r>
              <a:t>The board capture and simulation results are separate recorded runs with different cycle counts and outputs.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224"/>
        </a:solidFill>
        <a:effectLst/>
      </p:bgPr>
    </p:bg>
    <p:spTree>
      <p:nvGrpSpPr>
        <p:cNvPr id="1" name=""/>
        <p:cNvGrpSpPr/>
        <p:nvPr/>
      </p:nvGrpSpPr>
      <p:grpSpPr/>
      <p:sp>
        <p:nvSpPr>
          <p:cNvPr id="2" name="TextBox 1"/>
          <p:cNvSpPr txBox="1"/>
          <p:nvPr/>
        </p:nvSpPr>
        <p:spPr>
          <a:xfrm>
            <a:off x="502920" y="274320"/>
            <a:ext cx="9144000" cy="210312"/>
          </a:xfrm>
          <a:prstGeom prst="rect">
            <a:avLst/>
          </a:prstGeom>
          <a:noFill/>
        </p:spPr>
        <p:txBody>
          <a:bodyPr wrap="square" lIns="13716" rIns="13716" tIns="0" bIns="0">
            <a:spAutoFit/>
          </a:bodyPr>
          <a:lstStyle/>
          <a:p>
            <a:pPr>
              <a:spcAft>
                <a:spcPts val="500"/>
              </a:spcAft>
              <a:defRPr sz="1000" b="1">
                <a:solidFill>
                  <a:srgbClr val="35DFC3"/>
                </a:solidFill>
                <a:latin typeface="Aptos"/>
              </a:defRPr>
            </a:pPr>
            <a:r>
              <a:t>DESIGN EVOLUTION</a:t>
            </a:r>
          </a:p>
        </p:txBody>
      </p:sp>
      <p:sp>
        <p:nvSpPr>
          <p:cNvPr id="3" name="TextBox 2"/>
          <p:cNvSpPr txBox="1"/>
          <p:nvPr/>
        </p:nvSpPr>
        <p:spPr>
          <a:xfrm>
            <a:off x="502920" y="713232"/>
            <a:ext cx="11155680" cy="640080"/>
          </a:xfrm>
          <a:prstGeom prst="rect">
            <a:avLst/>
          </a:prstGeom>
          <a:noFill/>
        </p:spPr>
        <p:txBody>
          <a:bodyPr wrap="square" lIns="13716" rIns="13716" tIns="0" bIns="0">
            <a:spAutoFit/>
          </a:bodyPr>
          <a:lstStyle/>
          <a:p>
            <a:pPr>
              <a:spcAft>
                <a:spcPts val="500"/>
              </a:spcAft>
              <a:defRPr sz="3000" b="1">
                <a:solidFill>
                  <a:srgbClr val="FFFFFF"/>
                </a:solidFill>
                <a:latin typeface="Aptos Display"/>
              </a:defRPr>
            </a:pPr>
            <a:r>
              <a:t>The next revision targets timing and data movement</a:t>
            </a:r>
          </a:p>
        </p:txBody>
      </p:sp>
      <p:sp>
        <p:nvSpPr>
          <p:cNvPr id="4" name="TextBox 3"/>
          <p:cNvSpPr txBox="1"/>
          <p:nvPr/>
        </p:nvSpPr>
        <p:spPr>
          <a:xfrm>
            <a:off x="512064" y="1426464"/>
            <a:ext cx="11109960" cy="502920"/>
          </a:xfrm>
          <a:prstGeom prst="rect">
            <a:avLst/>
          </a:prstGeom>
          <a:noFill/>
        </p:spPr>
        <p:txBody>
          <a:bodyPr wrap="square" lIns="13716" rIns="13716" tIns="0" bIns="0">
            <a:spAutoFit/>
          </a:bodyPr>
          <a:lstStyle/>
          <a:p>
            <a:pPr>
              <a:spcAft>
                <a:spcPts val="500"/>
              </a:spcAft>
              <a:defRPr sz="1400" b="0">
                <a:solidFill>
                  <a:srgbClr val="A8B7CF"/>
                </a:solidFill>
                <a:latin typeface="Aptos"/>
              </a:defRPr>
            </a:pPr>
            <a:r>
              <a:t>The V4 documents describe useful optimizations; their performance figures remain targets for verification.</a:t>
            </a:r>
          </a:p>
        </p:txBody>
      </p:sp>
      <p:sp>
        <p:nvSpPr>
          <p:cNvPr id="5" name="Rectangle 4"/>
          <p:cNvSpPr/>
          <p:nvPr/>
        </p:nvSpPr>
        <p:spPr>
          <a:xfrm>
            <a:off x="502920" y="6455664"/>
            <a:ext cx="11183112" cy="10972"/>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3657600" cy="155448"/>
          </a:xfrm>
          <a:prstGeom prst="rect">
            <a:avLst/>
          </a:prstGeom>
          <a:noFill/>
        </p:spPr>
        <p:txBody>
          <a:bodyPr wrap="square" lIns="13716" rIns="13716" tIns="0" bIns="0">
            <a:spAutoFit/>
          </a:bodyPr>
          <a:lstStyle/>
          <a:p>
            <a:pPr>
              <a:spcAft>
                <a:spcPts val="500"/>
              </a:spcAft>
              <a:defRPr sz="800" b="1">
                <a:solidFill>
                  <a:srgbClr val="A8B7CF"/>
                </a:solidFill>
                <a:latin typeface="Aptos"/>
              </a:defRPr>
            </a:pPr>
            <a:r>
              <a:t>UNIFIED C-ENGINE  /  ZCU106</a:t>
            </a:r>
          </a:p>
        </p:txBody>
      </p:sp>
      <p:sp>
        <p:nvSpPr>
          <p:cNvPr id="7" name="TextBox 6"/>
          <p:cNvSpPr txBox="1"/>
          <p:nvPr/>
        </p:nvSpPr>
        <p:spPr>
          <a:xfrm>
            <a:off x="3657600" y="6556248"/>
            <a:ext cx="6949440" cy="182880"/>
          </a:xfrm>
          <a:prstGeom prst="rect">
            <a:avLst/>
          </a:prstGeom>
          <a:noFill/>
        </p:spPr>
        <p:txBody>
          <a:bodyPr wrap="square" lIns="13716" rIns="13716" tIns="0" bIns="0">
            <a:spAutoFit/>
          </a:bodyPr>
          <a:lstStyle/>
          <a:p>
            <a:pPr algn="r">
              <a:spcAft>
                <a:spcPts val="500"/>
              </a:spcAft>
              <a:defRPr sz="800" b="0">
                <a:solidFill>
                  <a:srgbClr val="A8B7CF"/>
                </a:solidFill>
                <a:latin typeface="Aptos"/>
              </a:defRPr>
            </a:pPr>
            <a:r>
              <a:t>rtl/c_engine_controller.v • doc/PROJECT_REPORT_V4.md • raw reports</a:t>
            </a:r>
          </a:p>
        </p:txBody>
      </p:sp>
      <p:sp>
        <p:nvSpPr>
          <p:cNvPr id="8" name="TextBox 7"/>
          <p:cNvSpPr txBox="1"/>
          <p:nvPr/>
        </p:nvSpPr>
        <p:spPr>
          <a:xfrm>
            <a:off x="10927080" y="6547104"/>
            <a:ext cx="731520" cy="201168"/>
          </a:xfrm>
          <a:prstGeom prst="rect">
            <a:avLst/>
          </a:prstGeom>
          <a:noFill/>
        </p:spPr>
        <p:txBody>
          <a:bodyPr wrap="square" lIns="13716" rIns="13716" tIns="0" bIns="0">
            <a:spAutoFit/>
          </a:bodyPr>
          <a:lstStyle/>
          <a:p>
            <a:pPr algn="r">
              <a:spcAft>
                <a:spcPts val="500"/>
              </a:spcAft>
              <a:defRPr sz="900" b="0">
                <a:solidFill>
                  <a:srgbClr val="35DFC3"/>
                </a:solidFill>
                <a:latin typeface="Aptos"/>
              </a:defRPr>
            </a:pPr>
            <a:r>
              <a:t>14 / 17</a:t>
            </a:r>
          </a:p>
        </p:txBody>
      </p:sp>
      <p:sp>
        <p:nvSpPr>
          <p:cNvPr id="9" name="Rounded Rectangle 8"/>
          <p:cNvSpPr/>
          <p:nvPr/>
        </p:nvSpPr>
        <p:spPr>
          <a:xfrm>
            <a:off x="502920" y="2075688"/>
            <a:ext cx="3529584" cy="2313432"/>
          </a:xfrm>
          <a:prstGeom prst="roundRect">
            <a:avLst>
              <a:gd name="adj" fmla="val 12000"/>
            </a:avLst>
          </a:prstGeom>
          <a:solidFill>
            <a:srgbClr val="1421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2075688"/>
            <a:ext cx="41148" cy="2313432"/>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240280"/>
            <a:ext cx="3163824" cy="457200"/>
          </a:xfrm>
          <a:prstGeom prst="rect">
            <a:avLst/>
          </a:prstGeom>
          <a:noFill/>
        </p:spPr>
        <p:txBody>
          <a:bodyPr wrap="square" lIns="13716" rIns="13716" tIns="0" bIns="0">
            <a:spAutoFit/>
          </a:bodyPr>
          <a:lstStyle/>
          <a:p>
            <a:pPr>
              <a:spcAft>
                <a:spcPts val="500"/>
              </a:spcAft>
              <a:defRPr sz="2000" b="1">
                <a:solidFill>
                  <a:srgbClr val="FFFFFF"/>
                </a:solidFill>
                <a:latin typeface="Aptos"/>
              </a:defRPr>
            </a:pPr>
            <a:r>
              <a:t>Present in RTL</a:t>
            </a:r>
          </a:p>
        </p:txBody>
      </p:sp>
      <p:sp>
        <p:nvSpPr>
          <p:cNvPr id="12" name="TextBox 11"/>
          <p:cNvSpPr txBox="1"/>
          <p:nvPr/>
        </p:nvSpPr>
        <p:spPr>
          <a:xfrm>
            <a:off x="685800" y="2852928"/>
            <a:ext cx="3163824" cy="1444751"/>
          </a:xfrm>
          <a:prstGeom prst="rect">
            <a:avLst/>
          </a:prstGeom>
          <a:noFill/>
        </p:spPr>
        <p:txBody>
          <a:bodyPr wrap="square" lIns="13716" rIns="13716" tIns="0" bIns="0">
            <a:spAutoFit/>
          </a:bodyPr>
          <a:lstStyle/>
          <a:p>
            <a:pPr>
              <a:spcAft>
                <a:spcPts val="500"/>
              </a:spcAft>
              <a:defRPr sz="1500" b="0">
                <a:solidFill>
                  <a:srgbClr val="A8B7CF"/>
                </a:solidFill>
                <a:latin typeface="Aptos"/>
              </a:defRPr>
            </a:pPr>
            <a:r>
              <a:t>Two-stage GAP reduction</a:t>
            </a:r>
          </a:p>
          <a:p>
            <a:pPr>
              <a:spcAft>
                <a:spcPts val="500"/>
              </a:spcAft>
              <a:defRPr sz="1500" b="0">
                <a:solidFill>
                  <a:srgbClr val="A8B7CF"/>
                </a:solidFill>
                <a:latin typeface="Aptos"/>
              </a:defRPr>
            </a:pPr>
            <a:r>
              <a:t>Eight registered partial sums</a:t>
            </a:r>
          </a:p>
          <a:p>
            <a:pPr>
              <a:spcAft>
                <a:spcPts val="500"/>
              </a:spcAft>
              <a:defRPr sz="1500" b="0">
                <a:solidFill>
                  <a:srgbClr val="A8B7CF"/>
                </a:solidFill>
                <a:latin typeface="Aptos"/>
              </a:defRPr>
            </a:pPr>
            <a:r>
              <a:t>Final sum and normalization</a:t>
            </a:r>
          </a:p>
        </p:txBody>
      </p:sp>
      <p:sp>
        <p:nvSpPr>
          <p:cNvPr id="13" name="Rounded Rectangle 12"/>
          <p:cNvSpPr/>
          <p:nvPr/>
        </p:nvSpPr>
        <p:spPr>
          <a:xfrm>
            <a:off x="4325112" y="2075688"/>
            <a:ext cx="3529584" cy="2313432"/>
          </a:xfrm>
          <a:prstGeom prst="roundRect">
            <a:avLst>
              <a:gd name="adj" fmla="val 12000"/>
            </a:avLst>
          </a:prstGeom>
          <a:solidFill>
            <a:srgbClr val="1421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5112" y="2075688"/>
            <a:ext cx="41148" cy="2313432"/>
          </a:xfrm>
          <a:prstGeom prst="rect">
            <a:avLst/>
          </a:prstGeom>
          <a:solidFill>
            <a:srgbClr val="6B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07992" y="2240280"/>
            <a:ext cx="3163824" cy="457200"/>
          </a:xfrm>
          <a:prstGeom prst="rect">
            <a:avLst/>
          </a:prstGeom>
          <a:noFill/>
        </p:spPr>
        <p:txBody>
          <a:bodyPr wrap="square" lIns="13716" rIns="13716" tIns="0" bIns="0">
            <a:spAutoFit/>
          </a:bodyPr>
          <a:lstStyle/>
          <a:p>
            <a:pPr>
              <a:spcAft>
                <a:spcPts val="500"/>
              </a:spcAft>
              <a:defRPr sz="2000" b="1">
                <a:solidFill>
                  <a:srgbClr val="FFFFFF"/>
                </a:solidFill>
                <a:latin typeface="Aptos"/>
              </a:defRPr>
            </a:pPr>
            <a:r>
              <a:t>Proposed memory flow</a:t>
            </a:r>
          </a:p>
        </p:txBody>
      </p:sp>
      <p:sp>
        <p:nvSpPr>
          <p:cNvPr id="16" name="TextBox 15"/>
          <p:cNvSpPr txBox="1"/>
          <p:nvPr/>
        </p:nvSpPr>
        <p:spPr>
          <a:xfrm>
            <a:off x="4507992" y="2852928"/>
            <a:ext cx="3163824" cy="1444751"/>
          </a:xfrm>
          <a:prstGeom prst="rect">
            <a:avLst/>
          </a:prstGeom>
          <a:noFill/>
        </p:spPr>
        <p:txBody>
          <a:bodyPr wrap="square" lIns="13716" rIns="13716" tIns="0" bIns="0">
            <a:spAutoFit/>
          </a:bodyPr>
          <a:lstStyle/>
          <a:p>
            <a:pPr>
              <a:spcAft>
                <a:spcPts val="500"/>
              </a:spcAft>
              <a:defRPr sz="1500" b="0">
                <a:solidFill>
                  <a:srgbClr val="A8B7CF"/>
                </a:solidFill>
                <a:latin typeface="Aptos"/>
              </a:defRPr>
            </a:pPr>
            <a:r>
              <a:t>Ping-pong activation buffers</a:t>
            </a:r>
          </a:p>
          <a:p>
            <a:pPr>
              <a:spcAft>
                <a:spcPts val="500"/>
              </a:spcAft>
              <a:defRPr sz="1500" b="0">
                <a:solidFill>
                  <a:srgbClr val="A8B7CF"/>
                </a:solidFill>
                <a:latin typeface="Aptos"/>
              </a:defRPr>
            </a:pPr>
            <a:r>
              <a:t>Weight prefetch and overlap</a:t>
            </a:r>
          </a:p>
          <a:p>
            <a:pPr>
              <a:spcAft>
                <a:spcPts val="500"/>
              </a:spcAft>
              <a:defRPr sz="1500" b="0">
                <a:solidFill>
                  <a:srgbClr val="A8B7CF"/>
                </a:solidFill>
                <a:latin typeface="Aptos"/>
              </a:defRPr>
            </a:pPr>
            <a:r>
              <a:t>Capacity-safe layer schedules</a:t>
            </a:r>
          </a:p>
        </p:txBody>
      </p:sp>
      <p:sp>
        <p:nvSpPr>
          <p:cNvPr id="17" name="Rounded Rectangle 16"/>
          <p:cNvSpPr/>
          <p:nvPr/>
        </p:nvSpPr>
        <p:spPr>
          <a:xfrm>
            <a:off x="8147304" y="2075688"/>
            <a:ext cx="3529584" cy="2313432"/>
          </a:xfrm>
          <a:prstGeom prst="roundRect">
            <a:avLst>
              <a:gd name="adj" fmla="val 12000"/>
            </a:avLst>
          </a:prstGeom>
          <a:solidFill>
            <a:srgbClr val="1421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47304" y="2075688"/>
            <a:ext cx="41148" cy="2313432"/>
          </a:xfrm>
          <a:prstGeom prst="rect">
            <a:avLst/>
          </a:prstGeom>
          <a:solidFill>
            <a:srgbClr val="FFC6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30183" y="2240280"/>
            <a:ext cx="3163824" cy="457200"/>
          </a:xfrm>
          <a:prstGeom prst="rect">
            <a:avLst/>
          </a:prstGeom>
          <a:noFill/>
        </p:spPr>
        <p:txBody>
          <a:bodyPr wrap="square" lIns="13716" rIns="13716" tIns="0" bIns="0">
            <a:spAutoFit/>
          </a:bodyPr>
          <a:lstStyle/>
          <a:p>
            <a:pPr>
              <a:spcAft>
                <a:spcPts val="500"/>
              </a:spcAft>
              <a:defRPr sz="2000" b="1">
                <a:solidFill>
                  <a:srgbClr val="FFFFFF"/>
                </a:solidFill>
                <a:latin typeface="Aptos"/>
              </a:defRPr>
            </a:pPr>
            <a:r>
              <a:t>Documented targets</a:t>
            </a:r>
          </a:p>
        </p:txBody>
      </p:sp>
      <p:sp>
        <p:nvSpPr>
          <p:cNvPr id="20" name="TextBox 19"/>
          <p:cNvSpPr txBox="1"/>
          <p:nvPr/>
        </p:nvSpPr>
        <p:spPr>
          <a:xfrm>
            <a:off x="8330183" y="2852928"/>
            <a:ext cx="3163824" cy="1444751"/>
          </a:xfrm>
          <a:prstGeom prst="rect">
            <a:avLst/>
          </a:prstGeom>
          <a:noFill/>
        </p:spPr>
        <p:txBody>
          <a:bodyPr wrap="square" lIns="13716" rIns="13716" tIns="0" bIns="0">
            <a:spAutoFit/>
          </a:bodyPr>
          <a:lstStyle/>
          <a:p>
            <a:pPr>
              <a:spcAft>
                <a:spcPts val="500"/>
              </a:spcAft>
              <a:defRPr sz="1500" b="0">
                <a:solidFill>
                  <a:srgbClr val="A8B7CF"/>
                </a:solidFill>
                <a:latin typeface="Aptos"/>
              </a:defRPr>
            </a:pPr>
            <a:r>
              <a:t>100 MHz / 51.2 GOP/s peak</a:t>
            </a:r>
          </a:p>
          <a:p>
            <a:pPr>
              <a:spcAft>
                <a:spcPts val="500"/>
              </a:spcAft>
              <a:defRPr sz="1500" b="0">
                <a:solidFill>
                  <a:srgbClr val="A8B7CF"/>
                </a:solidFill>
                <a:latin typeface="Aptos"/>
              </a:defRPr>
            </a:pPr>
            <a:r>
              <a:t>~204 ms ResNet-50 budget</a:t>
            </a:r>
          </a:p>
          <a:p>
            <a:pPr>
              <a:spcAft>
                <a:spcPts val="500"/>
              </a:spcAft>
              <a:defRPr sz="1500" b="0">
                <a:solidFill>
                  <a:srgbClr val="A8B7CF"/>
                </a:solidFill>
                <a:latin typeface="Aptos"/>
              </a:defRPr>
            </a:pPr>
            <a:r>
              <a:t>~4.90 FPS target</a:t>
            </a:r>
          </a:p>
        </p:txBody>
      </p:sp>
      <p:sp>
        <p:nvSpPr>
          <p:cNvPr id="21" name="Rounded Rectangle 20"/>
          <p:cNvSpPr/>
          <p:nvPr/>
        </p:nvSpPr>
        <p:spPr>
          <a:xfrm>
            <a:off x="502920" y="4727448"/>
            <a:ext cx="11173968" cy="1152144"/>
          </a:xfrm>
          <a:prstGeom prst="roundRect">
            <a:avLst>
              <a:gd name="adj" fmla="val 12000"/>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928616"/>
            <a:ext cx="10698480" cy="393192"/>
          </a:xfrm>
          <a:prstGeom prst="rect">
            <a:avLst/>
          </a:prstGeom>
          <a:noFill/>
        </p:spPr>
        <p:txBody>
          <a:bodyPr wrap="square" lIns="13716" rIns="13716" tIns="0" bIns="0">
            <a:spAutoFit/>
          </a:bodyPr>
          <a:lstStyle/>
          <a:p>
            <a:pPr>
              <a:spcAft>
                <a:spcPts val="500"/>
              </a:spcAft>
              <a:defRPr sz="2200" b="1">
                <a:solidFill>
                  <a:srgbClr val="FFFFFF"/>
                </a:solidFill>
                <a:latin typeface="Aptos"/>
              </a:defRPr>
            </a:pPr>
            <a:r>
              <a:t>Evidence needed to close V4</a:t>
            </a:r>
          </a:p>
        </p:txBody>
      </p:sp>
      <p:sp>
        <p:nvSpPr>
          <p:cNvPr id="23" name="TextBox 22"/>
          <p:cNvSpPr txBox="1"/>
          <p:nvPr/>
        </p:nvSpPr>
        <p:spPr>
          <a:xfrm>
            <a:off x="731520" y="5477256"/>
            <a:ext cx="10561320" cy="329184"/>
          </a:xfrm>
          <a:prstGeom prst="rect">
            <a:avLst/>
          </a:prstGeom>
          <a:noFill/>
        </p:spPr>
        <p:txBody>
          <a:bodyPr wrap="square" lIns="13716" rIns="13716" tIns="0" bIns="0">
            <a:spAutoFit/>
          </a:bodyPr>
          <a:lstStyle/>
          <a:p>
            <a:pPr>
              <a:spcAft>
                <a:spcPts val="500"/>
              </a:spcAft>
              <a:defRPr sz="1600" b="0">
                <a:solidFill>
                  <a:srgbClr val="A8B7CF"/>
                </a:solidFill>
                <a:latin typeface="Aptos"/>
              </a:defRPr>
            </a:pPr>
            <a:r>
              <a:t>A matching 100 MHz routed export, completed full-network runs, and board measurements from the same revision.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6FA"/>
        </a:solidFill>
        <a:effectLst/>
      </p:bgPr>
    </p:bg>
    <p:spTree>
      <p:nvGrpSpPr>
        <p:cNvPr id="1" name=""/>
        <p:cNvGrpSpPr/>
        <p:nvPr/>
      </p:nvGrpSpPr>
      <p:grpSpPr/>
      <p:sp>
        <p:nvSpPr>
          <p:cNvPr id="2" name="TextBox 1"/>
          <p:cNvSpPr txBox="1"/>
          <p:nvPr/>
        </p:nvSpPr>
        <p:spPr>
          <a:xfrm>
            <a:off x="502920" y="274320"/>
            <a:ext cx="9144000" cy="210312"/>
          </a:xfrm>
          <a:prstGeom prst="rect">
            <a:avLst/>
          </a:prstGeom>
          <a:noFill/>
        </p:spPr>
        <p:txBody>
          <a:bodyPr wrap="square" lIns="13716" rIns="13716" tIns="0" bIns="0">
            <a:spAutoFit/>
          </a:bodyPr>
          <a:lstStyle/>
          <a:p>
            <a:pPr>
              <a:spcAft>
                <a:spcPts val="500"/>
              </a:spcAft>
              <a:defRPr sz="1000" b="1">
                <a:solidFill>
                  <a:srgbClr val="586980"/>
                </a:solidFill>
                <a:latin typeface="Aptos"/>
              </a:defRPr>
            </a:pPr>
            <a:r>
              <a:t>DELIVERY + REPRODUCTION</a:t>
            </a:r>
          </a:p>
        </p:txBody>
      </p:sp>
      <p:sp>
        <p:nvSpPr>
          <p:cNvPr id="3" name="TextBox 2"/>
          <p:cNvSpPr txBox="1"/>
          <p:nvPr/>
        </p:nvSpPr>
        <p:spPr>
          <a:xfrm>
            <a:off x="502920" y="713232"/>
            <a:ext cx="11155680" cy="640080"/>
          </a:xfrm>
          <a:prstGeom prst="rect">
            <a:avLst/>
          </a:prstGeom>
          <a:noFill/>
        </p:spPr>
        <p:txBody>
          <a:bodyPr wrap="square" lIns="13716" rIns="13716" tIns="0" bIns="0">
            <a:spAutoFit/>
          </a:bodyPr>
          <a:lstStyle/>
          <a:p>
            <a:pPr>
              <a:spcAft>
                <a:spcPts val="500"/>
              </a:spcAft>
              <a:defRPr sz="3000" b="1">
                <a:solidFill>
                  <a:srgbClr val="15233B"/>
                </a:solidFill>
                <a:latin typeface="Aptos Display"/>
              </a:defRPr>
            </a:pPr>
            <a:r>
              <a:t>A complete build-to-board toolchain is available</a:t>
            </a:r>
          </a:p>
        </p:txBody>
      </p:sp>
      <p:sp>
        <p:nvSpPr>
          <p:cNvPr id="4" name="TextBox 3"/>
          <p:cNvSpPr txBox="1"/>
          <p:nvPr/>
        </p:nvSpPr>
        <p:spPr>
          <a:xfrm>
            <a:off x="512064" y="1426464"/>
            <a:ext cx="11109960" cy="502920"/>
          </a:xfrm>
          <a:prstGeom prst="rect">
            <a:avLst/>
          </a:prstGeom>
          <a:noFill/>
        </p:spPr>
        <p:txBody>
          <a:bodyPr wrap="square" lIns="13716" rIns="13716" tIns="0" bIns="0">
            <a:spAutoFit/>
          </a:bodyPr>
          <a:lstStyle/>
          <a:p>
            <a:pPr>
              <a:spcAft>
                <a:spcPts val="500"/>
              </a:spcAft>
              <a:defRPr sz="1400" b="0">
                <a:solidFill>
                  <a:srgbClr val="586980"/>
                </a:solidFill>
                <a:latin typeface="Aptos"/>
              </a:defRPr>
            </a:pPr>
            <a:r>
              <a:t>Numbered scripts cover model preparation, FPGA implementation, simulation and deployment.</a:t>
            </a:r>
          </a:p>
        </p:txBody>
      </p:sp>
      <p:sp>
        <p:nvSpPr>
          <p:cNvPr id="5" name="Rectangle 4"/>
          <p:cNvSpPr/>
          <p:nvPr/>
        </p:nvSpPr>
        <p:spPr>
          <a:xfrm>
            <a:off x="502920" y="6455664"/>
            <a:ext cx="11183112" cy="10972"/>
          </a:xfrm>
          <a:prstGeom prst="rect">
            <a:avLst/>
          </a:prstGeom>
          <a:solidFill>
            <a:srgbClr val="DCE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3657600" cy="155448"/>
          </a:xfrm>
          <a:prstGeom prst="rect">
            <a:avLst/>
          </a:prstGeom>
          <a:noFill/>
        </p:spPr>
        <p:txBody>
          <a:bodyPr wrap="square" lIns="13716" rIns="13716" tIns="0" bIns="0">
            <a:spAutoFit/>
          </a:bodyPr>
          <a:lstStyle/>
          <a:p>
            <a:pPr>
              <a:spcAft>
                <a:spcPts val="500"/>
              </a:spcAft>
              <a:defRPr sz="800" b="1">
                <a:solidFill>
                  <a:srgbClr val="586980"/>
                </a:solidFill>
                <a:latin typeface="Aptos"/>
              </a:defRPr>
            </a:pPr>
            <a:r>
              <a:t>UNIFIED C-ENGINE  /  ZCU106</a:t>
            </a:r>
          </a:p>
        </p:txBody>
      </p:sp>
      <p:sp>
        <p:nvSpPr>
          <p:cNvPr id="7" name="TextBox 6"/>
          <p:cNvSpPr txBox="1"/>
          <p:nvPr/>
        </p:nvSpPr>
        <p:spPr>
          <a:xfrm>
            <a:off x="3657600" y="6556248"/>
            <a:ext cx="6949440" cy="182880"/>
          </a:xfrm>
          <a:prstGeom prst="rect">
            <a:avLst/>
          </a:prstGeom>
          <a:noFill/>
        </p:spPr>
        <p:txBody>
          <a:bodyPr wrap="square" lIns="13716" rIns="13716" tIns="0" bIns="0">
            <a:spAutoFit/>
          </a:bodyPr>
          <a:lstStyle/>
          <a:p>
            <a:pPr algn="r">
              <a:spcAft>
                <a:spcPts val="500"/>
              </a:spcAft>
              <a:defRPr sz="800" b="0">
                <a:solidFill>
                  <a:srgbClr val="586980"/>
                </a:solidFill>
                <a:latin typeface="Aptos"/>
              </a:defRPr>
            </a:pPr>
            <a:r>
              <a:t>scripts/02_compile_models.ps1 … 07_deploy_zcu106.ps1</a:t>
            </a:r>
          </a:p>
        </p:txBody>
      </p:sp>
      <p:sp>
        <p:nvSpPr>
          <p:cNvPr id="8" name="TextBox 7"/>
          <p:cNvSpPr txBox="1"/>
          <p:nvPr/>
        </p:nvSpPr>
        <p:spPr>
          <a:xfrm>
            <a:off x="10927080" y="6547104"/>
            <a:ext cx="731520" cy="201168"/>
          </a:xfrm>
          <a:prstGeom prst="rect">
            <a:avLst/>
          </a:prstGeom>
          <a:noFill/>
        </p:spPr>
        <p:txBody>
          <a:bodyPr wrap="square" lIns="13716" rIns="13716" tIns="0" bIns="0">
            <a:spAutoFit/>
          </a:bodyPr>
          <a:lstStyle/>
          <a:p>
            <a:pPr algn="r">
              <a:spcAft>
                <a:spcPts val="500"/>
              </a:spcAft>
              <a:defRPr sz="900" b="0">
                <a:solidFill>
                  <a:srgbClr val="586980"/>
                </a:solidFill>
                <a:latin typeface="Aptos"/>
              </a:defRPr>
            </a:pPr>
            <a:r>
              <a:t>15 / 17</a:t>
            </a:r>
          </a:p>
        </p:txBody>
      </p:sp>
      <p:sp>
        <p:nvSpPr>
          <p:cNvPr id="9" name="Rounded Rectangle 8"/>
          <p:cNvSpPr/>
          <p:nvPr/>
        </p:nvSpPr>
        <p:spPr>
          <a:xfrm>
            <a:off x="502920" y="2039112"/>
            <a:ext cx="3529584" cy="136245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2039112"/>
            <a:ext cx="41148" cy="1362456"/>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203704"/>
            <a:ext cx="3163824" cy="457200"/>
          </a:xfrm>
          <a:prstGeom prst="rect">
            <a:avLst/>
          </a:prstGeom>
          <a:noFill/>
        </p:spPr>
        <p:txBody>
          <a:bodyPr wrap="square" lIns="13716" rIns="13716" tIns="0" bIns="0">
            <a:spAutoFit/>
          </a:bodyPr>
          <a:lstStyle/>
          <a:p>
            <a:pPr>
              <a:spcAft>
                <a:spcPts val="500"/>
              </a:spcAft>
              <a:defRPr sz="1800" b="1">
                <a:solidFill>
                  <a:srgbClr val="15233B"/>
                </a:solidFill>
                <a:latin typeface="Aptos"/>
              </a:defRPr>
            </a:pPr>
            <a:r>
              <a:t>Compile models</a:t>
            </a:r>
          </a:p>
        </p:txBody>
      </p:sp>
      <p:sp>
        <p:nvSpPr>
          <p:cNvPr id="12" name="TextBox 11"/>
          <p:cNvSpPr txBox="1"/>
          <p:nvPr/>
        </p:nvSpPr>
        <p:spPr>
          <a:xfrm>
            <a:off x="685800" y="2651760"/>
            <a:ext cx="3163824" cy="704088"/>
          </a:xfrm>
          <a:prstGeom prst="rect">
            <a:avLst/>
          </a:prstGeom>
          <a:noFill/>
        </p:spPr>
        <p:txBody>
          <a:bodyPr wrap="square" lIns="13716" rIns="13716" tIns="0" bIns="0">
            <a:spAutoFit/>
          </a:bodyPr>
          <a:lstStyle/>
          <a:p>
            <a:pPr>
              <a:spcAft>
                <a:spcPts val="500"/>
              </a:spcAft>
              <a:defRPr sz="1300" b="0">
                <a:solidFill>
                  <a:srgbClr val="586980"/>
                </a:solidFill>
                <a:latin typeface="Aptos"/>
              </a:defRPr>
            </a:pPr>
            <a:r>
              <a:t>Weight binaries + microcode</a:t>
            </a:r>
          </a:p>
        </p:txBody>
      </p:sp>
      <p:sp>
        <p:nvSpPr>
          <p:cNvPr id="13" name="Rounded Rectangle 12"/>
          <p:cNvSpPr/>
          <p:nvPr/>
        </p:nvSpPr>
        <p:spPr>
          <a:xfrm>
            <a:off x="3383280" y="2221992"/>
            <a:ext cx="420624" cy="274320"/>
          </a:xfrm>
          <a:prstGeom prst="roundRect">
            <a:avLst>
              <a:gd name="adj" fmla="val 12000"/>
            </a:avLst>
          </a:prstGeom>
          <a:solidFill>
            <a:srgbClr val="E5E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74720" y="2258568"/>
            <a:ext cx="256032" cy="201168"/>
          </a:xfrm>
          <a:prstGeom prst="rect">
            <a:avLst/>
          </a:prstGeom>
          <a:noFill/>
        </p:spPr>
        <p:txBody>
          <a:bodyPr wrap="square" lIns="13716" rIns="13716" tIns="0" bIns="0">
            <a:spAutoFit/>
          </a:bodyPr>
          <a:lstStyle/>
          <a:p>
            <a:pPr>
              <a:spcAft>
                <a:spcPts val="500"/>
              </a:spcAft>
              <a:defRPr sz="1000" b="1">
                <a:solidFill>
                  <a:srgbClr val="35DFC3"/>
                </a:solidFill>
                <a:latin typeface="Aptos"/>
              </a:defRPr>
            </a:pPr>
            <a:r>
              <a:t>02</a:t>
            </a:r>
          </a:p>
        </p:txBody>
      </p:sp>
      <p:sp>
        <p:nvSpPr>
          <p:cNvPr id="15" name="Rounded Rectangle 14"/>
          <p:cNvSpPr/>
          <p:nvPr/>
        </p:nvSpPr>
        <p:spPr>
          <a:xfrm>
            <a:off x="4325112" y="2039112"/>
            <a:ext cx="3529584" cy="136245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25112" y="2039112"/>
            <a:ext cx="41148" cy="1362456"/>
          </a:xfrm>
          <a:prstGeom prst="rect">
            <a:avLst/>
          </a:prstGeom>
          <a:solidFill>
            <a:srgbClr val="6B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07992" y="2203704"/>
            <a:ext cx="3163824" cy="457200"/>
          </a:xfrm>
          <a:prstGeom prst="rect">
            <a:avLst/>
          </a:prstGeom>
          <a:noFill/>
        </p:spPr>
        <p:txBody>
          <a:bodyPr wrap="square" lIns="13716" rIns="13716" tIns="0" bIns="0">
            <a:spAutoFit/>
          </a:bodyPr>
          <a:lstStyle/>
          <a:p>
            <a:pPr>
              <a:spcAft>
                <a:spcPts val="500"/>
              </a:spcAft>
              <a:defRPr sz="1800" b="1">
                <a:solidFill>
                  <a:srgbClr val="15233B"/>
                </a:solidFill>
                <a:latin typeface="Aptos"/>
              </a:defRPr>
            </a:pPr>
            <a:r>
              <a:t>Package IP</a:t>
            </a:r>
          </a:p>
        </p:txBody>
      </p:sp>
      <p:sp>
        <p:nvSpPr>
          <p:cNvPr id="18" name="TextBox 17"/>
          <p:cNvSpPr txBox="1"/>
          <p:nvPr/>
        </p:nvSpPr>
        <p:spPr>
          <a:xfrm>
            <a:off x="4507992" y="2651760"/>
            <a:ext cx="3163824" cy="704088"/>
          </a:xfrm>
          <a:prstGeom prst="rect">
            <a:avLst/>
          </a:prstGeom>
          <a:noFill/>
        </p:spPr>
        <p:txBody>
          <a:bodyPr wrap="square" lIns="13716" rIns="13716" tIns="0" bIns="0">
            <a:spAutoFit/>
          </a:bodyPr>
          <a:lstStyle/>
          <a:p>
            <a:pPr>
              <a:spcAft>
                <a:spcPts val="500"/>
              </a:spcAft>
              <a:defRPr sz="1300" b="0">
                <a:solidFill>
                  <a:srgbClr val="586980"/>
                </a:solidFill>
                <a:latin typeface="Aptos"/>
              </a:defRPr>
            </a:pPr>
            <a:r>
              <a:t>Vivado accelerator IP</a:t>
            </a:r>
          </a:p>
        </p:txBody>
      </p:sp>
      <p:sp>
        <p:nvSpPr>
          <p:cNvPr id="19" name="Rounded Rectangle 18"/>
          <p:cNvSpPr/>
          <p:nvPr/>
        </p:nvSpPr>
        <p:spPr>
          <a:xfrm>
            <a:off x="7205471" y="2221992"/>
            <a:ext cx="420624" cy="274320"/>
          </a:xfrm>
          <a:prstGeom prst="roundRect">
            <a:avLst>
              <a:gd name="adj" fmla="val 12000"/>
            </a:avLst>
          </a:prstGeom>
          <a:solidFill>
            <a:srgbClr val="E5E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96911" y="2258568"/>
            <a:ext cx="256032" cy="201168"/>
          </a:xfrm>
          <a:prstGeom prst="rect">
            <a:avLst/>
          </a:prstGeom>
          <a:noFill/>
        </p:spPr>
        <p:txBody>
          <a:bodyPr wrap="square" lIns="13716" rIns="13716" tIns="0" bIns="0">
            <a:spAutoFit/>
          </a:bodyPr>
          <a:lstStyle/>
          <a:p>
            <a:pPr>
              <a:spcAft>
                <a:spcPts val="500"/>
              </a:spcAft>
              <a:defRPr sz="1000" b="1">
                <a:solidFill>
                  <a:srgbClr val="6BA6FF"/>
                </a:solidFill>
                <a:latin typeface="Aptos"/>
              </a:defRPr>
            </a:pPr>
            <a:r>
              <a:t>03</a:t>
            </a:r>
          </a:p>
        </p:txBody>
      </p:sp>
      <p:sp>
        <p:nvSpPr>
          <p:cNvPr id="21" name="Rounded Rectangle 20"/>
          <p:cNvSpPr/>
          <p:nvPr/>
        </p:nvSpPr>
        <p:spPr>
          <a:xfrm>
            <a:off x="8147304" y="2039112"/>
            <a:ext cx="3529584" cy="136245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47304" y="2039112"/>
            <a:ext cx="41148" cy="1362456"/>
          </a:xfrm>
          <a:prstGeom prst="rect">
            <a:avLst/>
          </a:prstGeom>
          <a:solidFill>
            <a:srgbClr val="A69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30183" y="2203704"/>
            <a:ext cx="3163824" cy="457200"/>
          </a:xfrm>
          <a:prstGeom prst="rect">
            <a:avLst/>
          </a:prstGeom>
          <a:noFill/>
        </p:spPr>
        <p:txBody>
          <a:bodyPr wrap="square" lIns="13716" rIns="13716" tIns="0" bIns="0">
            <a:spAutoFit/>
          </a:bodyPr>
          <a:lstStyle/>
          <a:p>
            <a:pPr>
              <a:spcAft>
                <a:spcPts val="500"/>
              </a:spcAft>
              <a:defRPr sz="1800" b="1">
                <a:solidFill>
                  <a:srgbClr val="15233B"/>
                </a:solidFill>
                <a:latin typeface="Aptos"/>
              </a:defRPr>
            </a:pPr>
            <a:r>
              <a:t>Build FPGA</a:t>
            </a:r>
          </a:p>
        </p:txBody>
      </p:sp>
      <p:sp>
        <p:nvSpPr>
          <p:cNvPr id="24" name="TextBox 23"/>
          <p:cNvSpPr txBox="1"/>
          <p:nvPr/>
        </p:nvSpPr>
        <p:spPr>
          <a:xfrm>
            <a:off x="8330183" y="2651760"/>
            <a:ext cx="3163824" cy="704088"/>
          </a:xfrm>
          <a:prstGeom prst="rect">
            <a:avLst/>
          </a:prstGeom>
          <a:noFill/>
        </p:spPr>
        <p:txBody>
          <a:bodyPr wrap="square" lIns="13716" rIns="13716" tIns="0" bIns="0">
            <a:spAutoFit/>
          </a:bodyPr>
          <a:lstStyle/>
          <a:p>
            <a:pPr>
              <a:spcAft>
                <a:spcPts val="500"/>
              </a:spcAft>
              <a:defRPr sz="1300" b="0">
                <a:solidFill>
                  <a:srgbClr val="586980"/>
                </a:solidFill>
                <a:latin typeface="Aptos"/>
              </a:defRPr>
            </a:pPr>
            <a:r>
              <a:t>Routed design + BIT / XSA</a:t>
            </a:r>
          </a:p>
        </p:txBody>
      </p:sp>
      <p:sp>
        <p:nvSpPr>
          <p:cNvPr id="25" name="Rounded Rectangle 24"/>
          <p:cNvSpPr/>
          <p:nvPr/>
        </p:nvSpPr>
        <p:spPr>
          <a:xfrm>
            <a:off x="11027664" y="2221992"/>
            <a:ext cx="420624" cy="274320"/>
          </a:xfrm>
          <a:prstGeom prst="roundRect">
            <a:avLst>
              <a:gd name="adj" fmla="val 12000"/>
            </a:avLst>
          </a:prstGeom>
          <a:solidFill>
            <a:srgbClr val="E5E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119104" y="2258568"/>
            <a:ext cx="256032" cy="201168"/>
          </a:xfrm>
          <a:prstGeom prst="rect">
            <a:avLst/>
          </a:prstGeom>
          <a:noFill/>
        </p:spPr>
        <p:txBody>
          <a:bodyPr wrap="square" lIns="13716" rIns="13716" tIns="0" bIns="0">
            <a:spAutoFit/>
          </a:bodyPr>
          <a:lstStyle/>
          <a:p>
            <a:pPr>
              <a:spcAft>
                <a:spcPts val="500"/>
              </a:spcAft>
              <a:defRPr sz="1000" b="1">
                <a:solidFill>
                  <a:srgbClr val="A69AFF"/>
                </a:solidFill>
                <a:latin typeface="Aptos"/>
              </a:defRPr>
            </a:pPr>
            <a:r>
              <a:t>04</a:t>
            </a:r>
          </a:p>
        </p:txBody>
      </p:sp>
      <p:sp>
        <p:nvSpPr>
          <p:cNvPr id="27" name="Rounded Rectangle 26"/>
          <p:cNvSpPr/>
          <p:nvPr/>
        </p:nvSpPr>
        <p:spPr>
          <a:xfrm>
            <a:off x="502920" y="3666744"/>
            <a:ext cx="3529584" cy="136245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02920" y="3666744"/>
            <a:ext cx="41148" cy="1362456"/>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3831335"/>
            <a:ext cx="3163824" cy="457200"/>
          </a:xfrm>
          <a:prstGeom prst="rect">
            <a:avLst/>
          </a:prstGeom>
          <a:noFill/>
        </p:spPr>
        <p:txBody>
          <a:bodyPr wrap="square" lIns="13716" rIns="13716" tIns="0" bIns="0">
            <a:spAutoFit/>
          </a:bodyPr>
          <a:lstStyle/>
          <a:p>
            <a:pPr>
              <a:spcAft>
                <a:spcPts val="500"/>
              </a:spcAft>
              <a:defRPr sz="1800" b="1">
                <a:solidFill>
                  <a:srgbClr val="15233B"/>
                </a:solidFill>
                <a:latin typeface="Aptos"/>
              </a:defRPr>
            </a:pPr>
            <a:r>
              <a:t>Build runtime</a:t>
            </a:r>
          </a:p>
        </p:txBody>
      </p:sp>
      <p:sp>
        <p:nvSpPr>
          <p:cNvPr id="30" name="TextBox 29"/>
          <p:cNvSpPr txBox="1"/>
          <p:nvPr/>
        </p:nvSpPr>
        <p:spPr>
          <a:xfrm>
            <a:off x="685800" y="4279392"/>
            <a:ext cx="3163824" cy="704088"/>
          </a:xfrm>
          <a:prstGeom prst="rect">
            <a:avLst/>
          </a:prstGeom>
          <a:noFill/>
        </p:spPr>
        <p:txBody>
          <a:bodyPr wrap="square" lIns="13716" rIns="13716" tIns="0" bIns="0">
            <a:spAutoFit/>
          </a:bodyPr>
          <a:lstStyle/>
          <a:p>
            <a:pPr>
              <a:spcAft>
                <a:spcPts val="500"/>
              </a:spcAft>
              <a:defRPr sz="1300" b="0">
                <a:solidFill>
                  <a:srgbClr val="586980"/>
                </a:solidFill>
                <a:latin typeface="Aptos"/>
              </a:defRPr>
            </a:pPr>
            <a:r>
              <a:t>Baremetal ELF binaries</a:t>
            </a:r>
          </a:p>
        </p:txBody>
      </p:sp>
      <p:sp>
        <p:nvSpPr>
          <p:cNvPr id="31" name="Rounded Rectangle 30"/>
          <p:cNvSpPr/>
          <p:nvPr/>
        </p:nvSpPr>
        <p:spPr>
          <a:xfrm>
            <a:off x="3383280" y="3849624"/>
            <a:ext cx="420624" cy="274320"/>
          </a:xfrm>
          <a:prstGeom prst="roundRect">
            <a:avLst>
              <a:gd name="adj" fmla="val 12000"/>
            </a:avLst>
          </a:prstGeom>
          <a:solidFill>
            <a:srgbClr val="E5E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474720" y="3886200"/>
            <a:ext cx="256032" cy="201168"/>
          </a:xfrm>
          <a:prstGeom prst="rect">
            <a:avLst/>
          </a:prstGeom>
          <a:noFill/>
        </p:spPr>
        <p:txBody>
          <a:bodyPr wrap="square" lIns="13716" rIns="13716" tIns="0" bIns="0">
            <a:spAutoFit/>
          </a:bodyPr>
          <a:lstStyle/>
          <a:p>
            <a:pPr>
              <a:spcAft>
                <a:spcPts val="500"/>
              </a:spcAft>
              <a:defRPr sz="1000" b="1">
                <a:solidFill>
                  <a:srgbClr val="35DFC3"/>
                </a:solidFill>
                <a:latin typeface="Aptos"/>
              </a:defRPr>
            </a:pPr>
            <a:r>
              <a:t>05</a:t>
            </a:r>
          </a:p>
        </p:txBody>
      </p:sp>
      <p:sp>
        <p:nvSpPr>
          <p:cNvPr id="33" name="Rounded Rectangle 32"/>
          <p:cNvSpPr/>
          <p:nvPr/>
        </p:nvSpPr>
        <p:spPr>
          <a:xfrm>
            <a:off x="4325112" y="3666744"/>
            <a:ext cx="3529584" cy="136245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325112" y="3666744"/>
            <a:ext cx="41148" cy="1362456"/>
          </a:xfrm>
          <a:prstGeom prst="rect">
            <a:avLst/>
          </a:prstGeom>
          <a:solidFill>
            <a:srgbClr val="6B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07992" y="3831335"/>
            <a:ext cx="3163824" cy="457200"/>
          </a:xfrm>
          <a:prstGeom prst="rect">
            <a:avLst/>
          </a:prstGeom>
          <a:noFill/>
        </p:spPr>
        <p:txBody>
          <a:bodyPr wrap="square" lIns="13716" rIns="13716" tIns="0" bIns="0">
            <a:spAutoFit/>
          </a:bodyPr>
          <a:lstStyle/>
          <a:p>
            <a:pPr>
              <a:spcAft>
                <a:spcPts val="500"/>
              </a:spcAft>
              <a:defRPr sz="1800" b="1">
                <a:solidFill>
                  <a:srgbClr val="15233B"/>
                </a:solidFill>
                <a:latin typeface="Aptos"/>
              </a:defRPr>
            </a:pPr>
            <a:r>
              <a:t>Simulate</a:t>
            </a:r>
          </a:p>
        </p:txBody>
      </p:sp>
      <p:sp>
        <p:nvSpPr>
          <p:cNvPr id="36" name="TextBox 35"/>
          <p:cNvSpPr txBox="1"/>
          <p:nvPr/>
        </p:nvSpPr>
        <p:spPr>
          <a:xfrm>
            <a:off x="4507992" y="4279392"/>
            <a:ext cx="3163824" cy="704088"/>
          </a:xfrm>
          <a:prstGeom prst="rect">
            <a:avLst/>
          </a:prstGeom>
          <a:noFill/>
        </p:spPr>
        <p:txBody>
          <a:bodyPr wrap="square" lIns="13716" rIns="13716" tIns="0" bIns="0">
            <a:spAutoFit/>
          </a:bodyPr>
          <a:lstStyle/>
          <a:p>
            <a:pPr>
              <a:spcAft>
                <a:spcPts val="500"/>
              </a:spcAft>
              <a:defRPr sz="1300" b="0">
                <a:solidFill>
                  <a:srgbClr val="586980"/>
                </a:solidFill>
                <a:latin typeface="Aptos"/>
              </a:defRPr>
            </a:pPr>
            <a:r>
              <a:t>XSim execution + predictions</a:t>
            </a:r>
          </a:p>
        </p:txBody>
      </p:sp>
      <p:sp>
        <p:nvSpPr>
          <p:cNvPr id="37" name="Rounded Rectangle 36"/>
          <p:cNvSpPr/>
          <p:nvPr/>
        </p:nvSpPr>
        <p:spPr>
          <a:xfrm>
            <a:off x="7205471" y="3849624"/>
            <a:ext cx="420624" cy="274320"/>
          </a:xfrm>
          <a:prstGeom prst="roundRect">
            <a:avLst>
              <a:gd name="adj" fmla="val 12000"/>
            </a:avLst>
          </a:prstGeom>
          <a:solidFill>
            <a:srgbClr val="E5E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296911" y="3886200"/>
            <a:ext cx="256032" cy="201168"/>
          </a:xfrm>
          <a:prstGeom prst="rect">
            <a:avLst/>
          </a:prstGeom>
          <a:noFill/>
        </p:spPr>
        <p:txBody>
          <a:bodyPr wrap="square" lIns="13716" rIns="13716" tIns="0" bIns="0">
            <a:spAutoFit/>
          </a:bodyPr>
          <a:lstStyle/>
          <a:p>
            <a:pPr>
              <a:spcAft>
                <a:spcPts val="500"/>
              </a:spcAft>
              <a:defRPr sz="1000" b="1">
                <a:solidFill>
                  <a:srgbClr val="6BA6FF"/>
                </a:solidFill>
                <a:latin typeface="Aptos"/>
              </a:defRPr>
            </a:pPr>
            <a:r>
              <a:t>06</a:t>
            </a:r>
          </a:p>
        </p:txBody>
      </p:sp>
      <p:sp>
        <p:nvSpPr>
          <p:cNvPr id="39" name="Rounded Rectangle 38"/>
          <p:cNvSpPr/>
          <p:nvPr/>
        </p:nvSpPr>
        <p:spPr>
          <a:xfrm>
            <a:off x="8147304" y="3666744"/>
            <a:ext cx="3529584" cy="136245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147304" y="3666744"/>
            <a:ext cx="41148" cy="1362456"/>
          </a:xfrm>
          <a:prstGeom prst="rect">
            <a:avLst/>
          </a:prstGeom>
          <a:solidFill>
            <a:srgbClr val="A69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30183" y="3831335"/>
            <a:ext cx="3163824" cy="457200"/>
          </a:xfrm>
          <a:prstGeom prst="rect">
            <a:avLst/>
          </a:prstGeom>
          <a:noFill/>
        </p:spPr>
        <p:txBody>
          <a:bodyPr wrap="square" lIns="13716" rIns="13716" tIns="0" bIns="0">
            <a:spAutoFit/>
          </a:bodyPr>
          <a:lstStyle/>
          <a:p>
            <a:pPr>
              <a:spcAft>
                <a:spcPts val="500"/>
              </a:spcAft>
              <a:defRPr sz="1800" b="1">
                <a:solidFill>
                  <a:srgbClr val="15233B"/>
                </a:solidFill>
                <a:latin typeface="Aptos"/>
              </a:defRPr>
            </a:pPr>
            <a:r>
              <a:t>Deploy</a:t>
            </a:r>
          </a:p>
        </p:txBody>
      </p:sp>
      <p:sp>
        <p:nvSpPr>
          <p:cNvPr id="42" name="TextBox 41"/>
          <p:cNvSpPr txBox="1"/>
          <p:nvPr/>
        </p:nvSpPr>
        <p:spPr>
          <a:xfrm>
            <a:off x="8330183" y="4279392"/>
            <a:ext cx="3163824" cy="704088"/>
          </a:xfrm>
          <a:prstGeom prst="rect">
            <a:avLst/>
          </a:prstGeom>
          <a:noFill/>
        </p:spPr>
        <p:txBody>
          <a:bodyPr wrap="square" lIns="13716" rIns="13716" tIns="0" bIns="0">
            <a:spAutoFit/>
          </a:bodyPr>
          <a:lstStyle/>
          <a:p>
            <a:pPr>
              <a:spcAft>
                <a:spcPts val="500"/>
              </a:spcAft>
              <a:defRPr sz="1300" b="0">
                <a:solidFill>
                  <a:srgbClr val="586980"/>
                </a:solidFill>
                <a:latin typeface="Aptos"/>
              </a:defRPr>
            </a:pPr>
            <a:r>
              <a:t>JTAG program + UART output</a:t>
            </a:r>
          </a:p>
        </p:txBody>
      </p:sp>
      <p:sp>
        <p:nvSpPr>
          <p:cNvPr id="43" name="Rounded Rectangle 42"/>
          <p:cNvSpPr/>
          <p:nvPr/>
        </p:nvSpPr>
        <p:spPr>
          <a:xfrm>
            <a:off x="11027664" y="3849624"/>
            <a:ext cx="420624" cy="274320"/>
          </a:xfrm>
          <a:prstGeom prst="roundRect">
            <a:avLst>
              <a:gd name="adj" fmla="val 12000"/>
            </a:avLst>
          </a:prstGeom>
          <a:solidFill>
            <a:srgbClr val="E5E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119104" y="3886200"/>
            <a:ext cx="256032" cy="201168"/>
          </a:xfrm>
          <a:prstGeom prst="rect">
            <a:avLst/>
          </a:prstGeom>
          <a:noFill/>
        </p:spPr>
        <p:txBody>
          <a:bodyPr wrap="square" lIns="13716" rIns="13716" tIns="0" bIns="0">
            <a:spAutoFit/>
          </a:bodyPr>
          <a:lstStyle/>
          <a:p>
            <a:pPr>
              <a:spcAft>
                <a:spcPts val="500"/>
              </a:spcAft>
              <a:defRPr sz="1000" b="1">
                <a:solidFill>
                  <a:srgbClr val="A69AFF"/>
                </a:solidFill>
                <a:latin typeface="Aptos"/>
              </a:defRPr>
            </a:pPr>
            <a:r>
              <a:t>07</a:t>
            </a:r>
          </a:p>
        </p:txBody>
      </p:sp>
      <p:sp>
        <p:nvSpPr>
          <p:cNvPr id="45" name="Rounded Rectangle 44"/>
          <p:cNvSpPr/>
          <p:nvPr/>
        </p:nvSpPr>
        <p:spPr>
          <a:xfrm>
            <a:off x="502920" y="5596128"/>
            <a:ext cx="11173968" cy="493776"/>
          </a:xfrm>
          <a:prstGeom prst="roundRect">
            <a:avLst>
              <a:gd name="adj" fmla="val 12000"/>
            </a:avLst>
          </a:prstGeom>
          <a:solidFill>
            <a:srgbClr val="0B12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04088" y="5733288"/>
            <a:ext cx="10789920" cy="246888"/>
          </a:xfrm>
          <a:prstGeom prst="rect">
            <a:avLst/>
          </a:prstGeom>
          <a:noFill/>
        </p:spPr>
        <p:txBody>
          <a:bodyPr wrap="square" lIns="13716" rIns="13716" tIns="0" bIns="0">
            <a:spAutoFit/>
          </a:bodyPr>
          <a:lstStyle/>
          <a:p>
            <a:pPr>
              <a:spcAft>
                <a:spcPts val="500"/>
              </a:spcAft>
              <a:defRPr sz="1300" b="0">
                <a:solidFill>
                  <a:srgbClr val="FFFFFF"/>
                </a:solidFill>
                <a:latin typeface="Consolas"/>
              </a:defRPr>
            </a:pPr>
            <a:r>
              <a:t>Example:  .\scripts\07_deploy_zcu106.ps1 -Model mnist -Precision 8bit -Image digit0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224"/>
        </a:solidFill>
        <a:effectLst/>
      </p:bgPr>
    </p:bg>
    <p:spTree>
      <p:nvGrpSpPr>
        <p:cNvPr id="1" name=""/>
        <p:cNvGrpSpPr/>
        <p:nvPr/>
      </p:nvGrpSpPr>
      <p:grpSpPr/>
      <p:sp>
        <p:nvSpPr>
          <p:cNvPr id="2" name="TextBox 1"/>
          <p:cNvSpPr txBox="1"/>
          <p:nvPr/>
        </p:nvSpPr>
        <p:spPr>
          <a:xfrm>
            <a:off x="502920" y="274320"/>
            <a:ext cx="9144000" cy="210312"/>
          </a:xfrm>
          <a:prstGeom prst="rect">
            <a:avLst/>
          </a:prstGeom>
          <a:noFill/>
        </p:spPr>
        <p:txBody>
          <a:bodyPr wrap="square" lIns="13716" rIns="13716" tIns="0" bIns="0">
            <a:spAutoFit/>
          </a:bodyPr>
          <a:lstStyle/>
          <a:p>
            <a:pPr>
              <a:spcAft>
                <a:spcPts val="500"/>
              </a:spcAft>
              <a:defRPr sz="1000" b="1">
                <a:solidFill>
                  <a:srgbClr val="35DFC3"/>
                </a:solidFill>
                <a:latin typeface="Aptos"/>
              </a:defRPr>
            </a:pPr>
            <a:r>
              <a:t>PLATFORM ROADMAP</a:t>
            </a:r>
          </a:p>
        </p:txBody>
      </p:sp>
      <p:sp>
        <p:nvSpPr>
          <p:cNvPr id="3" name="TextBox 2"/>
          <p:cNvSpPr txBox="1"/>
          <p:nvPr/>
        </p:nvSpPr>
        <p:spPr>
          <a:xfrm>
            <a:off x="502920" y="713232"/>
            <a:ext cx="11155680" cy="640080"/>
          </a:xfrm>
          <a:prstGeom prst="rect">
            <a:avLst/>
          </a:prstGeom>
          <a:noFill/>
        </p:spPr>
        <p:txBody>
          <a:bodyPr wrap="square" lIns="13716" rIns="13716" tIns="0" bIns="0">
            <a:spAutoFit/>
          </a:bodyPr>
          <a:lstStyle/>
          <a:p>
            <a:pPr>
              <a:spcAft>
                <a:spcPts val="500"/>
              </a:spcAft>
              <a:defRPr sz="3000" b="1">
                <a:solidFill>
                  <a:srgbClr val="FFFFFF"/>
                </a:solidFill>
                <a:latin typeface="Aptos Display"/>
              </a:defRPr>
            </a:pPr>
            <a:r>
              <a:t>Development roadmap: more models, more operators</a:t>
            </a:r>
          </a:p>
        </p:txBody>
      </p:sp>
      <p:sp>
        <p:nvSpPr>
          <p:cNvPr id="4" name="TextBox 3"/>
          <p:cNvSpPr txBox="1"/>
          <p:nvPr/>
        </p:nvSpPr>
        <p:spPr>
          <a:xfrm>
            <a:off x="512064" y="1426464"/>
            <a:ext cx="11109960" cy="502920"/>
          </a:xfrm>
          <a:prstGeom prst="rect">
            <a:avLst/>
          </a:prstGeom>
          <a:noFill/>
        </p:spPr>
        <p:txBody>
          <a:bodyPr wrap="square" lIns="13716" rIns="13716" tIns="0" bIns="0">
            <a:spAutoFit/>
          </a:bodyPr>
          <a:lstStyle/>
          <a:p>
            <a:pPr>
              <a:spcAft>
                <a:spcPts val="500"/>
              </a:spcAft>
              <a:defRPr sz="1400" b="0">
                <a:solidFill>
                  <a:srgbClr val="A8B7CF"/>
                </a:solidFill>
                <a:latin typeface="Aptos"/>
              </a:defRPr>
            </a:pPr>
            <a:r>
              <a:t>Build on the current four-model platform while strengthening accuracy, reproducibility and measured performance.</a:t>
            </a:r>
          </a:p>
        </p:txBody>
      </p:sp>
      <p:sp>
        <p:nvSpPr>
          <p:cNvPr id="5" name="Rectangle 4"/>
          <p:cNvSpPr/>
          <p:nvPr/>
        </p:nvSpPr>
        <p:spPr>
          <a:xfrm>
            <a:off x="502920" y="6455664"/>
            <a:ext cx="11183112" cy="10972"/>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3657600" cy="155448"/>
          </a:xfrm>
          <a:prstGeom prst="rect">
            <a:avLst/>
          </a:prstGeom>
          <a:noFill/>
        </p:spPr>
        <p:txBody>
          <a:bodyPr wrap="square" lIns="13716" rIns="13716" tIns="0" bIns="0">
            <a:spAutoFit/>
          </a:bodyPr>
          <a:lstStyle/>
          <a:p>
            <a:pPr>
              <a:spcAft>
                <a:spcPts val="500"/>
              </a:spcAft>
              <a:defRPr sz="800" b="1">
                <a:solidFill>
                  <a:srgbClr val="A8B7CF"/>
                </a:solidFill>
                <a:latin typeface="Aptos"/>
              </a:defRPr>
            </a:pPr>
            <a:r>
              <a:t>UNIFIED C-ENGINE  /  ZCU106</a:t>
            </a:r>
          </a:p>
        </p:txBody>
      </p:sp>
      <p:sp>
        <p:nvSpPr>
          <p:cNvPr id="7" name="TextBox 6"/>
          <p:cNvSpPr txBox="1"/>
          <p:nvPr/>
        </p:nvSpPr>
        <p:spPr>
          <a:xfrm>
            <a:off x="3657600" y="6556248"/>
            <a:ext cx="6949440" cy="182880"/>
          </a:xfrm>
          <a:prstGeom prst="rect">
            <a:avLst/>
          </a:prstGeom>
          <a:noFill/>
        </p:spPr>
        <p:txBody>
          <a:bodyPr wrap="square" lIns="13716" rIns="13716" tIns="0" bIns="0">
            <a:spAutoFit/>
          </a:bodyPr>
          <a:lstStyle/>
          <a:p>
            <a:pPr algn="r">
              <a:spcAft>
                <a:spcPts val="500"/>
              </a:spcAft>
              <a:defRPr sz="800" b="0">
                <a:solidFill>
                  <a:srgbClr val="A8B7CF"/>
                </a:solidFill>
                <a:latin typeface="Aptos"/>
              </a:defRPr>
            </a:pPr>
            <a:r>
              <a:t>Development direction • milestones informed by current repository evidence</a:t>
            </a:r>
          </a:p>
        </p:txBody>
      </p:sp>
      <p:sp>
        <p:nvSpPr>
          <p:cNvPr id="8" name="TextBox 7"/>
          <p:cNvSpPr txBox="1"/>
          <p:nvPr/>
        </p:nvSpPr>
        <p:spPr>
          <a:xfrm>
            <a:off x="10927080" y="6547104"/>
            <a:ext cx="731520" cy="201168"/>
          </a:xfrm>
          <a:prstGeom prst="rect">
            <a:avLst/>
          </a:prstGeom>
          <a:noFill/>
        </p:spPr>
        <p:txBody>
          <a:bodyPr wrap="square" lIns="13716" rIns="13716" tIns="0" bIns="0">
            <a:spAutoFit/>
          </a:bodyPr>
          <a:lstStyle/>
          <a:p>
            <a:pPr algn="r">
              <a:spcAft>
                <a:spcPts val="500"/>
              </a:spcAft>
              <a:defRPr sz="900" b="0">
                <a:solidFill>
                  <a:srgbClr val="35DFC3"/>
                </a:solidFill>
                <a:latin typeface="Aptos"/>
              </a:defRPr>
            </a:pPr>
            <a:r>
              <a:t>16 / 17</a:t>
            </a:r>
          </a:p>
        </p:txBody>
      </p:sp>
      <p:sp>
        <p:nvSpPr>
          <p:cNvPr id="9" name="Rounded Rectangle 8"/>
          <p:cNvSpPr/>
          <p:nvPr/>
        </p:nvSpPr>
        <p:spPr>
          <a:xfrm>
            <a:off x="502920" y="2084831"/>
            <a:ext cx="5394960" cy="3630168"/>
          </a:xfrm>
          <a:prstGeom prst="roundRect">
            <a:avLst>
              <a:gd name="adj" fmla="val 12000"/>
            </a:avLst>
          </a:prstGeom>
          <a:solidFill>
            <a:srgbClr val="1421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2084831"/>
            <a:ext cx="41148" cy="3630168"/>
          </a:xfrm>
          <a:prstGeom prst="rect">
            <a:avLst/>
          </a:prstGeom>
          <a:solidFill>
            <a:srgbClr val="35D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249424"/>
            <a:ext cx="5029200" cy="457200"/>
          </a:xfrm>
          <a:prstGeom prst="rect">
            <a:avLst/>
          </a:prstGeom>
          <a:noFill/>
        </p:spPr>
        <p:txBody>
          <a:bodyPr wrap="square" lIns="13716" rIns="13716" tIns="0" bIns="0">
            <a:spAutoFit/>
          </a:bodyPr>
          <a:lstStyle/>
          <a:p>
            <a:pPr>
              <a:spcAft>
                <a:spcPts val="500"/>
              </a:spcAft>
              <a:defRPr sz="2000" b="1">
                <a:solidFill>
                  <a:srgbClr val="FFFFFF"/>
                </a:solidFill>
                <a:latin typeface="Aptos"/>
              </a:defRPr>
            </a:pPr>
            <a:r>
              <a:t>The foundation available today</a:t>
            </a:r>
          </a:p>
        </p:txBody>
      </p:sp>
      <p:sp>
        <p:nvSpPr>
          <p:cNvPr id="12" name="TextBox 11"/>
          <p:cNvSpPr txBox="1"/>
          <p:nvPr/>
        </p:nvSpPr>
        <p:spPr>
          <a:xfrm>
            <a:off x="685800" y="2862072"/>
            <a:ext cx="5029200" cy="2761488"/>
          </a:xfrm>
          <a:prstGeom prst="rect">
            <a:avLst/>
          </a:prstGeom>
          <a:noFill/>
        </p:spPr>
        <p:txBody>
          <a:bodyPr wrap="square" lIns="13716" rIns="13716" tIns="0" bIns="0">
            <a:spAutoFit/>
          </a:bodyPr>
          <a:lstStyle/>
          <a:p>
            <a:pPr>
              <a:spcAft>
                <a:spcPts val="500"/>
              </a:spcAft>
              <a:defRPr sz="1500" b="0">
                <a:solidFill>
                  <a:srgbClr val="A8B7CF"/>
                </a:solidFill>
                <a:latin typeface="Aptos"/>
              </a:defRPr>
            </a:pPr>
            <a:r>
              <a:t>256-PE programmable compute fabric</a:t>
            </a:r>
          </a:p>
          <a:p>
            <a:pPr>
              <a:spcAft>
                <a:spcPts val="500"/>
              </a:spcAft>
              <a:defRPr sz="1500" b="0">
                <a:solidFill>
                  <a:srgbClr val="A8B7CF"/>
                </a:solidFill>
                <a:latin typeface="Aptos"/>
              </a:defRPr>
            </a:pPr>
            <a:r>
              <a:t>Four model compiler / integration flows</a:t>
            </a:r>
          </a:p>
          <a:p>
            <a:pPr>
              <a:spcAft>
                <a:spcPts val="500"/>
              </a:spcAft>
              <a:defRPr sz="1500" b="0">
                <a:solidFill>
                  <a:srgbClr val="A8B7CF"/>
                </a:solidFill>
                <a:latin typeface="Aptos"/>
              </a:defRPr>
            </a:pPr>
            <a:r>
              <a:t>Convolution, depthwise, GEMV and pooling</a:t>
            </a:r>
          </a:p>
          <a:p>
            <a:pPr>
              <a:spcAft>
                <a:spcPts val="500"/>
              </a:spcAft>
              <a:defRPr sz="1500" b="0">
                <a:solidFill>
                  <a:srgbClr val="A8B7CF"/>
                </a:solidFill>
                <a:latin typeface="Aptos"/>
              </a:defRPr>
            </a:pPr>
            <a:r>
              <a:t>Activation and residual processing</a:t>
            </a:r>
          </a:p>
          <a:p>
            <a:pPr>
              <a:spcAft>
                <a:spcPts val="500"/>
              </a:spcAft>
              <a:defRPr sz="1500" b="0">
                <a:solidFill>
                  <a:srgbClr val="A8B7CF"/>
                </a:solidFill>
                <a:latin typeface="Aptos"/>
              </a:defRPr>
            </a:pPr>
            <a:r>
              <a:t>Dual precision and a build-to-board toolchain</a:t>
            </a:r>
          </a:p>
        </p:txBody>
      </p:sp>
      <p:sp>
        <p:nvSpPr>
          <p:cNvPr id="13" name="Rounded Rectangle 12"/>
          <p:cNvSpPr/>
          <p:nvPr/>
        </p:nvSpPr>
        <p:spPr>
          <a:xfrm>
            <a:off x="6199632" y="2084831"/>
            <a:ext cx="5477256" cy="3630168"/>
          </a:xfrm>
          <a:prstGeom prst="roundRect">
            <a:avLst>
              <a:gd name="adj" fmla="val 12000"/>
            </a:avLst>
          </a:prstGeom>
          <a:solidFill>
            <a:srgbClr val="1421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9632" y="2084831"/>
            <a:ext cx="41148" cy="3630168"/>
          </a:xfrm>
          <a:prstGeom prst="rect">
            <a:avLst/>
          </a:prstGeom>
          <a:solidFill>
            <a:srgbClr val="FFC6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2249424"/>
            <a:ext cx="5111496" cy="457200"/>
          </a:xfrm>
          <a:prstGeom prst="rect">
            <a:avLst/>
          </a:prstGeom>
          <a:noFill/>
        </p:spPr>
        <p:txBody>
          <a:bodyPr wrap="square" lIns="13716" rIns="13716" tIns="0" bIns="0">
            <a:spAutoFit/>
          </a:bodyPr>
          <a:lstStyle/>
          <a:p>
            <a:pPr>
              <a:spcAft>
                <a:spcPts val="500"/>
              </a:spcAft>
              <a:defRPr sz="2000" b="1">
                <a:solidFill>
                  <a:srgbClr val="FFFFFF"/>
                </a:solidFill>
                <a:latin typeface="Aptos"/>
              </a:defRPr>
            </a:pPr>
            <a:r>
              <a:t>What follows</a:t>
            </a:r>
          </a:p>
        </p:txBody>
      </p:sp>
      <p:sp>
        <p:nvSpPr>
          <p:cNvPr id="16" name="TextBox 15"/>
          <p:cNvSpPr txBox="1"/>
          <p:nvPr/>
        </p:nvSpPr>
        <p:spPr>
          <a:xfrm>
            <a:off x="6382512" y="2862072"/>
            <a:ext cx="5111496" cy="2761488"/>
          </a:xfrm>
          <a:prstGeom prst="rect">
            <a:avLst/>
          </a:prstGeom>
          <a:noFill/>
        </p:spPr>
        <p:txBody>
          <a:bodyPr wrap="square" lIns="13716" rIns="13716" tIns="0" bIns="0">
            <a:spAutoFit/>
          </a:bodyPr>
          <a:lstStyle/>
          <a:p>
            <a:pPr>
              <a:spcAft>
                <a:spcPts val="500"/>
              </a:spcAft>
              <a:defRPr sz="1500" b="0">
                <a:solidFill>
                  <a:srgbClr val="A8B7CF"/>
                </a:solidFill>
                <a:latin typeface="Aptos"/>
              </a:defRPr>
            </a:pPr>
            <a:r>
              <a:t>1   Add model integrations and compiler mappings</a:t>
            </a:r>
          </a:p>
          <a:p>
            <a:pPr>
              <a:spcAft>
                <a:spcPts val="500"/>
              </a:spcAft>
              <a:defRPr sz="1500" b="0">
                <a:solidFill>
                  <a:srgbClr val="A8B7CF"/>
                </a:solidFill>
                <a:latin typeface="Aptos"/>
              </a:defRPr>
            </a:pPr>
            <a:r>
              <a:t>2   Extend RTL and microcode for more operators</a:t>
            </a:r>
          </a:p>
          <a:p>
            <a:pPr>
              <a:spcAft>
                <a:spcPts val="500"/>
              </a:spcAft>
              <a:defRPr sz="1500" b="0">
                <a:solidFill>
                  <a:srgbClr val="A8B7CF"/>
                </a:solidFill>
                <a:latin typeface="Aptos"/>
              </a:defRPr>
            </a:pPr>
            <a:r>
              <a:t>3   Close ResNet and numerical validation gaps</a:t>
            </a:r>
          </a:p>
          <a:p>
            <a:pPr>
              <a:spcAft>
                <a:spcPts val="500"/>
              </a:spcAft>
              <a:defRPr sz="1500" b="0">
                <a:solidFill>
                  <a:srgbClr val="A8B7CF"/>
                </a:solidFill>
                <a:latin typeface="Aptos"/>
              </a:defRPr>
            </a:pPr>
            <a:r>
              <a:t>4   Evaluate held-out accuracy across models</a:t>
            </a:r>
          </a:p>
          <a:p>
            <a:pPr>
              <a:spcAft>
                <a:spcPts val="500"/>
              </a:spcAft>
              <a:defRPr sz="1500" b="0">
                <a:solidFill>
                  <a:srgbClr val="A8B7CF"/>
                </a:solidFill>
                <a:latin typeface="Aptos"/>
              </a:defRPr>
            </a:pPr>
            <a:r>
              <a:t>5   Optimize and measure latency, memory, power</a:t>
            </a:r>
          </a:p>
        </p:txBody>
      </p:sp>
      <p:sp>
        <p:nvSpPr>
          <p:cNvPr id="17" name="TextBox 16"/>
          <p:cNvSpPr txBox="1"/>
          <p:nvPr/>
        </p:nvSpPr>
        <p:spPr>
          <a:xfrm>
            <a:off x="594360" y="6007608"/>
            <a:ext cx="10972800" cy="274320"/>
          </a:xfrm>
          <a:prstGeom prst="rect">
            <a:avLst/>
          </a:prstGeom>
          <a:noFill/>
        </p:spPr>
        <p:txBody>
          <a:bodyPr wrap="square" lIns="13716" rIns="13716" tIns="0" bIns="0">
            <a:spAutoFit/>
          </a:bodyPr>
          <a:lstStyle/>
          <a:p>
            <a:pPr>
              <a:spcAft>
                <a:spcPts val="500"/>
              </a:spcAft>
              <a:defRPr sz="1500" b="0">
                <a:solidFill>
                  <a:srgbClr val="A8B7CF"/>
                </a:solidFill>
                <a:latin typeface="Aptos"/>
              </a:defRPr>
            </a:pPr>
            <a:r>
              <a:t>Each new capability advances through operator checks, model validation, timing closure and board demonstration.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6FA"/>
        </a:solidFill>
        <a:effectLst/>
      </p:bgPr>
    </p:bg>
    <p:spTree>
      <p:nvGrpSpPr>
        <p:cNvPr id="1" name=""/>
        <p:cNvGrpSpPr/>
        <p:nvPr/>
      </p:nvGrpSpPr>
      <p:grpSpPr/>
      <p:sp>
        <p:nvSpPr>
          <p:cNvPr id="2" name="TextBox 1"/>
          <p:cNvSpPr txBox="1"/>
          <p:nvPr/>
        </p:nvSpPr>
        <p:spPr>
          <a:xfrm>
            <a:off x="502920" y="274320"/>
            <a:ext cx="9144000" cy="210312"/>
          </a:xfrm>
          <a:prstGeom prst="rect">
            <a:avLst/>
          </a:prstGeom>
          <a:noFill/>
        </p:spPr>
        <p:txBody>
          <a:bodyPr wrap="square" lIns="13716" rIns="13716" tIns="0" bIns="0">
            <a:spAutoFit/>
          </a:bodyPr>
          <a:lstStyle/>
          <a:p>
            <a:pPr>
              <a:spcAft>
                <a:spcPts val="500"/>
              </a:spcAft>
              <a:defRPr sz="1000" b="1">
                <a:solidFill>
                  <a:srgbClr val="586980"/>
                </a:solidFill>
                <a:latin typeface="Aptos"/>
              </a:defRPr>
            </a:pPr>
            <a:r>
              <a:t>APPENDIX / SOURCE GUIDE</a:t>
            </a:r>
          </a:p>
        </p:txBody>
      </p:sp>
      <p:sp>
        <p:nvSpPr>
          <p:cNvPr id="3" name="TextBox 2"/>
          <p:cNvSpPr txBox="1"/>
          <p:nvPr/>
        </p:nvSpPr>
        <p:spPr>
          <a:xfrm>
            <a:off x="502920" y="713232"/>
            <a:ext cx="11155680" cy="640080"/>
          </a:xfrm>
          <a:prstGeom prst="rect">
            <a:avLst/>
          </a:prstGeom>
          <a:noFill/>
        </p:spPr>
        <p:txBody>
          <a:bodyPr wrap="square" lIns="13716" rIns="13716" tIns="0" bIns="0">
            <a:spAutoFit/>
          </a:bodyPr>
          <a:lstStyle/>
          <a:p>
            <a:pPr>
              <a:spcAft>
                <a:spcPts val="500"/>
              </a:spcAft>
              <a:defRPr sz="3000" b="1">
                <a:solidFill>
                  <a:srgbClr val="15233B"/>
                </a:solidFill>
                <a:latin typeface="Aptos Display"/>
              </a:defRPr>
            </a:pPr>
            <a:r>
              <a:t>Evidence guide and important distinctions</a:t>
            </a:r>
          </a:p>
        </p:txBody>
      </p:sp>
      <p:sp>
        <p:nvSpPr>
          <p:cNvPr id="4" name="TextBox 3"/>
          <p:cNvSpPr txBox="1"/>
          <p:nvPr/>
        </p:nvSpPr>
        <p:spPr>
          <a:xfrm>
            <a:off x="512064" y="1426464"/>
            <a:ext cx="11109960" cy="502920"/>
          </a:xfrm>
          <a:prstGeom prst="rect">
            <a:avLst/>
          </a:prstGeom>
          <a:noFill/>
        </p:spPr>
        <p:txBody>
          <a:bodyPr wrap="square" lIns="13716" rIns="13716" tIns="0" bIns="0">
            <a:spAutoFit/>
          </a:bodyPr>
          <a:lstStyle/>
          <a:p>
            <a:pPr>
              <a:spcAft>
                <a:spcPts val="500"/>
              </a:spcAft>
              <a:defRPr sz="1400" b="0">
                <a:solidFill>
                  <a:srgbClr val="586980"/>
                </a:solidFill>
                <a:latin typeface="Aptos"/>
              </a:defRPr>
            </a:pPr>
            <a:r>
              <a:t>Detailed source paths and interpretation notes are embedded in each slide’s speaker notes.</a:t>
            </a:r>
          </a:p>
        </p:txBody>
      </p:sp>
      <p:sp>
        <p:nvSpPr>
          <p:cNvPr id="5" name="Rectangle 4"/>
          <p:cNvSpPr/>
          <p:nvPr/>
        </p:nvSpPr>
        <p:spPr>
          <a:xfrm>
            <a:off x="502920" y="6455664"/>
            <a:ext cx="11183112" cy="10972"/>
          </a:xfrm>
          <a:prstGeom prst="rect">
            <a:avLst/>
          </a:prstGeom>
          <a:solidFill>
            <a:srgbClr val="DCE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3657600" cy="155448"/>
          </a:xfrm>
          <a:prstGeom prst="rect">
            <a:avLst/>
          </a:prstGeom>
          <a:noFill/>
        </p:spPr>
        <p:txBody>
          <a:bodyPr wrap="square" lIns="13716" rIns="13716" tIns="0" bIns="0">
            <a:spAutoFit/>
          </a:bodyPr>
          <a:lstStyle/>
          <a:p>
            <a:pPr>
              <a:spcAft>
                <a:spcPts val="500"/>
              </a:spcAft>
              <a:defRPr sz="800" b="1">
                <a:solidFill>
                  <a:srgbClr val="586980"/>
                </a:solidFill>
                <a:latin typeface="Aptos"/>
              </a:defRPr>
            </a:pPr>
            <a:r>
              <a:t>UNIFIED C-ENGINE  /  ZCU106</a:t>
            </a:r>
          </a:p>
        </p:txBody>
      </p:sp>
      <p:sp>
        <p:nvSpPr>
          <p:cNvPr id="7" name="TextBox 6"/>
          <p:cNvSpPr txBox="1"/>
          <p:nvPr/>
        </p:nvSpPr>
        <p:spPr>
          <a:xfrm>
            <a:off x="3657600" y="6556248"/>
            <a:ext cx="6949440" cy="182880"/>
          </a:xfrm>
          <a:prstGeom prst="rect">
            <a:avLst/>
          </a:prstGeom>
          <a:noFill/>
        </p:spPr>
        <p:txBody>
          <a:bodyPr wrap="square" lIns="13716" rIns="13716" tIns="0" bIns="0">
            <a:spAutoFit/>
          </a:bodyPr>
          <a:lstStyle/>
          <a:p>
            <a:pPr algn="r">
              <a:spcAft>
                <a:spcPts val="500"/>
              </a:spcAft>
              <a:defRPr sz="800" b="0">
                <a:solidFill>
                  <a:srgbClr val="586980"/>
                </a:solidFill>
                <a:latin typeface="Aptos"/>
              </a:defRPr>
            </a:pPr>
            <a:r>
              <a:t>All evidence is local to this repository; reviewed 19 October 2026</a:t>
            </a:r>
          </a:p>
        </p:txBody>
      </p:sp>
      <p:sp>
        <p:nvSpPr>
          <p:cNvPr id="8" name="TextBox 7"/>
          <p:cNvSpPr txBox="1"/>
          <p:nvPr/>
        </p:nvSpPr>
        <p:spPr>
          <a:xfrm>
            <a:off x="10927080" y="6547104"/>
            <a:ext cx="731520" cy="201168"/>
          </a:xfrm>
          <a:prstGeom prst="rect">
            <a:avLst/>
          </a:prstGeom>
          <a:noFill/>
        </p:spPr>
        <p:txBody>
          <a:bodyPr wrap="square" lIns="13716" rIns="13716" tIns="0" bIns="0">
            <a:spAutoFit/>
          </a:bodyPr>
          <a:lstStyle/>
          <a:p>
            <a:pPr algn="r">
              <a:spcAft>
                <a:spcPts val="500"/>
              </a:spcAft>
              <a:defRPr sz="900" b="0">
                <a:solidFill>
                  <a:srgbClr val="586980"/>
                </a:solidFill>
                <a:latin typeface="Aptos"/>
              </a:defRPr>
            </a:pPr>
            <a:r>
              <a:t>17 / 17</a:t>
            </a:r>
          </a:p>
        </p:txBody>
      </p:sp>
      <p:sp>
        <p:nvSpPr>
          <p:cNvPr id="9" name="Rectangle 8"/>
          <p:cNvSpPr/>
          <p:nvPr/>
        </p:nvSpPr>
        <p:spPr>
          <a:xfrm>
            <a:off x="502920" y="2011680"/>
            <a:ext cx="11173968" cy="438912"/>
          </a:xfrm>
          <a:prstGeom prst="rect">
            <a:avLst/>
          </a:prstGeom>
          <a:solidFill>
            <a:srgbClr val="1421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2112264"/>
            <a:ext cx="1755648" cy="219456"/>
          </a:xfrm>
          <a:prstGeom prst="rect">
            <a:avLst/>
          </a:prstGeom>
          <a:noFill/>
        </p:spPr>
        <p:txBody>
          <a:bodyPr wrap="square" lIns="13716" rIns="13716" tIns="0" bIns="0">
            <a:spAutoFit/>
          </a:bodyPr>
          <a:lstStyle/>
          <a:p>
            <a:pPr>
              <a:spcAft>
                <a:spcPts val="500"/>
              </a:spcAft>
              <a:defRPr sz="1100" b="1">
                <a:solidFill>
                  <a:srgbClr val="FFFFFF"/>
                </a:solidFill>
                <a:latin typeface="Aptos"/>
              </a:defRPr>
            </a:pPr>
            <a:r>
              <a:t>TOPIC</a:t>
            </a:r>
          </a:p>
        </p:txBody>
      </p:sp>
      <p:sp>
        <p:nvSpPr>
          <p:cNvPr id="11" name="TextBox 10"/>
          <p:cNvSpPr txBox="1"/>
          <p:nvPr/>
        </p:nvSpPr>
        <p:spPr>
          <a:xfrm>
            <a:off x="2587752" y="2112264"/>
            <a:ext cx="4636007" cy="219456"/>
          </a:xfrm>
          <a:prstGeom prst="rect">
            <a:avLst/>
          </a:prstGeom>
          <a:noFill/>
        </p:spPr>
        <p:txBody>
          <a:bodyPr wrap="square" lIns="13716" rIns="13716" tIns="0" bIns="0">
            <a:spAutoFit/>
          </a:bodyPr>
          <a:lstStyle/>
          <a:p>
            <a:pPr>
              <a:spcAft>
                <a:spcPts val="500"/>
              </a:spcAft>
              <a:defRPr sz="1100" b="1">
                <a:solidFill>
                  <a:srgbClr val="FFFFFF"/>
                </a:solidFill>
                <a:latin typeface="Aptos"/>
              </a:defRPr>
            </a:pPr>
            <a:r>
              <a:t>PRIMARY REPOSITORY EVIDENCE</a:t>
            </a:r>
          </a:p>
        </p:txBody>
      </p:sp>
      <p:sp>
        <p:nvSpPr>
          <p:cNvPr id="12" name="TextBox 11"/>
          <p:cNvSpPr txBox="1"/>
          <p:nvPr/>
        </p:nvSpPr>
        <p:spPr>
          <a:xfrm>
            <a:off x="7434072" y="2112264"/>
            <a:ext cx="4151375" cy="219456"/>
          </a:xfrm>
          <a:prstGeom prst="rect">
            <a:avLst/>
          </a:prstGeom>
          <a:noFill/>
        </p:spPr>
        <p:txBody>
          <a:bodyPr wrap="square" lIns="13716" rIns="13716" tIns="0" bIns="0">
            <a:spAutoFit/>
          </a:bodyPr>
          <a:lstStyle/>
          <a:p>
            <a:pPr>
              <a:spcAft>
                <a:spcPts val="500"/>
              </a:spcAft>
              <a:defRPr sz="1100" b="1">
                <a:solidFill>
                  <a:srgbClr val="FFFFFF"/>
                </a:solidFill>
                <a:latin typeface="Aptos"/>
              </a:defRPr>
            </a:pPr>
            <a:r>
              <a:t>HOW IT IS USED</a:t>
            </a:r>
          </a:p>
        </p:txBody>
      </p:sp>
      <p:sp>
        <p:nvSpPr>
          <p:cNvPr id="13" name="Rectangle 12"/>
          <p:cNvSpPr/>
          <p:nvPr/>
        </p:nvSpPr>
        <p:spPr>
          <a:xfrm>
            <a:off x="502920" y="2450592"/>
            <a:ext cx="11173968" cy="6035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2596896"/>
            <a:ext cx="1764792" cy="365760"/>
          </a:xfrm>
          <a:prstGeom prst="rect">
            <a:avLst/>
          </a:prstGeom>
          <a:noFill/>
        </p:spPr>
        <p:txBody>
          <a:bodyPr wrap="square" lIns="13716" rIns="13716" tIns="0" bIns="0">
            <a:spAutoFit/>
          </a:bodyPr>
          <a:lstStyle/>
          <a:p>
            <a:pPr>
              <a:spcAft>
                <a:spcPts val="500"/>
              </a:spcAft>
              <a:defRPr sz="1400" b="1">
                <a:solidFill>
                  <a:srgbClr val="15233B"/>
                </a:solidFill>
                <a:latin typeface="Aptos"/>
              </a:defRPr>
            </a:pPr>
            <a:r>
              <a:t>Architecture</a:t>
            </a:r>
          </a:p>
        </p:txBody>
      </p:sp>
      <p:sp>
        <p:nvSpPr>
          <p:cNvPr id="15" name="TextBox 14"/>
          <p:cNvSpPr txBox="1"/>
          <p:nvPr/>
        </p:nvSpPr>
        <p:spPr>
          <a:xfrm>
            <a:off x="2587752" y="2596896"/>
            <a:ext cx="4645152" cy="365760"/>
          </a:xfrm>
          <a:prstGeom prst="rect">
            <a:avLst/>
          </a:prstGeom>
          <a:noFill/>
        </p:spPr>
        <p:txBody>
          <a:bodyPr wrap="square" lIns="13716" rIns="13716" tIns="0" bIns="0">
            <a:spAutoFit/>
          </a:bodyPr>
          <a:lstStyle/>
          <a:p>
            <a:pPr>
              <a:spcAft>
                <a:spcPts val="500"/>
              </a:spcAft>
              <a:defRPr sz="1400" b="0">
                <a:solidFill>
                  <a:srgbClr val="15233B"/>
                </a:solidFill>
                <a:latin typeface="Aptos"/>
              </a:defRPr>
            </a:pPr>
            <a:r>
              <a:t>rtl/ + models/*/compile.py</a:t>
            </a:r>
          </a:p>
        </p:txBody>
      </p:sp>
      <p:sp>
        <p:nvSpPr>
          <p:cNvPr id="16" name="TextBox 15"/>
          <p:cNvSpPr txBox="1"/>
          <p:nvPr/>
        </p:nvSpPr>
        <p:spPr>
          <a:xfrm>
            <a:off x="7434072" y="2596896"/>
            <a:ext cx="4160520" cy="365760"/>
          </a:xfrm>
          <a:prstGeom prst="rect">
            <a:avLst/>
          </a:prstGeom>
          <a:noFill/>
        </p:spPr>
        <p:txBody>
          <a:bodyPr wrap="square" lIns="13716" rIns="13716" tIns="0" bIns="0">
            <a:spAutoFit/>
          </a:bodyPr>
          <a:lstStyle/>
          <a:p>
            <a:pPr>
              <a:spcAft>
                <a:spcPts val="500"/>
              </a:spcAft>
              <a:defRPr sz="1400" b="0">
                <a:solidFill>
                  <a:srgbClr val="15233B"/>
                </a:solidFill>
                <a:latin typeface="Aptos"/>
              </a:defRPr>
            </a:pPr>
            <a:r>
              <a:t>Current code and configuration</a:t>
            </a:r>
          </a:p>
        </p:txBody>
      </p:sp>
      <p:sp>
        <p:nvSpPr>
          <p:cNvPr id="17" name="Rectangle 16"/>
          <p:cNvSpPr/>
          <p:nvPr/>
        </p:nvSpPr>
        <p:spPr>
          <a:xfrm>
            <a:off x="502920" y="3054096"/>
            <a:ext cx="11173968" cy="603504"/>
          </a:xfrm>
          <a:prstGeom prst="rect">
            <a:avLst/>
          </a:prstGeom>
          <a:solidFill>
            <a:srgbClr val="EA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3200400"/>
            <a:ext cx="1764792" cy="365760"/>
          </a:xfrm>
          <a:prstGeom prst="rect">
            <a:avLst/>
          </a:prstGeom>
          <a:noFill/>
        </p:spPr>
        <p:txBody>
          <a:bodyPr wrap="square" lIns="13716" rIns="13716" tIns="0" bIns="0">
            <a:spAutoFit/>
          </a:bodyPr>
          <a:lstStyle/>
          <a:p>
            <a:pPr>
              <a:spcAft>
                <a:spcPts val="500"/>
              </a:spcAft>
              <a:defRPr sz="1400" b="1">
                <a:solidFill>
                  <a:srgbClr val="15233B"/>
                </a:solidFill>
                <a:latin typeface="Aptos"/>
              </a:defRPr>
            </a:pPr>
            <a:r>
              <a:t>Physical results</a:t>
            </a:r>
          </a:p>
        </p:txBody>
      </p:sp>
      <p:sp>
        <p:nvSpPr>
          <p:cNvPr id="19" name="TextBox 18"/>
          <p:cNvSpPr txBox="1"/>
          <p:nvPr/>
        </p:nvSpPr>
        <p:spPr>
          <a:xfrm>
            <a:off x="2587752" y="3200400"/>
            <a:ext cx="4645152" cy="365760"/>
          </a:xfrm>
          <a:prstGeom prst="rect">
            <a:avLst/>
          </a:prstGeom>
          <a:noFill/>
        </p:spPr>
        <p:txBody>
          <a:bodyPr wrap="square" lIns="13716" rIns="13716" tIns="0" bIns="0">
            <a:spAutoFit/>
          </a:bodyPr>
          <a:lstStyle/>
          <a:p>
            <a:pPr>
              <a:spcAft>
                <a:spcPts val="500"/>
              </a:spcAft>
              <a:defRPr sz="1400" b="0">
                <a:solidFill>
                  <a:srgbClr val="15233B"/>
                </a:solidFill>
                <a:latin typeface="Aptos"/>
              </a:defRPr>
            </a:pPr>
            <a:r>
              <a:t>fpga/export/{8bit,16bit}/*.rpt</a:t>
            </a:r>
          </a:p>
        </p:txBody>
      </p:sp>
      <p:sp>
        <p:nvSpPr>
          <p:cNvPr id="20" name="TextBox 19"/>
          <p:cNvSpPr txBox="1"/>
          <p:nvPr/>
        </p:nvSpPr>
        <p:spPr>
          <a:xfrm>
            <a:off x="7434072" y="3200400"/>
            <a:ext cx="4160520" cy="365760"/>
          </a:xfrm>
          <a:prstGeom prst="rect">
            <a:avLst/>
          </a:prstGeom>
          <a:noFill/>
        </p:spPr>
        <p:txBody>
          <a:bodyPr wrap="square" lIns="13716" rIns="13716" tIns="0" bIns="0">
            <a:spAutoFit/>
          </a:bodyPr>
          <a:lstStyle/>
          <a:p>
            <a:pPr>
              <a:spcAft>
                <a:spcPts val="500"/>
              </a:spcAft>
              <a:defRPr sz="1400" b="0">
                <a:solidFill>
                  <a:srgbClr val="15233B"/>
                </a:solidFill>
                <a:latin typeface="Aptos"/>
              </a:defRPr>
            </a:pPr>
            <a:r>
              <a:t>Routed clock, slack and utilization</a:t>
            </a:r>
          </a:p>
        </p:txBody>
      </p:sp>
      <p:sp>
        <p:nvSpPr>
          <p:cNvPr id="21" name="Rectangle 20"/>
          <p:cNvSpPr/>
          <p:nvPr/>
        </p:nvSpPr>
        <p:spPr>
          <a:xfrm>
            <a:off x="502920" y="3657600"/>
            <a:ext cx="11173968" cy="6035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3803904"/>
            <a:ext cx="1764792" cy="365760"/>
          </a:xfrm>
          <a:prstGeom prst="rect">
            <a:avLst/>
          </a:prstGeom>
          <a:noFill/>
        </p:spPr>
        <p:txBody>
          <a:bodyPr wrap="square" lIns="13716" rIns="13716" tIns="0" bIns="0">
            <a:spAutoFit/>
          </a:bodyPr>
          <a:lstStyle/>
          <a:p>
            <a:pPr>
              <a:spcAft>
                <a:spcPts val="500"/>
              </a:spcAft>
              <a:defRPr sz="1400" b="1">
                <a:solidFill>
                  <a:srgbClr val="15233B"/>
                </a:solidFill>
                <a:latin typeface="Aptos"/>
              </a:defRPr>
            </a:pPr>
            <a:r>
              <a:t>Functional results</a:t>
            </a:r>
          </a:p>
        </p:txBody>
      </p:sp>
      <p:sp>
        <p:nvSpPr>
          <p:cNvPr id="23" name="TextBox 22"/>
          <p:cNvSpPr txBox="1"/>
          <p:nvPr/>
        </p:nvSpPr>
        <p:spPr>
          <a:xfrm>
            <a:off x="2587752" y="3803904"/>
            <a:ext cx="4645152" cy="365760"/>
          </a:xfrm>
          <a:prstGeom prst="rect">
            <a:avLst/>
          </a:prstGeom>
          <a:noFill/>
        </p:spPr>
        <p:txBody>
          <a:bodyPr wrap="square" lIns="13716" rIns="13716" tIns="0" bIns="0">
            <a:spAutoFit/>
          </a:bodyPr>
          <a:lstStyle/>
          <a:p>
            <a:pPr>
              <a:spcAft>
                <a:spcPts val="500"/>
              </a:spcAft>
              <a:defRPr sz="1400" b="0">
                <a:solidFill>
                  <a:srgbClr val="15233B"/>
                </a:solidFill>
                <a:latin typeface="Aptos"/>
              </a:defRPr>
            </a:pPr>
            <a:r>
              <a:t>sim/logs/*_8bit.log</a:t>
            </a:r>
          </a:p>
        </p:txBody>
      </p:sp>
      <p:sp>
        <p:nvSpPr>
          <p:cNvPr id="24" name="TextBox 23"/>
          <p:cNvSpPr txBox="1"/>
          <p:nvPr/>
        </p:nvSpPr>
        <p:spPr>
          <a:xfrm>
            <a:off x="7434072" y="3803904"/>
            <a:ext cx="4160520" cy="365760"/>
          </a:xfrm>
          <a:prstGeom prst="rect">
            <a:avLst/>
          </a:prstGeom>
          <a:noFill/>
        </p:spPr>
        <p:txBody>
          <a:bodyPr wrap="square" lIns="13716" rIns="13716" tIns="0" bIns="0">
            <a:spAutoFit/>
          </a:bodyPr>
          <a:lstStyle/>
          <a:p>
            <a:pPr>
              <a:spcAft>
                <a:spcPts val="500"/>
              </a:spcAft>
              <a:defRPr sz="1400" b="0">
                <a:solidFill>
                  <a:srgbClr val="15233B"/>
                </a:solidFill>
                <a:latin typeface="Aptos"/>
              </a:defRPr>
            </a:pPr>
            <a:r>
              <a:t>Recorded run outcomes and cycles</a:t>
            </a:r>
          </a:p>
        </p:txBody>
      </p:sp>
      <p:sp>
        <p:nvSpPr>
          <p:cNvPr id="25" name="Rectangle 24"/>
          <p:cNvSpPr/>
          <p:nvPr/>
        </p:nvSpPr>
        <p:spPr>
          <a:xfrm>
            <a:off x="502920" y="4261104"/>
            <a:ext cx="11173968" cy="603504"/>
          </a:xfrm>
          <a:prstGeom prst="rect">
            <a:avLst/>
          </a:prstGeom>
          <a:solidFill>
            <a:srgbClr val="EA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4407408"/>
            <a:ext cx="1764792" cy="365760"/>
          </a:xfrm>
          <a:prstGeom prst="rect">
            <a:avLst/>
          </a:prstGeom>
          <a:noFill/>
        </p:spPr>
        <p:txBody>
          <a:bodyPr wrap="square" lIns="13716" rIns="13716" tIns="0" bIns="0">
            <a:spAutoFit/>
          </a:bodyPr>
          <a:lstStyle/>
          <a:p>
            <a:pPr>
              <a:spcAft>
                <a:spcPts val="500"/>
              </a:spcAft>
              <a:defRPr sz="1400" b="1">
                <a:solidFill>
                  <a:srgbClr val="15233B"/>
                </a:solidFill>
                <a:latin typeface="Aptos"/>
              </a:defRPr>
            </a:pPr>
            <a:r>
              <a:t>Board execution</a:t>
            </a:r>
          </a:p>
        </p:txBody>
      </p:sp>
      <p:sp>
        <p:nvSpPr>
          <p:cNvPr id="27" name="TextBox 26"/>
          <p:cNvSpPr txBox="1"/>
          <p:nvPr/>
        </p:nvSpPr>
        <p:spPr>
          <a:xfrm>
            <a:off x="2587752" y="4407408"/>
            <a:ext cx="4645152" cy="365760"/>
          </a:xfrm>
          <a:prstGeom prst="rect">
            <a:avLst/>
          </a:prstGeom>
          <a:noFill/>
        </p:spPr>
        <p:txBody>
          <a:bodyPr wrap="square" lIns="13716" rIns="13716" tIns="0" bIns="0">
            <a:spAutoFit/>
          </a:bodyPr>
          <a:lstStyle/>
          <a:p>
            <a:pPr>
              <a:spcAft>
                <a:spcPts val="500"/>
              </a:spcAft>
              <a:defRPr sz="1400" b="0">
                <a:solidFill>
                  <a:srgbClr val="15233B"/>
                </a:solidFill>
                <a:latin typeface="Aptos"/>
              </a:defRPr>
            </a:pPr>
            <a:r>
              <a:t>baremetal/scripts/last_uart_capture.log</a:t>
            </a:r>
          </a:p>
        </p:txBody>
      </p:sp>
      <p:sp>
        <p:nvSpPr>
          <p:cNvPr id="28" name="TextBox 27"/>
          <p:cNvSpPr txBox="1"/>
          <p:nvPr/>
        </p:nvSpPr>
        <p:spPr>
          <a:xfrm>
            <a:off x="7434072" y="4407408"/>
            <a:ext cx="4160520" cy="365760"/>
          </a:xfrm>
          <a:prstGeom prst="rect">
            <a:avLst/>
          </a:prstGeom>
          <a:noFill/>
        </p:spPr>
        <p:txBody>
          <a:bodyPr wrap="square" lIns="13716" rIns="13716" tIns="0" bIns="0">
            <a:spAutoFit/>
          </a:bodyPr>
          <a:lstStyle/>
          <a:p>
            <a:pPr>
              <a:spcAft>
                <a:spcPts val="500"/>
              </a:spcAft>
              <a:defRPr sz="1400" b="0">
                <a:solidFill>
                  <a:srgbClr val="15233B"/>
                </a:solidFill>
                <a:latin typeface="Aptos"/>
              </a:defRPr>
            </a:pPr>
            <a:r>
              <a:t>Saved UART trace; numerical caveats</a:t>
            </a:r>
          </a:p>
        </p:txBody>
      </p:sp>
      <p:sp>
        <p:nvSpPr>
          <p:cNvPr id="29" name="Rectangle 28"/>
          <p:cNvSpPr/>
          <p:nvPr/>
        </p:nvSpPr>
        <p:spPr>
          <a:xfrm>
            <a:off x="502920" y="4864608"/>
            <a:ext cx="11173968" cy="6035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5010912"/>
            <a:ext cx="1764792" cy="365760"/>
          </a:xfrm>
          <a:prstGeom prst="rect">
            <a:avLst/>
          </a:prstGeom>
          <a:noFill/>
        </p:spPr>
        <p:txBody>
          <a:bodyPr wrap="square" lIns="13716" rIns="13716" tIns="0" bIns="0">
            <a:spAutoFit/>
          </a:bodyPr>
          <a:lstStyle/>
          <a:p>
            <a:pPr>
              <a:spcAft>
                <a:spcPts val="500"/>
              </a:spcAft>
              <a:defRPr sz="1400" b="1">
                <a:solidFill>
                  <a:srgbClr val="15233B"/>
                </a:solidFill>
                <a:latin typeface="Aptos"/>
              </a:defRPr>
            </a:pPr>
            <a:r>
              <a:t>Future revision</a:t>
            </a:r>
          </a:p>
        </p:txBody>
      </p:sp>
      <p:sp>
        <p:nvSpPr>
          <p:cNvPr id="31" name="TextBox 30"/>
          <p:cNvSpPr txBox="1"/>
          <p:nvPr/>
        </p:nvSpPr>
        <p:spPr>
          <a:xfrm>
            <a:off x="2587752" y="5010912"/>
            <a:ext cx="4645152" cy="365760"/>
          </a:xfrm>
          <a:prstGeom prst="rect">
            <a:avLst/>
          </a:prstGeom>
          <a:noFill/>
        </p:spPr>
        <p:txBody>
          <a:bodyPr wrap="square" lIns="13716" rIns="13716" tIns="0" bIns="0">
            <a:spAutoFit/>
          </a:bodyPr>
          <a:lstStyle/>
          <a:p>
            <a:pPr>
              <a:spcAft>
                <a:spcPts val="500"/>
              </a:spcAft>
              <a:defRPr sz="1400" b="0">
                <a:solidFill>
                  <a:srgbClr val="15233B"/>
                </a:solidFill>
                <a:latin typeface="Aptos"/>
              </a:defRPr>
            </a:pPr>
            <a:r>
              <a:t>doc/PROJECT_REPORT_V4.md</a:t>
            </a:r>
          </a:p>
        </p:txBody>
      </p:sp>
      <p:sp>
        <p:nvSpPr>
          <p:cNvPr id="32" name="TextBox 31"/>
          <p:cNvSpPr txBox="1"/>
          <p:nvPr/>
        </p:nvSpPr>
        <p:spPr>
          <a:xfrm>
            <a:off x="7434072" y="5010912"/>
            <a:ext cx="4160520" cy="365760"/>
          </a:xfrm>
          <a:prstGeom prst="rect">
            <a:avLst/>
          </a:prstGeom>
          <a:noFill/>
        </p:spPr>
        <p:txBody>
          <a:bodyPr wrap="square" lIns="13716" rIns="13716" tIns="0" bIns="0">
            <a:spAutoFit/>
          </a:bodyPr>
          <a:lstStyle/>
          <a:p>
            <a:pPr>
              <a:spcAft>
                <a:spcPts val="500"/>
              </a:spcAft>
              <a:defRPr sz="1400" b="0">
                <a:solidFill>
                  <a:srgbClr val="15233B"/>
                </a:solidFill>
                <a:latin typeface="Aptos"/>
              </a:defRPr>
            </a:pPr>
            <a:r>
              <a:t>Optimization plan and estimated targets</a:t>
            </a:r>
          </a:p>
        </p:txBody>
      </p:sp>
      <p:sp>
        <p:nvSpPr>
          <p:cNvPr id="33" name="TextBox 32"/>
          <p:cNvSpPr txBox="1"/>
          <p:nvPr/>
        </p:nvSpPr>
        <p:spPr>
          <a:xfrm>
            <a:off x="566928" y="5650992"/>
            <a:ext cx="4663440" cy="292608"/>
          </a:xfrm>
          <a:prstGeom prst="rect">
            <a:avLst/>
          </a:prstGeom>
          <a:noFill/>
        </p:spPr>
        <p:txBody>
          <a:bodyPr wrap="square" lIns="13716" rIns="13716" tIns="0" bIns="0">
            <a:spAutoFit/>
          </a:bodyPr>
          <a:lstStyle/>
          <a:p>
            <a:pPr>
              <a:spcAft>
                <a:spcPts val="500"/>
              </a:spcAft>
              <a:defRPr sz="1800" b="1">
                <a:solidFill>
                  <a:srgbClr val="15233B"/>
                </a:solidFill>
                <a:latin typeface="Aptos"/>
              </a:defRPr>
            </a:pPr>
            <a:r>
              <a:t>Read the numbers in context</a:t>
            </a:r>
          </a:p>
        </p:txBody>
      </p:sp>
      <p:sp>
        <p:nvSpPr>
          <p:cNvPr id="34" name="TextBox 33"/>
          <p:cNvSpPr txBox="1"/>
          <p:nvPr/>
        </p:nvSpPr>
        <p:spPr>
          <a:xfrm>
            <a:off x="566928" y="6035040"/>
            <a:ext cx="11064240" cy="228600"/>
          </a:xfrm>
          <a:prstGeom prst="rect">
            <a:avLst/>
          </a:prstGeom>
          <a:noFill/>
        </p:spPr>
        <p:txBody>
          <a:bodyPr wrap="square" lIns="13716" rIns="13716" tIns="0" bIns="0">
            <a:spAutoFit/>
          </a:bodyPr>
          <a:lstStyle/>
          <a:p>
            <a:pPr>
              <a:spcAft>
                <a:spcPts val="500"/>
              </a:spcAft>
              <a:defRPr sz="1200" b="0">
                <a:solidFill>
                  <a:srgbClr val="586980"/>
                </a:solidFill>
                <a:latin typeface="Aptos"/>
              </a:defRPr>
            </a:pPr>
            <a:r>
              <a:t>Peak compute ≠ sustained FPS  •  sample agreement ≠ dataset accuracy  •  saved run ≠ current-source rerun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224"/>
        </a:solidFill>
        <a:effectLst/>
      </p:bgPr>
    </p:bg>
    <p:spTree>
      <p:nvGrpSpPr>
        <p:cNvPr id="1" name=""/>
        <p:cNvGrpSpPr/>
        <p:nvPr/>
      </p:nvGrpSpPr>
      <p:grpSpPr/>
      <p:sp>
        <p:nvSpPr>
          <p:cNvPr id="2" name="TextBox 1"/>
          <p:cNvSpPr txBox="1"/>
          <p:nvPr/>
        </p:nvSpPr>
        <p:spPr>
          <a:xfrm>
            <a:off x="502920" y="274320"/>
            <a:ext cx="9144000" cy="210312"/>
          </a:xfrm>
          <a:prstGeom prst="rect">
            <a:avLst/>
          </a:prstGeom>
          <a:noFill/>
        </p:spPr>
        <p:txBody>
          <a:bodyPr wrap="square" lIns="13716" rIns="13716" tIns="0" bIns="0">
            <a:spAutoFit/>
          </a:bodyPr>
          <a:lstStyle/>
          <a:p>
            <a:pPr>
              <a:spcAft>
                <a:spcPts val="500"/>
              </a:spcAft>
              <a:defRPr sz="1000" b="1">
                <a:solidFill>
                  <a:srgbClr val="35DFC3"/>
                </a:solidFill>
                <a:latin typeface="Aptos"/>
              </a:defRPr>
            </a:pPr>
            <a:r>
              <a:t>FPGA SYSTEM INTEGRATION</a:t>
            </a:r>
          </a:p>
        </p:txBody>
      </p:sp>
      <p:sp>
        <p:nvSpPr>
          <p:cNvPr id="3" name="TextBox 2"/>
          <p:cNvSpPr txBox="1"/>
          <p:nvPr/>
        </p:nvSpPr>
        <p:spPr>
          <a:xfrm>
            <a:off x="502920" y="713232"/>
            <a:ext cx="11155680" cy="640080"/>
          </a:xfrm>
          <a:prstGeom prst="rect">
            <a:avLst/>
          </a:prstGeom>
          <a:noFill/>
        </p:spPr>
        <p:txBody>
          <a:bodyPr wrap="square" lIns="13716" rIns="13716" tIns="0" bIns="0">
            <a:spAutoFit/>
          </a:bodyPr>
          <a:lstStyle/>
          <a:p>
            <a:pPr>
              <a:spcAft>
                <a:spcPts val="500"/>
              </a:spcAft>
              <a:defRPr sz="3000" b="1">
                <a:solidFill>
                  <a:srgbClr val="FFFFFF"/>
                </a:solidFill>
                <a:latin typeface="Aptos Display"/>
              </a:defRPr>
            </a:pPr>
            <a:r>
              <a:t>FPGA implementation: the PS–PL system diagram</a:t>
            </a:r>
          </a:p>
        </p:txBody>
      </p:sp>
      <p:sp>
        <p:nvSpPr>
          <p:cNvPr id="4" name="TextBox 3"/>
          <p:cNvSpPr txBox="1"/>
          <p:nvPr/>
        </p:nvSpPr>
        <p:spPr>
          <a:xfrm>
            <a:off x="512064" y="1426464"/>
            <a:ext cx="11109960" cy="502920"/>
          </a:xfrm>
          <a:prstGeom prst="rect">
            <a:avLst/>
          </a:prstGeom>
          <a:noFill/>
        </p:spPr>
        <p:txBody>
          <a:bodyPr wrap="square" lIns="13716" rIns="13716" tIns="0" bIns="0">
            <a:spAutoFit/>
          </a:bodyPr>
          <a:lstStyle/>
          <a:p>
            <a:pPr>
              <a:spcAft>
                <a:spcPts val="500"/>
              </a:spcAft>
              <a:defRPr sz="1400" b="0">
                <a:solidFill>
                  <a:srgbClr val="A8B7CF"/>
                </a:solidFill>
                <a:latin typeface="Aptos"/>
              </a:defRPr>
            </a:pPr>
            <a:r>
              <a:t>Vivado block-design connections for the accelerator IP on the Zynq UltraScale+ MPSoC.</a:t>
            </a:r>
          </a:p>
        </p:txBody>
      </p:sp>
      <p:sp>
        <p:nvSpPr>
          <p:cNvPr id="5" name="Rectangle 4"/>
          <p:cNvSpPr/>
          <p:nvPr/>
        </p:nvSpPr>
        <p:spPr>
          <a:xfrm>
            <a:off x="502920" y="6455664"/>
            <a:ext cx="11183112" cy="10972"/>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3657600" cy="155448"/>
          </a:xfrm>
          <a:prstGeom prst="rect">
            <a:avLst/>
          </a:prstGeom>
          <a:noFill/>
        </p:spPr>
        <p:txBody>
          <a:bodyPr wrap="square" lIns="13716" rIns="13716" tIns="0" bIns="0">
            <a:spAutoFit/>
          </a:bodyPr>
          <a:lstStyle/>
          <a:p>
            <a:pPr>
              <a:spcAft>
                <a:spcPts val="500"/>
              </a:spcAft>
              <a:defRPr sz="800" b="1">
                <a:solidFill>
                  <a:srgbClr val="A8B7CF"/>
                </a:solidFill>
                <a:latin typeface="Aptos"/>
              </a:defRPr>
            </a:pPr>
            <a:r>
              <a:t>UNIFIED C-ENGINE  /  ZCU106</a:t>
            </a:r>
          </a:p>
        </p:txBody>
      </p:sp>
      <p:sp>
        <p:nvSpPr>
          <p:cNvPr id="7" name="TextBox 6"/>
          <p:cNvSpPr txBox="1"/>
          <p:nvPr/>
        </p:nvSpPr>
        <p:spPr>
          <a:xfrm>
            <a:off x="3657600" y="6556248"/>
            <a:ext cx="6949440" cy="182880"/>
          </a:xfrm>
          <a:prstGeom prst="rect">
            <a:avLst/>
          </a:prstGeom>
          <a:noFill/>
        </p:spPr>
        <p:txBody>
          <a:bodyPr wrap="square" lIns="13716" rIns="13716" tIns="0" bIns="0">
            <a:spAutoFit/>
          </a:bodyPr>
          <a:lstStyle/>
          <a:p>
            <a:pPr algn="r">
              <a:spcAft>
                <a:spcPts val="500"/>
              </a:spcAft>
              <a:defRPr sz="800" b="0">
                <a:solidFill>
                  <a:srgbClr val="A8B7CF"/>
                </a:solidFill>
                <a:latin typeface="Aptos"/>
              </a:defRPr>
            </a:pPr>
            <a:r>
              <a:t>fpga/create_bd.tcl • rtl/c_engine_dma_top.v</a:t>
            </a:r>
          </a:p>
        </p:txBody>
      </p:sp>
      <p:sp>
        <p:nvSpPr>
          <p:cNvPr id="8" name="TextBox 7"/>
          <p:cNvSpPr txBox="1"/>
          <p:nvPr/>
        </p:nvSpPr>
        <p:spPr>
          <a:xfrm>
            <a:off x="10927080" y="6547104"/>
            <a:ext cx="731520" cy="201168"/>
          </a:xfrm>
          <a:prstGeom prst="rect">
            <a:avLst/>
          </a:prstGeom>
          <a:noFill/>
        </p:spPr>
        <p:txBody>
          <a:bodyPr wrap="square" lIns="13716" rIns="13716" tIns="0" bIns="0">
            <a:spAutoFit/>
          </a:bodyPr>
          <a:lstStyle/>
          <a:p>
            <a:pPr algn="r">
              <a:spcAft>
                <a:spcPts val="500"/>
              </a:spcAft>
              <a:defRPr sz="900" b="0">
                <a:solidFill>
                  <a:srgbClr val="35DFC3"/>
                </a:solidFill>
                <a:latin typeface="Aptos"/>
              </a:defRPr>
            </a:pPr>
            <a:r>
              <a:t>04 / 17</a:t>
            </a:r>
          </a:p>
        </p:txBody>
      </p:sp>
      <p:sp>
        <p:nvSpPr>
          <p:cNvPr id="9" name="Rounded Rectangle 8"/>
          <p:cNvSpPr/>
          <p:nvPr/>
        </p:nvSpPr>
        <p:spPr>
          <a:xfrm>
            <a:off x="502920" y="2029968"/>
            <a:ext cx="2971800" cy="3685032"/>
          </a:xfrm>
          <a:prstGeom prst="roundRect">
            <a:avLst>
              <a:gd name="adj" fmla="val 12000"/>
            </a:avLst>
          </a:prstGeom>
          <a:solidFill>
            <a:srgbClr val="1421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194560"/>
            <a:ext cx="2606040" cy="237744"/>
          </a:xfrm>
          <a:prstGeom prst="rect">
            <a:avLst/>
          </a:prstGeom>
          <a:noFill/>
        </p:spPr>
        <p:txBody>
          <a:bodyPr wrap="square" lIns="13716" rIns="13716" tIns="0" bIns="0">
            <a:spAutoFit/>
          </a:bodyPr>
          <a:lstStyle/>
          <a:p>
            <a:pPr>
              <a:spcAft>
                <a:spcPts val="500"/>
              </a:spcAft>
              <a:defRPr sz="1200" b="1">
                <a:solidFill>
                  <a:srgbClr val="6BA6FF"/>
                </a:solidFill>
                <a:latin typeface="Aptos"/>
              </a:defRPr>
            </a:pPr>
            <a:r>
              <a:t>PROCESSING SYSTEM (PS)</a:t>
            </a:r>
          </a:p>
        </p:txBody>
      </p:sp>
      <p:sp>
        <p:nvSpPr>
          <p:cNvPr id="11" name="Rounded Rectangle 10"/>
          <p:cNvSpPr/>
          <p:nvPr/>
        </p:nvSpPr>
        <p:spPr>
          <a:xfrm>
            <a:off x="3730752" y="2029968"/>
            <a:ext cx="7946136" cy="3685032"/>
          </a:xfrm>
          <a:prstGeom prst="roundRect">
            <a:avLst>
              <a:gd name="adj" fmla="val 12000"/>
            </a:avLst>
          </a:prstGeom>
          <a:solidFill>
            <a:srgbClr val="1421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31920" y="2194560"/>
            <a:ext cx="7315200" cy="237744"/>
          </a:xfrm>
          <a:prstGeom prst="rect">
            <a:avLst/>
          </a:prstGeom>
          <a:noFill/>
        </p:spPr>
        <p:txBody>
          <a:bodyPr wrap="square" lIns="13716" rIns="13716" tIns="0" bIns="0">
            <a:spAutoFit/>
          </a:bodyPr>
          <a:lstStyle/>
          <a:p>
            <a:pPr>
              <a:spcAft>
                <a:spcPts val="500"/>
              </a:spcAft>
              <a:defRPr sz="1200" b="1">
                <a:solidFill>
                  <a:srgbClr val="35DFC3"/>
                </a:solidFill>
                <a:latin typeface="Aptos"/>
              </a:defRPr>
            </a:pPr>
            <a:r>
              <a:t>PROGRAMMABLE LOGIC (PL)</a:t>
            </a:r>
          </a:p>
        </p:txBody>
      </p:sp>
      <p:sp>
        <p:nvSpPr>
          <p:cNvPr id="13" name="Rounded Rectangle 12"/>
          <p:cNvSpPr/>
          <p:nvPr/>
        </p:nvSpPr>
        <p:spPr>
          <a:xfrm>
            <a:off x="704088" y="2724912"/>
            <a:ext cx="2551176" cy="713232"/>
          </a:xfrm>
          <a:prstGeom prst="roundRect">
            <a:avLst>
              <a:gd name="adj" fmla="val 12000"/>
            </a:avLst>
          </a:prstGeom>
          <a:solidFill>
            <a:srgbClr val="1C2C47"/>
          </a:solidFill>
          <a:ln>
            <a:solidFill>
              <a:srgbClr val="6BA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3816" y="2816352"/>
            <a:ext cx="2331720" cy="292608"/>
          </a:xfrm>
          <a:prstGeom prst="rect">
            <a:avLst/>
          </a:prstGeom>
          <a:noFill/>
        </p:spPr>
        <p:txBody>
          <a:bodyPr wrap="square" lIns="13716" rIns="13716" tIns="0" bIns="0">
            <a:spAutoFit/>
          </a:bodyPr>
          <a:lstStyle/>
          <a:p>
            <a:pPr>
              <a:spcAft>
                <a:spcPts val="500"/>
              </a:spcAft>
              <a:defRPr sz="1300" b="1">
                <a:solidFill>
                  <a:srgbClr val="FFFFFF"/>
                </a:solidFill>
                <a:latin typeface="Aptos"/>
              </a:defRPr>
            </a:pPr>
            <a:r>
              <a:t>ARM / M_AXI_HPM0_FPD</a:t>
            </a:r>
          </a:p>
        </p:txBody>
      </p:sp>
      <p:sp>
        <p:nvSpPr>
          <p:cNvPr id="15" name="TextBox 14"/>
          <p:cNvSpPr txBox="1"/>
          <p:nvPr/>
        </p:nvSpPr>
        <p:spPr>
          <a:xfrm>
            <a:off x="813816" y="3145536"/>
            <a:ext cx="2331720" cy="265176"/>
          </a:xfrm>
          <a:prstGeom prst="rect">
            <a:avLst/>
          </a:prstGeom>
          <a:noFill/>
        </p:spPr>
        <p:txBody>
          <a:bodyPr wrap="square" lIns="13716" rIns="13716" tIns="0" bIns="0">
            <a:spAutoFit/>
          </a:bodyPr>
          <a:lstStyle/>
          <a:p>
            <a:pPr>
              <a:spcAft>
                <a:spcPts val="500"/>
              </a:spcAft>
              <a:defRPr sz="1150" b="0">
                <a:solidFill>
                  <a:srgbClr val="A8B7CF"/>
                </a:solidFill>
                <a:latin typeface="Aptos"/>
              </a:defRPr>
            </a:pPr>
            <a:r>
              <a:t>Control master: 128-bit AXI</a:t>
            </a:r>
          </a:p>
        </p:txBody>
      </p:sp>
      <p:sp>
        <p:nvSpPr>
          <p:cNvPr id="16" name="Rounded Rectangle 15"/>
          <p:cNvSpPr/>
          <p:nvPr/>
        </p:nvSpPr>
        <p:spPr>
          <a:xfrm>
            <a:off x="704088" y="3666744"/>
            <a:ext cx="2551176" cy="713232"/>
          </a:xfrm>
          <a:prstGeom prst="roundRect">
            <a:avLst>
              <a:gd name="adj" fmla="val 12000"/>
            </a:avLst>
          </a:prstGeom>
          <a:solidFill>
            <a:srgbClr val="1C2C47"/>
          </a:solidFill>
          <a:ln>
            <a:solidFill>
              <a:srgbClr val="6BA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3816" y="3758183"/>
            <a:ext cx="2331720" cy="292608"/>
          </a:xfrm>
          <a:prstGeom prst="rect">
            <a:avLst/>
          </a:prstGeom>
          <a:noFill/>
        </p:spPr>
        <p:txBody>
          <a:bodyPr wrap="square" lIns="13716" rIns="13716" tIns="0" bIns="0">
            <a:spAutoFit/>
          </a:bodyPr>
          <a:lstStyle/>
          <a:p>
            <a:pPr>
              <a:spcAft>
                <a:spcPts val="500"/>
              </a:spcAft>
              <a:defRPr sz="1300" b="1">
                <a:solidFill>
                  <a:srgbClr val="FFFFFF"/>
                </a:solidFill>
                <a:latin typeface="Aptos"/>
              </a:defRPr>
            </a:pPr>
            <a:r>
              <a:t>PS DDR / S_AXI_HP0_FPD</a:t>
            </a:r>
          </a:p>
        </p:txBody>
      </p:sp>
      <p:sp>
        <p:nvSpPr>
          <p:cNvPr id="18" name="TextBox 17"/>
          <p:cNvSpPr txBox="1"/>
          <p:nvPr/>
        </p:nvSpPr>
        <p:spPr>
          <a:xfrm>
            <a:off x="813816" y="4087368"/>
            <a:ext cx="2331720" cy="265176"/>
          </a:xfrm>
          <a:prstGeom prst="rect">
            <a:avLst/>
          </a:prstGeom>
          <a:noFill/>
        </p:spPr>
        <p:txBody>
          <a:bodyPr wrap="square" lIns="13716" rIns="13716" tIns="0" bIns="0">
            <a:spAutoFit/>
          </a:bodyPr>
          <a:lstStyle/>
          <a:p>
            <a:pPr>
              <a:spcAft>
                <a:spcPts val="500"/>
              </a:spcAft>
              <a:defRPr sz="1150" b="0">
                <a:solidFill>
                  <a:srgbClr val="A8B7CF"/>
                </a:solidFill>
                <a:latin typeface="Aptos"/>
              </a:defRPr>
            </a:pPr>
            <a:r>
              <a:t>Read-data return: 128 bits</a:t>
            </a:r>
          </a:p>
        </p:txBody>
      </p:sp>
      <p:sp>
        <p:nvSpPr>
          <p:cNvPr id="19" name="Rounded Rectangle 18"/>
          <p:cNvSpPr/>
          <p:nvPr/>
        </p:nvSpPr>
        <p:spPr>
          <a:xfrm>
            <a:off x="704088" y="4608576"/>
            <a:ext cx="2551176" cy="713232"/>
          </a:xfrm>
          <a:prstGeom prst="roundRect">
            <a:avLst>
              <a:gd name="adj" fmla="val 12000"/>
            </a:avLst>
          </a:prstGeom>
          <a:solidFill>
            <a:srgbClr val="1C2C47"/>
          </a:solidFill>
          <a:ln>
            <a:solidFill>
              <a:srgbClr val="6BA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3816" y="4700016"/>
            <a:ext cx="2331720" cy="292608"/>
          </a:xfrm>
          <a:prstGeom prst="rect">
            <a:avLst/>
          </a:prstGeom>
          <a:noFill/>
        </p:spPr>
        <p:txBody>
          <a:bodyPr wrap="square" lIns="13716" rIns="13716" tIns="0" bIns="0">
            <a:spAutoFit/>
          </a:bodyPr>
          <a:lstStyle/>
          <a:p>
            <a:pPr>
              <a:spcAft>
                <a:spcPts val="500"/>
              </a:spcAft>
              <a:defRPr sz="1300" b="1">
                <a:solidFill>
                  <a:srgbClr val="FFFFFF"/>
                </a:solidFill>
                <a:latin typeface="Aptos"/>
              </a:defRPr>
            </a:pPr>
            <a:r>
              <a:t>PS DDR / S_AXI_HP1_FPD</a:t>
            </a:r>
          </a:p>
        </p:txBody>
      </p:sp>
      <p:sp>
        <p:nvSpPr>
          <p:cNvPr id="21" name="TextBox 20"/>
          <p:cNvSpPr txBox="1"/>
          <p:nvPr/>
        </p:nvSpPr>
        <p:spPr>
          <a:xfrm>
            <a:off x="813816" y="5029200"/>
            <a:ext cx="2331720" cy="265176"/>
          </a:xfrm>
          <a:prstGeom prst="rect">
            <a:avLst/>
          </a:prstGeom>
          <a:noFill/>
        </p:spPr>
        <p:txBody>
          <a:bodyPr wrap="square" lIns="13716" rIns="13716" tIns="0" bIns="0">
            <a:spAutoFit/>
          </a:bodyPr>
          <a:lstStyle/>
          <a:p>
            <a:pPr>
              <a:spcAft>
                <a:spcPts val="500"/>
              </a:spcAft>
              <a:defRPr sz="1150" b="0">
                <a:solidFill>
                  <a:srgbClr val="A8B7CF"/>
                </a:solidFill>
                <a:latin typeface="Aptos"/>
              </a:defRPr>
            </a:pPr>
            <a:r>
              <a:t>Write-data destination: 128 bits</a:t>
            </a:r>
          </a:p>
        </p:txBody>
      </p:sp>
      <p:sp>
        <p:nvSpPr>
          <p:cNvPr id="22" name="Rounded Rectangle 21"/>
          <p:cNvSpPr/>
          <p:nvPr/>
        </p:nvSpPr>
        <p:spPr>
          <a:xfrm>
            <a:off x="4087368" y="2724912"/>
            <a:ext cx="2048256" cy="713232"/>
          </a:xfrm>
          <a:prstGeom prst="roundRect">
            <a:avLst>
              <a:gd name="adj" fmla="val 12000"/>
            </a:avLst>
          </a:prstGeom>
          <a:solidFill>
            <a:srgbClr val="1C2C47"/>
          </a:solidFill>
          <a:ln>
            <a:solidFill>
              <a:srgbClr val="35DF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97096" y="2816352"/>
            <a:ext cx="1828800" cy="292608"/>
          </a:xfrm>
          <a:prstGeom prst="rect">
            <a:avLst/>
          </a:prstGeom>
          <a:noFill/>
        </p:spPr>
        <p:txBody>
          <a:bodyPr wrap="square" lIns="13716" rIns="13716" tIns="0" bIns="0">
            <a:spAutoFit/>
          </a:bodyPr>
          <a:lstStyle/>
          <a:p>
            <a:pPr>
              <a:spcAft>
                <a:spcPts val="500"/>
              </a:spcAft>
              <a:defRPr sz="1400" b="1">
                <a:solidFill>
                  <a:srgbClr val="FFFFFF"/>
                </a:solidFill>
                <a:latin typeface="Aptos"/>
              </a:defRPr>
            </a:pPr>
            <a:r>
              <a:t>axi_smc_ctrl</a:t>
            </a:r>
          </a:p>
        </p:txBody>
      </p:sp>
      <p:sp>
        <p:nvSpPr>
          <p:cNvPr id="24" name="TextBox 23"/>
          <p:cNvSpPr txBox="1"/>
          <p:nvPr/>
        </p:nvSpPr>
        <p:spPr>
          <a:xfrm>
            <a:off x="4197096" y="3145536"/>
            <a:ext cx="1828800" cy="265176"/>
          </a:xfrm>
          <a:prstGeom prst="rect">
            <a:avLst/>
          </a:prstGeom>
          <a:noFill/>
        </p:spPr>
        <p:txBody>
          <a:bodyPr wrap="square" lIns="13716" rIns="13716" tIns="0" bIns="0">
            <a:spAutoFit/>
          </a:bodyPr>
          <a:lstStyle/>
          <a:p>
            <a:pPr>
              <a:spcAft>
                <a:spcPts val="500"/>
              </a:spcAft>
              <a:defRPr sz="1150" b="0">
                <a:solidFill>
                  <a:srgbClr val="A8B7CF"/>
                </a:solidFill>
                <a:latin typeface="Aptos"/>
              </a:defRPr>
            </a:pPr>
            <a:r>
              <a:t>128 → 32-bit control</a:t>
            </a:r>
          </a:p>
        </p:txBody>
      </p:sp>
      <p:sp>
        <p:nvSpPr>
          <p:cNvPr id="25" name="Rounded Rectangle 24"/>
          <p:cNvSpPr/>
          <p:nvPr/>
        </p:nvSpPr>
        <p:spPr>
          <a:xfrm>
            <a:off x="4087368" y="3666744"/>
            <a:ext cx="2048256" cy="713232"/>
          </a:xfrm>
          <a:prstGeom prst="roundRect">
            <a:avLst>
              <a:gd name="adj" fmla="val 12000"/>
            </a:avLst>
          </a:prstGeom>
          <a:solidFill>
            <a:srgbClr val="1C2C47"/>
          </a:solidFill>
          <a:ln>
            <a:solidFill>
              <a:srgbClr val="6BA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97096" y="3758183"/>
            <a:ext cx="1828800" cy="292608"/>
          </a:xfrm>
          <a:prstGeom prst="rect">
            <a:avLst/>
          </a:prstGeom>
          <a:noFill/>
        </p:spPr>
        <p:txBody>
          <a:bodyPr wrap="square" lIns="13716" rIns="13716" tIns="0" bIns="0">
            <a:spAutoFit/>
          </a:bodyPr>
          <a:lstStyle/>
          <a:p>
            <a:pPr>
              <a:spcAft>
                <a:spcPts val="500"/>
              </a:spcAft>
              <a:defRPr sz="1400" b="1">
                <a:solidFill>
                  <a:srgbClr val="FFFFFF"/>
                </a:solidFill>
                <a:latin typeface="Aptos"/>
              </a:defRPr>
            </a:pPr>
            <a:r>
              <a:t>axi_smc_rd</a:t>
            </a:r>
          </a:p>
        </p:txBody>
      </p:sp>
      <p:sp>
        <p:nvSpPr>
          <p:cNvPr id="27" name="TextBox 26"/>
          <p:cNvSpPr txBox="1"/>
          <p:nvPr/>
        </p:nvSpPr>
        <p:spPr>
          <a:xfrm>
            <a:off x="4197096" y="4087368"/>
            <a:ext cx="1828800" cy="265176"/>
          </a:xfrm>
          <a:prstGeom prst="rect">
            <a:avLst/>
          </a:prstGeom>
          <a:noFill/>
        </p:spPr>
        <p:txBody>
          <a:bodyPr wrap="square" lIns="13716" rIns="13716" tIns="0" bIns="0">
            <a:spAutoFit/>
          </a:bodyPr>
          <a:lstStyle/>
          <a:p>
            <a:pPr>
              <a:spcAft>
                <a:spcPts val="500"/>
              </a:spcAft>
              <a:defRPr sz="1150" b="0">
                <a:solidFill>
                  <a:srgbClr val="A8B7CF"/>
                </a:solidFill>
                <a:latin typeface="Aptos"/>
              </a:defRPr>
            </a:pPr>
            <a:r>
              <a:t>Read SmartConnect</a:t>
            </a:r>
          </a:p>
        </p:txBody>
      </p:sp>
      <p:sp>
        <p:nvSpPr>
          <p:cNvPr id="28" name="Rounded Rectangle 27"/>
          <p:cNvSpPr/>
          <p:nvPr/>
        </p:nvSpPr>
        <p:spPr>
          <a:xfrm>
            <a:off x="4087368" y="4608576"/>
            <a:ext cx="2048256" cy="713232"/>
          </a:xfrm>
          <a:prstGeom prst="roundRect">
            <a:avLst>
              <a:gd name="adj" fmla="val 12000"/>
            </a:avLst>
          </a:prstGeom>
          <a:solidFill>
            <a:srgbClr val="1C2C47"/>
          </a:solidFill>
          <a:ln>
            <a:solidFill>
              <a:srgbClr val="A69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97096" y="4700016"/>
            <a:ext cx="1828800" cy="292608"/>
          </a:xfrm>
          <a:prstGeom prst="rect">
            <a:avLst/>
          </a:prstGeom>
          <a:noFill/>
        </p:spPr>
        <p:txBody>
          <a:bodyPr wrap="square" lIns="13716" rIns="13716" tIns="0" bIns="0">
            <a:spAutoFit/>
          </a:bodyPr>
          <a:lstStyle/>
          <a:p>
            <a:pPr>
              <a:spcAft>
                <a:spcPts val="500"/>
              </a:spcAft>
              <a:defRPr sz="1400" b="1">
                <a:solidFill>
                  <a:srgbClr val="FFFFFF"/>
                </a:solidFill>
                <a:latin typeface="Aptos"/>
              </a:defRPr>
            </a:pPr>
            <a:r>
              <a:t>axi_smc_wr</a:t>
            </a:r>
          </a:p>
        </p:txBody>
      </p:sp>
      <p:sp>
        <p:nvSpPr>
          <p:cNvPr id="30" name="TextBox 29"/>
          <p:cNvSpPr txBox="1"/>
          <p:nvPr/>
        </p:nvSpPr>
        <p:spPr>
          <a:xfrm>
            <a:off x="4197096" y="5029200"/>
            <a:ext cx="1828800" cy="265176"/>
          </a:xfrm>
          <a:prstGeom prst="rect">
            <a:avLst/>
          </a:prstGeom>
          <a:noFill/>
        </p:spPr>
        <p:txBody>
          <a:bodyPr wrap="square" lIns="13716" rIns="13716" tIns="0" bIns="0">
            <a:spAutoFit/>
          </a:bodyPr>
          <a:lstStyle/>
          <a:p>
            <a:pPr>
              <a:spcAft>
                <a:spcPts val="500"/>
              </a:spcAft>
              <a:defRPr sz="1150" b="0">
                <a:solidFill>
                  <a:srgbClr val="A8B7CF"/>
                </a:solidFill>
                <a:latin typeface="Aptos"/>
              </a:defRPr>
            </a:pPr>
            <a:r>
              <a:t>Write SmartConnect</a:t>
            </a:r>
          </a:p>
        </p:txBody>
      </p:sp>
      <p:sp>
        <p:nvSpPr>
          <p:cNvPr id="31" name="Rounded Rectangle 30"/>
          <p:cNvSpPr/>
          <p:nvPr/>
        </p:nvSpPr>
        <p:spPr>
          <a:xfrm>
            <a:off x="6903720" y="2596896"/>
            <a:ext cx="4535424" cy="2944368"/>
          </a:xfrm>
          <a:prstGeom prst="roundRect">
            <a:avLst>
              <a:gd name="adj" fmla="val 12000"/>
            </a:avLst>
          </a:prstGeom>
          <a:solidFill>
            <a:srgbClr val="0B1224"/>
          </a:solidFill>
          <a:ln>
            <a:solidFill>
              <a:srgbClr val="35DF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95744" y="2734056"/>
            <a:ext cx="4114800" cy="283464"/>
          </a:xfrm>
          <a:prstGeom prst="rect">
            <a:avLst/>
          </a:prstGeom>
          <a:noFill/>
        </p:spPr>
        <p:txBody>
          <a:bodyPr wrap="square" lIns="13716" rIns="13716" tIns="0" bIns="0">
            <a:spAutoFit/>
          </a:bodyPr>
          <a:lstStyle/>
          <a:p>
            <a:pPr>
              <a:spcAft>
                <a:spcPts val="500"/>
              </a:spcAft>
              <a:defRPr sz="1800" b="1">
                <a:solidFill>
                  <a:srgbClr val="FFFFFF"/>
                </a:solidFill>
                <a:latin typeface="Consolas"/>
              </a:defRPr>
            </a:pPr>
            <a:r>
              <a:t>c_engine_dma_top</a:t>
            </a:r>
          </a:p>
        </p:txBody>
      </p:sp>
      <p:sp>
        <p:nvSpPr>
          <p:cNvPr id="33" name="TextBox 32"/>
          <p:cNvSpPr txBox="1"/>
          <p:nvPr/>
        </p:nvSpPr>
        <p:spPr>
          <a:xfrm>
            <a:off x="7132320" y="3172968"/>
            <a:ext cx="4069080" cy="256032"/>
          </a:xfrm>
          <a:prstGeom prst="rect">
            <a:avLst/>
          </a:prstGeom>
          <a:noFill/>
        </p:spPr>
        <p:txBody>
          <a:bodyPr wrap="square" lIns="13716" rIns="13716" tIns="0" bIns="0">
            <a:spAutoFit/>
          </a:bodyPr>
          <a:lstStyle/>
          <a:p>
            <a:pPr>
              <a:spcAft>
                <a:spcPts val="500"/>
              </a:spcAft>
              <a:defRPr sz="1400" b="0">
                <a:solidFill>
                  <a:srgbClr val="35DFC3"/>
                </a:solidFill>
                <a:latin typeface="Aptos"/>
              </a:defRPr>
            </a:pPr>
            <a:r>
              <a:t>s_axi_lite  /  register control</a:t>
            </a:r>
          </a:p>
        </p:txBody>
      </p:sp>
      <p:sp>
        <p:nvSpPr>
          <p:cNvPr id="34" name="TextBox 33"/>
          <p:cNvSpPr txBox="1"/>
          <p:nvPr/>
        </p:nvSpPr>
        <p:spPr>
          <a:xfrm>
            <a:off x="7132320" y="3941063"/>
            <a:ext cx="4069080" cy="256032"/>
          </a:xfrm>
          <a:prstGeom prst="rect">
            <a:avLst/>
          </a:prstGeom>
          <a:noFill/>
        </p:spPr>
        <p:txBody>
          <a:bodyPr wrap="square" lIns="13716" rIns="13716" tIns="0" bIns="0">
            <a:spAutoFit/>
          </a:bodyPr>
          <a:lstStyle/>
          <a:p>
            <a:pPr>
              <a:spcAft>
                <a:spcPts val="500"/>
              </a:spcAft>
              <a:defRPr sz="1400" b="0">
                <a:solidFill>
                  <a:srgbClr val="6BA6FF"/>
                </a:solidFill>
                <a:latin typeface="Aptos"/>
              </a:defRPr>
            </a:pPr>
            <a:r>
              <a:t>m0_axi  /  read DMA master</a:t>
            </a:r>
          </a:p>
        </p:txBody>
      </p:sp>
      <p:sp>
        <p:nvSpPr>
          <p:cNvPr id="35" name="TextBox 34"/>
          <p:cNvSpPr txBox="1"/>
          <p:nvPr/>
        </p:nvSpPr>
        <p:spPr>
          <a:xfrm>
            <a:off x="7132320" y="4882896"/>
            <a:ext cx="4069080" cy="256032"/>
          </a:xfrm>
          <a:prstGeom prst="rect">
            <a:avLst/>
          </a:prstGeom>
          <a:noFill/>
        </p:spPr>
        <p:txBody>
          <a:bodyPr wrap="square" lIns="13716" rIns="13716" tIns="0" bIns="0">
            <a:spAutoFit/>
          </a:bodyPr>
          <a:lstStyle/>
          <a:p>
            <a:pPr>
              <a:spcAft>
                <a:spcPts val="500"/>
              </a:spcAft>
              <a:defRPr sz="1400" b="0">
                <a:solidFill>
                  <a:srgbClr val="A69AFF"/>
                </a:solidFill>
                <a:latin typeface="Aptos"/>
              </a:defRPr>
            </a:pPr>
            <a:r>
              <a:t>m1_axi  /  write DMA master</a:t>
            </a:r>
          </a:p>
        </p:txBody>
      </p:sp>
      <p:cxnSp>
        <p:nvCxnSpPr>
          <p:cNvPr id="36" name="Connector 35"/>
          <p:cNvCxnSpPr/>
          <p:nvPr/>
        </p:nvCxnSpPr>
        <p:spPr>
          <a:xfrm>
            <a:off x="3255264" y="3081528"/>
            <a:ext cx="832104" cy="0"/>
          </a:xfrm>
          <a:prstGeom prst="line">
            <a:avLst/>
          </a:prstGeom>
          <a:ln w="20320">
            <a:solidFill>
              <a:srgbClr val="35DFC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135624" y="3081528"/>
            <a:ext cx="374904" cy="0"/>
          </a:xfrm>
          <a:prstGeom prst="line">
            <a:avLst/>
          </a:prstGeom>
          <a:ln w="20320">
            <a:solidFill>
              <a:srgbClr val="35DFC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510528" y="3081528"/>
            <a:ext cx="0" cy="228600"/>
          </a:xfrm>
          <a:prstGeom prst="line">
            <a:avLst/>
          </a:prstGeom>
          <a:ln w="20320">
            <a:solidFill>
              <a:srgbClr val="35DFC3"/>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510528" y="3310128"/>
            <a:ext cx="576072" cy="0"/>
          </a:xfrm>
          <a:prstGeom prst="line">
            <a:avLst/>
          </a:prstGeom>
          <a:ln w="20320">
            <a:solidFill>
              <a:srgbClr val="35DFC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255264" y="4023360"/>
            <a:ext cx="832104" cy="0"/>
          </a:xfrm>
          <a:prstGeom prst="line">
            <a:avLst/>
          </a:prstGeom>
          <a:ln w="20320">
            <a:solidFill>
              <a:srgbClr val="6BA6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135624" y="4023360"/>
            <a:ext cx="950976" cy="0"/>
          </a:xfrm>
          <a:prstGeom prst="line">
            <a:avLst/>
          </a:prstGeom>
          <a:ln w="20320">
            <a:solidFill>
              <a:srgbClr val="6BA6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6135624" y="4965192"/>
            <a:ext cx="950976" cy="0"/>
          </a:xfrm>
          <a:prstGeom prst="line">
            <a:avLst/>
          </a:prstGeom>
          <a:ln w="20320">
            <a:solidFill>
              <a:srgbClr val="A69A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3255264" y="4965192"/>
            <a:ext cx="832104" cy="0"/>
          </a:xfrm>
          <a:prstGeom prst="line">
            <a:avLst/>
          </a:prstGeom>
          <a:ln w="20320">
            <a:solidFill>
              <a:srgbClr val="A69A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3977639" y="5715000"/>
            <a:ext cx="7269480" cy="155448"/>
          </a:xfrm>
          <a:prstGeom prst="rect">
            <a:avLst/>
          </a:prstGeom>
          <a:noFill/>
        </p:spPr>
        <p:txBody>
          <a:bodyPr wrap="square" lIns="13716" rIns="13716" tIns="0" bIns="0">
            <a:spAutoFit/>
          </a:bodyPr>
          <a:lstStyle/>
          <a:p>
            <a:pPr>
              <a:spcAft>
                <a:spcPts val="500"/>
              </a:spcAft>
              <a:defRPr sz="900" b="0">
                <a:solidFill>
                  <a:srgbClr val="A8B7CF"/>
                </a:solidFill>
                <a:latin typeface="Aptos"/>
              </a:defRPr>
            </a:pPr>
            <a:r>
              <a:t>Arrows show control / payload flow; DMA requests originate in PL.</a:t>
            </a:r>
          </a:p>
        </p:txBody>
      </p:sp>
      <p:sp>
        <p:nvSpPr>
          <p:cNvPr id="45" name="Rounded Rectangle 44"/>
          <p:cNvSpPr/>
          <p:nvPr/>
        </p:nvSpPr>
        <p:spPr>
          <a:xfrm>
            <a:off x="502920" y="5897880"/>
            <a:ext cx="11173968" cy="356616"/>
          </a:xfrm>
          <a:prstGeom prst="roundRect">
            <a:avLst>
              <a:gd name="adj" fmla="val 12000"/>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368" y="5971032"/>
            <a:ext cx="2834640" cy="182880"/>
          </a:xfrm>
          <a:prstGeom prst="rect">
            <a:avLst/>
          </a:prstGeom>
          <a:noFill/>
        </p:spPr>
        <p:txBody>
          <a:bodyPr wrap="square" lIns="13716" rIns="13716" tIns="0" bIns="0">
            <a:spAutoFit/>
          </a:bodyPr>
          <a:lstStyle/>
          <a:p>
            <a:pPr>
              <a:spcAft>
                <a:spcPts val="500"/>
              </a:spcAft>
              <a:defRPr sz="1100" b="0">
                <a:solidFill>
                  <a:srgbClr val="FFFFFF"/>
                </a:solidFill>
                <a:latin typeface="Aptos"/>
              </a:defRPr>
            </a:pPr>
            <a:r>
              <a:t>pl_clk0 → shared clock</a:t>
            </a:r>
          </a:p>
        </p:txBody>
      </p:sp>
      <p:sp>
        <p:nvSpPr>
          <p:cNvPr id="47" name="TextBox 46"/>
          <p:cNvSpPr txBox="1"/>
          <p:nvPr/>
        </p:nvSpPr>
        <p:spPr>
          <a:xfrm>
            <a:off x="3822191" y="5971032"/>
            <a:ext cx="2788920" cy="182880"/>
          </a:xfrm>
          <a:prstGeom prst="rect">
            <a:avLst/>
          </a:prstGeom>
          <a:noFill/>
        </p:spPr>
        <p:txBody>
          <a:bodyPr wrap="square" lIns="13716" rIns="13716" tIns="0" bIns="0">
            <a:spAutoFit/>
          </a:bodyPr>
          <a:lstStyle/>
          <a:p>
            <a:pPr>
              <a:spcAft>
                <a:spcPts val="500"/>
              </a:spcAft>
              <a:defRPr sz="1100" b="0">
                <a:solidFill>
                  <a:srgbClr val="FFFFFF"/>
                </a:solidFill>
                <a:latin typeface="Aptos"/>
              </a:defRPr>
            </a:pPr>
            <a:r>
              <a:t>rst_ps8_0 → resets</a:t>
            </a:r>
          </a:p>
        </p:txBody>
      </p:sp>
      <p:sp>
        <p:nvSpPr>
          <p:cNvPr id="48" name="TextBox 47"/>
          <p:cNvSpPr txBox="1"/>
          <p:nvPr/>
        </p:nvSpPr>
        <p:spPr>
          <a:xfrm>
            <a:off x="7470648" y="5971032"/>
            <a:ext cx="3840480" cy="182880"/>
          </a:xfrm>
          <a:prstGeom prst="rect">
            <a:avLst/>
          </a:prstGeom>
          <a:noFill/>
        </p:spPr>
        <p:txBody>
          <a:bodyPr wrap="square" lIns="13716" rIns="13716" tIns="0" bIns="0">
            <a:spAutoFit/>
          </a:bodyPr>
          <a:lstStyle/>
          <a:p>
            <a:pPr>
              <a:spcAft>
                <a:spcPts val="500"/>
              </a:spcAft>
              <a:defRPr sz="1100" b="0">
                <a:solidFill>
                  <a:srgbClr val="FFFFFF"/>
                </a:solidFill>
                <a:latin typeface="Aptos"/>
              </a:defRPr>
            </a:pPr>
            <a:r>
              <a:t>interrupt → PS pl_ps_irq0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1224"/>
        </a:solidFill>
        <a:effectLst/>
      </p:bgPr>
    </p:bg>
    <p:spTree>
      <p:nvGrpSpPr>
        <p:cNvPr id="1" name=""/>
        <p:cNvGrpSpPr/>
        <p:nvPr/>
      </p:nvGrpSpPr>
      <p:grpSpPr/>
      <p:sp>
        <p:nvSpPr>
          <p:cNvPr id="2" name="TextBox 1"/>
          <p:cNvSpPr txBox="1"/>
          <p:nvPr/>
        </p:nvSpPr>
        <p:spPr>
          <a:xfrm>
            <a:off x="502920" y="274320"/>
            <a:ext cx="9144000" cy="210312"/>
          </a:xfrm>
          <a:prstGeom prst="rect">
            <a:avLst/>
          </a:prstGeom>
          <a:noFill/>
        </p:spPr>
        <p:txBody>
          <a:bodyPr wrap="square" lIns="13716" rIns="13716" tIns="0" bIns="0">
            <a:spAutoFit/>
          </a:bodyPr>
          <a:lstStyle/>
          <a:p>
            <a:pPr>
              <a:spcAft>
                <a:spcPts val="500"/>
              </a:spcAft>
              <a:defRPr sz="1000" b="1">
                <a:solidFill>
                  <a:srgbClr val="35DFC3"/>
                </a:solidFill>
                <a:latin typeface="Aptos"/>
              </a:defRPr>
            </a:pPr>
            <a:r>
              <a:t>RTL MODULE ARCHITECTURE</a:t>
            </a:r>
          </a:p>
        </p:txBody>
      </p:sp>
      <p:sp>
        <p:nvSpPr>
          <p:cNvPr id="3" name="TextBox 2"/>
          <p:cNvSpPr txBox="1"/>
          <p:nvPr/>
        </p:nvSpPr>
        <p:spPr>
          <a:xfrm>
            <a:off x="502920" y="713232"/>
            <a:ext cx="11155680" cy="640080"/>
          </a:xfrm>
          <a:prstGeom prst="rect">
            <a:avLst/>
          </a:prstGeom>
          <a:noFill/>
        </p:spPr>
        <p:txBody>
          <a:bodyPr wrap="square" lIns="13716" rIns="13716" tIns="0" bIns="0">
            <a:spAutoFit/>
          </a:bodyPr>
          <a:lstStyle/>
          <a:p>
            <a:pPr>
              <a:spcAft>
                <a:spcPts val="500"/>
              </a:spcAft>
              <a:defRPr sz="3000" b="1">
                <a:solidFill>
                  <a:srgbClr val="FFFFFF"/>
                </a:solidFill>
                <a:latin typeface="Aptos Display"/>
              </a:defRPr>
            </a:pPr>
            <a:r>
              <a:t>RTL engine architecture: modules and data paths</a:t>
            </a:r>
          </a:p>
        </p:txBody>
      </p:sp>
      <p:sp>
        <p:nvSpPr>
          <p:cNvPr id="4" name="TextBox 3"/>
          <p:cNvSpPr txBox="1"/>
          <p:nvPr/>
        </p:nvSpPr>
        <p:spPr>
          <a:xfrm>
            <a:off x="512064" y="1426464"/>
            <a:ext cx="11109960" cy="502920"/>
          </a:xfrm>
          <a:prstGeom prst="rect">
            <a:avLst/>
          </a:prstGeom>
          <a:noFill/>
        </p:spPr>
        <p:txBody>
          <a:bodyPr wrap="square" lIns="13716" rIns="13716" tIns="0" bIns="0">
            <a:spAutoFit/>
          </a:bodyPr>
          <a:lstStyle/>
          <a:p>
            <a:pPr>
              <a:spcAft>
                <a:spcPts val="500"/>
              </a:spcAft>
              <a:defRPr sz="1400" b="0">
                <a:solidFill>
                  <a:srgbClr val="A8B7CF"/>
                </a:solidFill>
                <a:latin typeface="Aptos"/>
              </a:defRPr>
            </a:pPr>
            <a:r>
              <a:t>The DMA wrapper handles transfers; the compute core contains instruction memory, SRAM, control and the PE array.</a:t>
            </a:r>
          </a:p>
        </p:txBody>
      </p:sp>
      <p:sp>
        <p:nvSpPr>
          <p:cNvPr id="5" name="Rectangle 4"/>
          <p:cNvSpPr/>
          <p:nvPr/>
        </p:nvSpPr>
        <p:spPr>
          <a:xfrm>
            <a:off x="502920" y="6455664"/>
            <a:ext cx="11183112" cy="10972"/>
          </a:xfrm>
          <a:prstGeom prst="rect">
            <a:avLst/>
          </a:prstGeom>
          <a:solidFill>
            <a:srgbClr val="1C2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3657600" cy="155448"/>
          </a:xfrm>
          <a:prstGeom prst="rect">
            <a:avLst/>
          </a:prstGeom>
          <a:noFill/>
        </p:spPr>
        <p:txBody>
          <a:bodyPr wrap="square" lIns="13716" rIns="13716" tIns="0" bIns="0">
            <a:spAutoFit/>
          </a:bodyPr>
          <a:lstStyle/>
          <a:p>
            <a:pPr>
              <a:spcAft>
                <a:spcPts val="500"/>
              </a:spcAft>
              <a:defRPr sz="800" b="1">
                <a:solidFill>
                  <a:srgbClr val="A8B7CF"/>
                </a:solidFill>
                <a:latin typeface="Aptos"/>
              </a:defRPr>
            </a:pPr>
            <a:r>
              <a:t>UNIFIED C-ENGINE  /  ZCU106</a:t>
            </a:r>
          </a:p>
        </p:txBody>
      </p:sp>
      <p:sp>
        <p:nvSpPr>
          <p:cNvPr id="7" name="TextBox 6"/>
          <p:cNvSpPr txBox="1"/>
          <p:nvPr/>
        </p:nvSpPr>
        <p:spPr>
          <a:xfrm>
            <a:off x="3657600" y="6556248"/>
            <a:ext cx="6949440" cy="182880"/>
          </a:xfrm>
          <a:prstGeom prst="rect">
            <a:avLst/>
          </a:prstGeom>
          <a:noFill/>
        </p:spPr>
        <p:txBody>
          <a:bodyPr wrap="square" lIns="13716" rIns="13716" tIns="0" bIns="0">
            <a:spAutoFit/>
          </a:bodyPr>
          <a:lstStyle/>
          <a:p>
            <a:pPr algn="r">
              <a:spcAft>
                <a:spcPts val="500"/>
              </a:spcAft>
              <a:defRPr sz="800" b="0">
                <a:solidFill>
                  <a:srgbClr val="A8B7CF"/>
                </a:solidFill>
                <a:latin typeface="Aptos"/>
              </a:defRPr>
            </a:pPr>
            <a:r>
              <a:t>rtl/c_engine_dma_top.v • c_engine_top.v • c_engine_controller.v</a:t>
            </a:r>
          </a:p>
        </p:txBody>
      </p:sp>
      <p:sp>
        <p:nvSpPr>
          <p:cNvPr id="8" name="TextBox 7"/>
          <p:cNvSpPr txBox="1"/>
          <p:nvPr/>
        </p:nvSpPr>
        <p:spPr>
          <a:xfrm>
            <a:off x="10927080" y="6547104"/>
            <a:ext cx="731520" cy="201168"/>
          </a:xfrm>
          <a:prstGeom prst="rect">
            <a:avLst/>
          </a:prstGeom>
          <a:noFill/>
        </p:spPr>
        <p:txBody>
          <a:bodyPr wrap="square" lIns="13716" rIns="13716" tIns="0" bIns="0">
            <a:spAutoFit/>
          </a:bodyPr>
          <a:lstStyle/>
          <a:p>
            <a:pPr algn="r">
              <a:spcAft>
                <a:spcPts val="500"/>
              </a:spcAft>
              <a:defRPr sz="900" b="0">
                <a:solidFill>
                  <a:srgbClr val="35DFC3"/>
                </a:solidFill>
                <a:latin typeface="Aptos"/>
              </a:defRPr>
            </a:pPr>
            <a:r>
              <a:t>05 / 17</a:t>
            </a:r>
          </a:p>
        </p:txBody>
      </p:sp>
      <p:sp>
        <p:nvSpPr>
          <p:cNvPr id="9" name="Rounded Rectangle 8"/>
          <p:cNvSpPr/>
          <p:nvPr/>
        </p:nvSpPr>
        <p:spPr>
          <a:xfrm>
            <a:off x="502920" y="2002536"/>
            <a:ext cx="11173968" cy="4169663"/>
          </a:xfrm>
          <a:prstGeom prst="roundRect">
            <a:avLst>
              <a:gd name="adj" fmla="val 12000"/>
            </a:avLst>
          </a:prstGeom>
          <a:solidFill>
            <a:srgbClr val="1421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157984"/>
            <a:ext cx="10515600" cy="274320"/>
          </a:xfrm>
          <a:prstGeom prst="rect">
            <a:avLst/>
          </a:prstGeom>
          <a:noFill/>
        </p:spPr>
        <p:txBody>
          <a:bodyPr wrap="square" lIns="13716" rIns="13716" tIns="0" bIns="0">
            <a:spAutoFit/>
          </a:bodyPr>
          <a:lstStyle/>
          <a:p>
            <a:pPr>
              <a:spcAft>
                <a:spcPts val="500"/>
              </a:spcAft>
              <a:defRPr sz="1600" b="1">
                <a:solidFill>
                  <a:srgbClr val="35DFC3"/>
                </a:solidFill>
                <a:latin typeface="Consolas"/>
              </a:defRPr>
            </a:pPr>
            <a:r>
              <a:t>c_engine_dma_top</a:t>
            </a:r>
          </a:p>
        </p:txBody>
      </p:sp>
      <p:sp>
        <p:nvSpPr>
          <p:cNvPr id="11" name="Rounded Rectangle 10"/>
          <p:cNvSpPr/>
          <p:nvPr/>
        </p:nvSpPr>
        <p:spPr>
          <a:xfrm>
            <a:off x="722376" y="2697480"/>
            <a:ext cx="2286000" cy="685800"/>
          </a:xfrm>
          <a:prstGeom prst="roundRect">
            <a:avLst>
              <a:gd name="adj" fmla="val 12000"/>
            </a:avLst>
          </a:prstGeom>
          <a:solidFill>
            <a:srgbClr val="1C2C47"/>
          </a:solidFill>
          <a:ln>
            <a:solidFill>
              <a:srgbClr val="35DF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 y="2788920"/>
            <a:ext cx="2066543" cy="292608"/>
          </a:xfrm>
          <a:prstGeom prst="rect">
            <a:avLst/>
          </a:prstGeom>
          <a:noFill/>
        </p:spPr>
        <p:txBody>
          <a:bodyPr wrap="square" lIns="13716" rIns="13716" tIns="0" bIns="0">
            <a:spAutoFit/>
          </a:bodyPr>
          <a:lstStyle/>
          <a:p>
            <a:pPr>
              <a:spcAft>
                <a:spcPts val="500"/>
              </a:spcAft>
              <a:defRPr sz="1400" b="1">
                <a:solidFill>
                  <a:srgbClr val="FFFFFF"/>
                </a:solidFill>
                <a:latin typeface="Aptos"/>
              </a:defRPr>
            </a:pPr>
            <a:r>
              <a:t>axi_lite_slave</a:t>
            </a:r>
          </a:p>
        </p:txBody>
      </p:sp>
      <p:sp>
        <p:nvSpPr>
          <p:cNvPr id="13" name="TextBox 12"/>
          <p:cNvSpPr txBox="1"/>
          <p:nvPr/>
        </p:nvSpPr>
        <p:spPr>
          <a:xfrm>
            <a:off x="832104" y="3118104"/>
            <a:ext cx="2066543" cy="237744"/>
          </a:xfrm>
          <a:prstGeom prst="rect">
            <a:avLst/>
          </a:prstGeom>
          <a:noFill/>
        </p:spPr>
        <p:txBody>
          <a:bodyPr wrap="square" lIns="13716" rIns="13716" tIns="0" bIns="0">
            <a:spAutoFit/>
          </a:bodyPr>
          <a:lstStyle/>
          <a:p>
            <a:pPr>
              <a:spcAft>
                <a:spcPts val="500"/>
              </a:spcAft>
              <a:defRPr sz="1150" b="0">
                <a:solidFill>
                  <a:srgbClr val="A8B7CF"/>
                </a:solidFill>
                <a:latin typeface="Aptos"/>
              </a:defRPr>
            </a:pPr>
            <a:r>
              <a:t>Control / status / config</a:t>
            </a:r>
          </a:p>
        </p:txBody>
      </p:sp>
      <p:sp>
        <p:nvSpPr>
          <p:cNvPr id="14" name="Rounded Rectangle 13"/>
          <p:cNvSpPr/>
          <p:nvPr/>
        </p:nvSpPr>
        <p:spPr>
          <a:xfrm>
            <a:off x="722376" y="3666744"/>
            <a:ext cx="2286000" cy="804672"/>
          </a:xfrm>
          <a:prstGeom prst="roundRect">
            <a:avLst>
              <a:gd name="adj" fmla="val 12000"/>
            </a:avLst>
          </a:prstGeom>
          <a:solidFill>
            <a:srgbClr val="1C2C47"/>
          </a:solidFill>
          <a:ln>
            <a:solidFill>
              <a:srgbClr val="6BA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 y="3758183"/>
            <a:ext cx="2066543" cy="292608"/>
          </a:xfrm>
          <a:prstGeom prst="rect">
            <a:avLst/>
          </a:prstGeom>
          <a:noFill/>
        </p:spPr>
        <p:txBody>
          <a:bodyPr wrap="square" lIns="13716" rIns="13716" tIns="0" bIns="0">
            <a:spAutoFit/>
          </a:bodyPr>
          <a:lstStyle/>
          <a:p>
            <a:pPr>
              <a:spcAft>
                <a:spcPts val="500"/>
              </a:spcAft>
              <a:defRPr sz="1250" b="1">
                <a:solidFill>
                  <a:srgbClr val="FFFFFF"/>
                </a:solidFill>
                <a:latin typeface="Aptos"/>
              </a:defRPr>
            </a:pPr>
            <a:r>
              <a:t>axi4_master_rd / wr</a:t>
            </a:r>
          </a:p>
        </p:txBody>
      </p:sp>
      <p:sp>
        <p:nvSpPr>
          <p:cNvPr id="16" name="TextBox 15"/>
          <p:cNvSpPr txBox="1"/>
          <p:nvPr/>
        </p:nvSpPr>
        <p:spPr>
          <a:xfrm>
            <a:off x="832104" y="4087368"/>
            <a:ext cx="2066543" cy="356616"/>
          </a:xfrm>
          <a:prstGeom prst="rect">
            <a:avLst/>
          </a:prstGeom>
          <a:noFill/>
        </p:spPr>
        <p:txBody>
          <a:bodyPr wrap="square" lIns="13716" rIns="13716" tIns="0" bIns="0">
            <a:spAutoFit/>
          </a:bodyPr>
          <a:lstStyle/>
          <a:p>
            <a:pPr>
              <a:spcAft>
                <a:spcPts val="500"/>
              </a:spcAft>
              <a:defRPr sz="1150" b="0">
                <a:solidFill>
                  <a:srgbClr val="A8B7CF"/>
                </a:solidFill>
                <a:latin typeface="Aptos"/>
              </a:defRPr>
            </a:pPr>
            <a:r>
              <a:t>128-bit read / write AXI</a:t>
            </a:r>
          </a:p>
        </p:txBody>
      </p:sp>
      <p:sp>
        <p:nvSpPr>
          <p:cNvPr id="17" name="Rounded Rectangle 16"/>
          <p:cNvSpPr/>
          <p:nvPr/>
        </p:nvSpPr>
        <p:spPr>
          <a:xfrm>
            <a:off x="722376" y="4754880"/>
            <a:ext cx="2286000" cy="713232"/>
          </a:xfrm>
          <a:prstGeom prst="roundRect">
            <a:avLst>
              <a:gd name="adj" fmla="val 12000"/>
            </a:avLst>
          </a:prstGeom>
          <a:solidFill>
            <a:srgbClr val="1C2C47"/>
          </a:solidFill>
          <a:ln>
            <a:solidFill>
              <a:srgbClr val="6BA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 y="4846320"/>
            <a:ext cx="2066543" cy="292608"/>
          </a:xfrm>
          <a:prstGeom prst="rect">
            <a:avLst/>
          </a:prstGeom>
          <a:noFill/>
        </p:spPr>
        <p:txBody>
          <a:bodyPr wrap="square" lIns="13716" rIns="13716" tIns="0" bIns="0">
            <a:spAutoFit/>
          </a:bodyPr>
          <a:lstStyle/>
          <a:p>
            <a:pPr>
              <a:spcAft>
                <a:spcPts val="500"/>
              </a:spcAft>
              <a:defRPr sz="1300" b="1">
                <a:solidFill>
                  <a:srgbClr val="FFFFFF"/>
                </a:solidFill>
                <a:latin typeface="Aptos"/>
              </a:defRPr>
            </a:pPr>
            <a:r>
              <a:t>dma_sram_bridge</a:t>
            </a:r>
          </a:p>
        </p:txBody>
      </p:sp>
      <p:sp>
        <p:nvSpPr>
          <p:cNvPr id="19" name="TextBox 18"/>
          <p:cNvSpPr txBox="1"/>
          <p:nvPr/>
        </p:nvSpPr>
        <p:spPr>
          <a:xfrm>
            <a:off x="832104" y="5175504"/>
            <a:ext cx="2066543" cy="265176"/>
          </a:xfrm>
          <a:prstGeom prst="rect">
            <a:avLst/>
          </a:prstGeom>
          <a:noFill/>
        </p:spPr>
        <p:txBody>
          <a:bodyPr wrap="square" lIns="13716" rIns="13716" tIns="0" bIns="0">
            <a:spAutoFit/>
          </a:bodyPr>
          <a:lstStyle/>
          <a:p>
            <a:pPr>
              <a:spcAft>
                <a:spcPts val="500"/>
              </a:spcAft>
              <a:defRPr sz="1150" b="0">
                <a:solidFill>
                  <a:srgbClr val="A8B7CF"/>
                </a:solidFill>
                <a:latin typeface="Aptos"/>
              </a:defRPr>
            </a:pPr>
            <a:r>
              <a:t>128-bit beat → SRAM bank</a:t>
            </a:r>
          </a:p>
        </p:txBody>
      </p:sp>
      <p:cxnSp>
        <p:nvCxnSpPr>
          <p:cNvPr id="20" name="Connector 19"/>
          <p:cNvCxnSpPr/>
          <p:nvPr/>
        </p:nvCxnSpPr>
        <p:spPr>
          <a:xfrm>
            <a:off x="1865376" y="4471416"/>
            <a:ext cx="0" cy="283464"/>
          </a:xfrm>
          <a:prstGeom prst="line">
            <a:avLst/>
          </a:prstGeom>
          <a:ln w="20320">
            <a:solidFill>
              <a:srgbClr val="6BA6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3410712" y="2514600"/>
            <a:ext cx="8010144" cy="3410712"/>
          </a:xfrm>
          <a:prstGeom prst="roundRect">
            <a:avLst>
              <a:gd name="adj" fmla="val 12000"/>
            </a:avLst>
          </a:prstGeom>
          <a:solidFill>
            <a:srgbClr val="0B1224"/>
          </a:solidFill>
          <a:ln>
            <a:solidFill>
              <a:srgbClr val="3853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21024" y="2633472"/>
            <a:ext cx="7543800" cy="246888"/>
          </a:xfrm>
          <a:prstGeom prst="rect">
            <a:avLst/>
          </a:prstGeom>
          <a:noFill/>
        </p:spPr>
        <p:txBody>
          <a:bodyPr wrap="square" lIns="13716" rIns="13716" tIns="0" bIns="0">
            <a:spAutoFit/>
          </a:bodyPr>
          <a:lstStyle/>
          <a:p>
            <a:pPr>
              <a:spcAft>
                <a:spcPts val="500"/>
              </a:spcAft>
              <a:defRPr sz="1500" b="1">
                <a:solidFill>
                  <a:srgbClr val="FFFFFF"/>
                </a:solidFill>
                <a:latin typeface="Consolas"/>
              </a:defRPr>
            </a:pPr>
            <a:r>
              <a:t>c_engine_top</a:t>
            </a:r>
          </a:p>
        </p:txBody>
      </p:sp>
      <p:sp>
        <p:nvSpPr>
          <p:cNvPr id="23" name="Rounded Rectangle 22"/>
          <p:cNvSpPr/>
          <p:nvPr/>
        </p:nvSpPr>
        <p:spPr>
          <a:xfrm>
            <a:off x="3685032" y="3108960"/>
            <a:ext cx="2093976" cy="758952"/>
          </a:xfrm>
          <a:prstGeom prst="roundRect">
            <a:avLst>
              <a:gd name="adj" fmla="val 12000"/>
            </a:avLst>
          </a:prstGeom>
          <a:solidFill>
            <a:srgbClr val="1C2C47"/>
          </a:solidFill>
          <a:ln>
            <a:solidFill>
              <a:srgbClr val="A69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94760" y="3200400"/>
            <a:ext cx="1874519" cy="292608"/>
          </a:xfrm>
          <a:prstGeom prst="rect">
            <a:avLst/>
          </a:prstGeom>
          <a:noFill/>
        </p:spPr>
        <p:txBody>
          <a:bodyPr wrap="square" lIns="13716" rIns="13716" tIns="0" bIns="0">
            <a:spAutoFit/>
          </a:bodyPr>
          <a:lstStyle/>
          <a:p>
            <a:pPr>
              <a:spcAft>
                <a:spcPts val="500"/>
              </a:spcAft>
              <a:defRPr sz="1500" b="1">
                <a:solidFill>
                  <a:srgbClr val="FFFFFF"/>
                </a:solidFill>
                <a:latin typeface="Aptos"/>
              </a:defRPr>
            </a:pPr>
            <a:r>
              <a:t>config_mem</a:t>
            </a:r>
          </a:p>
        </p:txBody>
      </p:sp>
      <p:sp>
        <p:nvSpPr>
          <p:cNvPr id="25" name="TextBox 24"/>
          <p:cNvSpPr txBox="1"/>
          <p:nvPr/>
        </p:nvSpPr>
        <p:spPr>
          <a:xfrm>
            <a:off x="3794760" y="3529584"/>
            <a:ext cx="1874519" cy="310896"/>
          </a:xfrm>
          <a:prstGeom prst="rect">
            <a:avLst/>
          </a:prstGeom>
          <a:noFill/>
        </p:spPr>
        <p:txBody>
          <a:bodyPr wrap="square" lIns="13716" rIns="13716" tIns="0" bIns="0">
            <a:spAutoFit/>
          </a:bodyPr>
          <a:lstStyle/>
          <a:p>
            <a:pPr>
              <a:spcAft>
                <a:spcPts val="500"/>
              </a:spcAft>
              <a:defRPr sz="1150" b="0">
                <a:solidFill>
                  <a:srgbClr val="A8B7CF"/>
                </a:solidFill>
                <a:latin typeface="Aptos"/>
              </a:defRPr>
            </a:pPr>
            <a:r>
              <a:t>256 × 128 bits</a:t>
            </a:r>
          </a:p>
        </p:txBody>
      </p:sp>
      <p:sp>
        <p:nvSpPr>
          <p:cNvPr id="26" name="Rounded Rectangle 25"/>
          <p:cNvSpPr/>
          <p:nvPr/>
        </p:nvSpPr>
        <p:spPr>
          <a:xfrm>
            <a:off x="6199632" y="2962656"/>
            <a:ext cx="4928616" cy="1362456"/>
          </a:xfrm>
          <a:prstGeom prst="roundRect">
            <a:avLst>
              <a:gd name="adj" fmla="val 12000"/>
            </a:avLst>
          </a:prstGeom>
          <a:solidFill>
            <a:srgbClr val="142139"/>
          </a:solidFill>
          <a:ln>
            <a:solidFill>
              <a:srgbClr val="35DF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73368" y="3072384"/>
            <a:ext cx="4553712" cy="265176"/>
          </a:xfrm>
          <a:prstGeom prst="rect">
            <a:avLst/>
          </a:prstGeom>
          <a:noFill/>
        </p:spPr>
        <p:txBody>
          <a:bodyPr wrap="square" lIns="13716" rIns="13716" tIns="0" bIns="0">
            <a:spAutoFit/>
          </a:bodyPr>
          <a:lstStyle/>
          <a:p>
            <a:pPr>
              <a:spcAft>
                <a:spcPts val="500"/>
              </a:spcAft>
              <a:defRPr sz="1500" b="1">
                <a:solidFill>
                  <a:srgbClr val="35DFC3"/>
                </a:solidFill>
                <a:latin typeface="Consolas"/>
              </a:defRPr>
            </a:pPr>
            <a:r>
              <a:t>c_engine_controller</a:t>
            </a:r>
          </a:p>
        </p:txBody>
      </p:sp>
      <p:sp>
        <p:nvSpPr>
          <p:cNvPr id="28" name="Rounded Rectangle 27"/>
          <p:cNvSpPr/>
          <p:nvPr/>
        </p:nvSpPr>
        <p:spPr>
          <a:xfrm>
            <a:off x="6382512" y="3502152"/>
            <a:ext cx="1965960" cy="585216"/>
          </a:xfrm>
          <a:prstGeom prst="roundRect">
            <a:avLst>
              <a:gd name="adj" fmla="val 12000"/>
            </a:avLst>
          </a:prstGeom>
          <a:solidFill>
            <a:srgbClr val="1C2C47"/>
          </a:solidFill>
          <a:ln>
            <a:solidFill>
              <a:srgbClr val="35DF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3593592"/>
            <a:ext cx="1746504" cy="292608"/>
          </a:xfrm>
          <a:prstGeom prst="rect">
            <a:avLst/>
          </a:prstGeom>
          <a:noFill/>
        </p:spPr>
        <p:txBody>
          <a:bodyPr wrap="square" lIns="13716" rIns="13716" tIns="0" bIns="0">
            <a:spAutoFit/>
          </a:bodyPr>
          <a:lstStyle/>
          <a:p>
            <a:pPr>
              <a:spcAft>
                <a:spcPts val="500"/>
              </a:spcAft>
              <a:defRPr sz="1500" b="1">
                <a:solidFill>
                  <a:srgbClr val="FFFFFF"/>
                </a:solidFill>
                <a:latin typeface="Aptos"/>
              </a:defRPr>
            </a:pPr>
            <a:r>
              <a:t>FSM + GAP</a:t>
            </a:r>
          </a:p>
        </p:txBody>
      </p:sp>
      <p:sp>
        <p:nvSpPr>
          <p:cNvPr id="30" name="Rounded Rectangle 29"/>
          <p:cNvSpPr/>
          <p:nvPr/>
        </p:nvSpPr>
        <p:spPr>
          <a:xfrm>
            <a:off x="8641080" y="3502152"/>
            <a:ext cx="2304288" cy="585216"/>
          </a:xfrm>
          <a:prstGeom prst="roundRect">
            <a:avLst>
              <a:gd name="adj" fmla="val 12000"/>
            </a:avLst>
          </a:prstGeom>
          <a:solidFill>
            <a:srgbClr val="1C2C47"/>
          </a:solidFill>
          <a:ln>
            <a:solidFill>
              <a:srgbClr val="FFC66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50807" y="3593592"/>
            <a:ext cx="2084832" cy="292608"/>
          </a:xfrm>
          <a:prstGeom prst="rect">
            <a:avLst/>
          </a:prstGeom>
          <a:noFill/>
        </p:spPr>
        <p:txBody>
          <a:bodyPr wrap="square" lIns="13716" rIns="13716" tIns="0" bIns="0">
            <a:spAutoFit/>
          </a:bodyPr>
          <a:lstStyle/>
          <a:p>
            <a:pPr>
              <a:spcAft>
                <a:spcPts val="500"/>
              </a:spcAft>
              <a:defRPr sz="1400" b="1">
                <a:solidFill>
                  <a:srgbClr val="FFFFFF"/>
                </a:solidFill>
                <a:latin typeface="Aptos"/>
              </a:defRPr>
            </a:pPr>
            <a:r>
              <a:t>Requantization PPU</a:t>
            </a:r>
          </a:p>
        </p:txBody>
      </p:sp>
      <p:sp>
        <p:nvSpPr>
          <p:cNvPr id="32" name="Rounded Rectangle 31"/>
          <p:cNvSpPr/>
          <p:nvPr/>
        </p:nvSpPr>
        <p:spPr>
          <a:xfrm>
            <a:off x="3685032" y="4709160"/>
            <a:ext cx="4142232" cy="795528"/>
          </a:xfrm>
          <a:prstGeom prst="roundRect">
            <a:avLst>
              <a:gd name="adj" fmla="val 12000"/>
            </a:avLst>
          </a:prstGeom>
          <a:solidFill>
            <a:srgbClr val="1C2C47"/>
          </a:solidFill>
          <a:ln>
            <a:solidFill>
              <a:srgbClr val="6BA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794760" y="4800600"/>
            <a:ext cx="3922776" cy="292608"/>
          </a:xfrm>
          <a:prstGeom prst="rect">
            <a:avLst/>
          </a:prstGeom>
          <a:noFill/>
        </p:spPr>
        <p:txBody>
          <a:bodyPr wrap="square" lIns="13716" rIns="13716" tIns="0" bIns="0">
            <a:spAutoFit/>
          </a:bodyPr>
          <a:lstStyle/>
          <a:p>
            <a:pPr>
              <a:spcAft>
                <a:spcPts val="500"/>
              </a:spcAft>
              <a:defRPr sz="1500" b="1">
                <a:solidFill>
                  <a:srgbClr val="FFFFFF"/>
                </a:solidFill>
                <a:latin typeface="Aptos"/>
              </a:defRPr>
            </a:pPr>
            <a:r>
              <a:t>multibank_dualport_mem</a:t>
            </a:r>
          </a:p>
        </p:txBody>
      </p:sp>
      <p:sp>
        <p:nvSpPr>
          <p:cNvPr id="34" name="TextBox 33"/>
          <p:cNvSpPr txBox="1"/>
          <p:nvPr/>
        </p:nvSpPr>
        <p:spPr>
          <a:xfrm>
            <a:off x="3794760" y="5129784"/>
            <a:ext cx="3922776" cy="347472"/>
          </a:xfrm>
          <a:prstGeom prst="rect">
            <a:avLst/>
          </a:prstGeom>
          <a:noFill/>
        </p:spPr>
        <p:txBody>
          <a:bodyPr wrap="square" lIns="13716" rIns="13716" tIns="0" bIns="0">
            <a:spAutoFit/>
          </a:bodyPr>
          <a:lstStyle/>
          <a:p>
            <a:pPr>
              <a:spcAft>
                <a:spcPts val="500"/>
              </a:spcAft>
              <a:defRPr sz="1150" b="0">
                <a:solidFill>
                  <a:srgbClr val="A8B7CF"/>
                </a:solidFill>
                <a:latin typeface="Aptos"/>
              </a:defRPr>
            </a:pPr>
            <a:r>
              <a:t>Port A: DMA / controller mux; Port B: compute</a:t>
            </a:r>
          </a:p>
        </p:txBody>
      </p:sp>
      <p:sp>
        <p:nvSpPr>
          <p:cNvPr id="35" name="Rounded Rectangle 34"/>
          <p:cNvSpPr/>
          <p:nvPr/>
        </p:nvSpPr>
        <p:spPr>
          <a:xfrm>
            <a:off x="8641080" y="4709160"/>
            <a:ext cx="2304288" cy="795528"/>
          </a:xfrm>
          <a:prstGeom prst="roundRect">
            <a:avLst>
              <a:gd name="adj" fmla="val 12000"/>
            </a:avLst>
          </a:prstGeom>
          <a:solidFill>
            <a:srgbClr val="1C2C47"/>
          </a:solidFill>
          <a:ln>
            <a:solidFill>
              <a:srgbClr val="35DF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750807" y="4800600"/>
            <a:ext cx="2084832" cy="292608"/>
          </a:xfrm>
          <a:prstGeom prst="rect">
            <a:avLst/>
          </a:prstGeom>
          <a:noFill/>
        </p:spPr>
        <p:txBody>
          <a:bodyPr wrap="square" lIns="13716" rIns="13716" tIns="0" bIns="0">
            <a:spAutoFit/>
          </a:bodyPr>
          <a:lstStyle/>
          <a:p>
            <a:pPr>
              <a:spcAft>
                <a:spcPts val="500"/>
              </a:spcAft>
              <a:defRPr sz="1500" b="1">
                <a:solidFill>
                  <a:srgbClr val="FFFFFF"/>
                </a:solidFill>
                <a:latin typeface="Aptos"/>
              </a:defRPr>
            </a:pPr>
            <a:r>
              <a:t>c_engine</a:t>
            </a:r>
          </a:p>
        </p:txBody>
      </p:sp>
      <p:sp>
        <p:nvSpPr>
          <p:cNvPr id="37" name="TextBox 36"/>
          <p:cNvSpPr txBox="1"/>
          <p:nvPr/>
        </p:nvSpPr>
        <p:spPr>
          <a:xfrm>
            <a:off x="8750807" y="5129784"/>
            <a:ext cx="2084832" cy="347472"/>
          </a:xfrm>
          <a:prstGeom prst="rect">
            <a:avLst/>
          </a:prstGeom>
          <a:noFill/>
        </p:spPr>
        <p:txBody>
          <a:bodyPr wrap="square" lIns="13716" rIns="13716" tIns="0" bIns="0">
            <a:spAutoFit/>
          </a:bodyPr>
          <a:lstStyle/>
          <a:p>
            <a:pPr>
              <a:spcAft>
                <a:spcPts val="500"/>
              </a:spcAft>
              <a:defRPr sz="1150" b="0">
                <a:solidFill>
                  <a:srgbClr val="A8B7CF"/>
                </a:solidFill>
                <a:latin typeface="Aptos"/>
              </a:defRPr>
            </a:pPr>
            <a:r>
              <a:t>8 × 32 processing_element</a:t>
            </a:r>
          </a:p>
        </p:txBody>
      </p:sp>
      <p:cxnSp>
        <p:nvCxnSpPr>
          <p:cNvPr id="38" name="Connector 37"/>
          <p:cNvCxnSpPr/>
          <p:nvPr/>
        </p:nvCxnSpPr>
        <p:spPr>
          <a:xfrm>
            <a:off x="3008376" y="3035808"/>
            <a:ext cx="237744" cy="0"/>
          </a:xfrm>
          <a:prstGeom prst="line">
            <a:avLst/>
          </a:prstGeom>
          <a:ln w="20320">
            <a:solidFill>
              <a:srgbClr val="A69AFF"/>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246120" y="3035808"/>
            <a:ext cx="0" cy="438912"/>
          </a:xfrm>
          <a:prstGeom prst="line">
            <a:avLst/>
          </a:prstGeom>
          <a:ln w="20320">
            <a:solidFill>
              <a:srgbClr val="A69AFF"/>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246120" y="3474720"/>
            <a:ext cx="438912" cy="0"/>
          </a:xfrm>
          <a:prstGeom prst="line">
            <a:avLst/>
          </a:prstGeom>
          <a:ln w="20320">
            <a:solidFill>
              <a:srgbClr val="A69A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779008" y="3483864"/>
            <a:ext cx="420624" cy="0"/>
          </a:xfrm>
          <a:prstGeom prst="line">
            <a:avLst/>
          </a:prstGeom>
          <a:ln w="20320">
            <a:solidFill>
              <a:srgbClr val="A69A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3008376" y="5120640"/>
            <a:ext cx="676656" cy="0"/>
          </a:xfrm>
          <a:prstGeom prst="line">
            <a:avLst/>
          </a:prstGeom>
          <a:ln w="20320">
            <a:solidFill>
              <a:srgbClr val="6BA6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827264" y="5120640"/>
            <a:ext cx="813816" cy="0"/>
          </a:xfrm>
          <a:prstGeom prst="line">
            <a:avLst/>
          </a:prstGeom>
          <a:ln w="20320">
            <a:solidFill>
              <a:srgbClr val="35DFC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9793224" y="4087368"/>
            <a:ext cx="0" cy="621792"/>
          </a:xfrm>
          <a:prstGeom prst="line">
            <a:avLst/>
          </a:prstGeom>
          <a:ln w="20320">
            <a:solidFill>
              <a:srgbClr val="FFC66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8485632" y="3794760"/>
            <a:ext cx="155448" cy="0"/>
          </a:xfrm>
          <a:prstGeom prst="line">
            <a:avLst/>
          </a:prstGeom>
          <a:ln w="20320">
            <a:solidFill>
              <a:srgbClr val="FFC66D"/>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485632" y="3794760"/>
            <a:ext cx="0" cy="685800"/>
          </a:xfrm>
          <a:prstGeom prst="line">
            <a:avLst/>
          </a:prstGeom>
          <a:ln w="20320">
            <a:solidFill>
              <a:srgbClr val="FFC66D"/>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5769864" y="4480560"/>
            <a:ext cx="2715768" cy="0"/>
          </a:xfrm>
          <a:prstGeom prst="line">
            <a:avLst/>
          </a:prstGeom>
          <a:ln w="20320">
            <a:solidFill>
              <a:srgbClr val="FFC66D"/>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5769864" y="4480560"/>
            <a:ext cx="0" cy="228600"/>
          </a:xfrm>
          <a:prstGeom prst="line">
            <a:avLst/>
          </a:prstGeom>
          <a:ln w="20320">
            <a:solidFill>
              <a:srgbClr val="FFC66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7360920" y="4087368"/>
            <a:ext cx="0" cy="265176"/>
          </a:xfrm>
          <a:prstGeom prst="line">
            <a:avLst/>
          </a:prstGeom>
          <a:ln w="20320">
            <a:solidFill>
              <a:srgbClr val="35DFC3"/>
            </a:solidFill>
            <a:prstDash val="dash"/>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7360920" y="4352544"/>
            <a:ext cx="3822192" cy="0"/>
          </a:xfrm>
          <a:prstGeom prst="line">
            <a:avLst/>
          </a:prstGeom>
          <a:ln w="20320">
            <a:solidFill>
              <a:srgbClr val="35DFC3"/>
            </a:solidFill>
            <a:prstDash val="dash"/>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1183112" y="4352544"/>
            <a:ext cx="0" cy="768096"/>
          </a:xfrm>
          <a:prstGeom prst="line">
            <a:avLst/>
          </a:prstGeom>
          <a:ln w="20320">
            <a:solidFill>
              <a:srgbClr val="35DFC3"/>
            </a:solidFill>
            <a:prstDash val="dash"/>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a:off x="10945368" y="5120640"/>
            <a:ext cx="237744" cy="0"/>
          </a:xfrm>
          <a:prstGeom prst="line">
            <a:avLst/>
          </a:prstGeom>
          <a:ln w="20320">
            <a:solidFill>
              <a:srgbClr val="35DFC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5870448" y="4535424"/>
            <a:ext cx="2514600" cy="146304"/>
          </a:xfrm>
          <a:prstGeom prst="rect">
            <a:avLst/>
          </a:prstGeom>
          <a:noFill/>
        </p:spPr>
        <p:txBody>
          <a:bodyPr wrap="square" lIns="13716" rIns="13716" tIns="0" bIns="0">
            <a:spAutoFit/>
          </a:bodyPr>
          <a:lstStyle/>
          <a:p>
            <a:pPr>
              <a:spcAft>
                <a:spcPts val="500"/>
              </a:spcAft>
              <a:defRPr sz="900" b="0">
                <a:solidFill>
                  <a:srgbClr val="FFC66D"/>
                </a:solidFill>
                <a:latin typeface="Aptos"/>
              </a:defRPr>
            </a:pPr>
            <a:r>
              <a:t>Requantized writeback</a:t>
            </a:r>
          </a:p>
        </p:txBody>
      </p:sp>
      <p:sp>
        <p:nvSpPr>
          <p:cNvPr id="54" name="TextBox 53"/>
          <p:cNvSpPr txBox="1"/>
          <p:nvPr/>
        </p:nvSpPr>
        <p:spPr>
          <a:xfrm>
            <a:off x="731520" y="5806440"/>
            <a:ext cx="10515600" cy="201168"/>
          </a:xfrm>
          <a:prstGeom prst="rect">
            <a:avLst/>
          </a:prstGeom>
          <a:noFill/>
        </p:spPr>
        <p:txBody>
          <a:bodyPr wrap="square" lIns="13716" rIns="13716" tIns="0" bIns="0">
            <a:spAutoFit/>
          </a:bodyPr>
          <a:lstStyle/>
          <a:p>
            <a:pPr>
              <a:spcAft>
                <a:spcPts val="500"/>
              </a:spcAft>
              <a:defRPr sz="1100" b="0">
                <a:solidFill>
                  <a:srgbClr val="A8B7CF"/>
                </a:solidFill>
                <a:latin typeface="Aptos"/>
              </a:defRPr>
            </a:pPr>
            <a:r>
              <a:t>Solid: data / instructions   ·   Dashed: array control   ·   PPU is instantiated inside the controller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6FA"/>
        </a:solidFill>
        <a:effectLst/>
      </p:bgPr>
    </p:bg>
    <p:spTree>
      <p:nvGrpSpPr>
        <p:cNvPr id="1" name=""/>
        <p:cNvGrpSpPr/>
        <p:nvPr/>
      </p:nvGrpSpPr>
      <p:grpSpPr/>
      <p:sp>
        <p:nvSpPr>
          <p:cNvPr id="2" name="TextBox 1"/>
          <p:cNvSpPr txBox="1"/>
          <p:nvPr/>
        </p:nvSpPr>
        <p:spPr>
          <a:xfrm>
            <a:off x="502920" y="274320"/>
            <a:ext cx="9144000" cy="210312"/>
          </a:xfrm>
          <a:prstGeom prst="rect">
            <a:avLst/>
          </a:prstGeom>
          <a:noFill/>
        </p:spPr>
        <p:txBody>
          <a:bodyPr wrap="square" lIns="13716" rIns="13716" tIns="0" bIns="0">
            <a:spAutoFit/>
          </a:bodyPr>
          <a:lstStyle/>
          <a:p>
            <a:pPr>
              <a:spcAft>
                <a:spcPts val="500"/>
              </a:spcAft>
              <a:defRPr sz="1000" b="1">
                <a:solidFill>
                  <a:srgbClr val="586980"/>
                </a:solidFill>
                <a:latin typeface="Aptos"/>
              </a:defRPr>
            </a:pPr>
            <a:r>
              <a:t>MEMORY HIERARCHY</a:t>
            </a:r>
          </a:p>
        </p:txBody>
      </p:sp>
      <p:sp>
        <p:nvSpPr>
          <p:cNvPr id="3" name="TextBox 2"/>
          <p:cNvSpPr txBox="1"/>
          <p:nvPr/>
        </p:nvSpPr>
        <p:spPr>
          <a:xfrm>
            <a:off x="502920" y="713232"/>
            <a:ext cx="11155680" cy="640080"/>
          </a:xfrm>
          <a:prstGeom prst="rect">
            <a:avLst/>
          </a:prstGeom>
          <a:noFill/>
        </p:spPr>
        <p:txBody>
          <a:bodyPr wrap="square" lIns="13716" rIns="13716" tIns="0" bIns="0">
            <a:spAutoFit/>
          </a:bodyPr>
          <a:lstStyle/>
          <a:p>
            <a:pPr>
              <a:spcAft>
                <a:spcPts val="500"/>
              </a:spcAft>
              <a:defRPr sz="3000" b="1">
                <a:solidFill>
                  <a:srgbClr val="15233B"/>
                </a:solidFill>
                <a:latin typeface="Aptos Display"/>
              </a:defRPr>
            </a:pPr>
            <a:r>
              <a:t>Memory hierarchy: DDR capacity to PE-local reuse</a:t>
            </a:r>
          </a:p>
        </p:txBody>
      </p:sp>
      <p:sp>
        <p:nvSpPr>
          <p:cNvPr id="4" name="TextBox 3"/>
          <p:cNvSpPr txBox="1"/>
          <p:nvPr/>
        </p:nvSpPr>
        <p:spPr>
          <a:xfrm>
            <a:off x="512064" y="1426464"/>
            <a:ext cx="11109960" cy="502920"/>
          </a:xfrm>
          <a:prstGeom prst="rect">
            <a:avLst/>
          </a:prstGeom>
          <a:noFill/>
        </p:spPr>
        <p:txBody>
          <a:bodyPr wrap="square" lIns="13716" rIns="13716" tIns="0" bIns="0">
            <a:spAutoFit/>
          </a:bodyPr>
          <a:lstStyle/>
          <a:p>
            <a:pPr>
              <a:spcAft>
                <a:spcPts val="500"/>
              </a:spcAft>
              <a:defRPr sz="1400" b="0">
                <a:solidFill>
                  <a:srgbClr val="586980"/>
                </a:solidFill>
                <a:latin typeface="Aptos"/>
              </a:defRPr>
            </a:pPr>
            <a:r>
              <a:t>Explicitly managed storage keeps bulk model data off chip and active compute data close to the array.</a:t>
            </a:r>
          </a:p>
        </p:txBody>
      </p:sp>
      <p:sp>
        <p:nvSpPr>
          <p:cNvPr id="5" name="Rectangle 4"/>
          <p:cNvSpPr/>
          <p:nvPr/>
        </p:nvSpPr>
        <p:spPr>
          <a:xfrm>
            <a:off x="502920" y="6455664"/>
            <a:ext cx="11183112" cy="10972"/>
          </a:xfrm>
          <a:prstGeom prst="rect">
            <a:avLst/>
          </a:prstGeom>
          <a:solidFill>
            <a:srgbClr val="DCE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3657600" cy="155448"/>
          </a:xfrm>
          <a:prstGeom prst="rect">
            <a:avLst/>
          </a:prstGeom>
          <a:noFill/>
        </p:spPr>
        <p:txBody>
          <a:bodyPr wrap="square" lIns="13716" rIns="13716" tIns="0" bIns="0">
            <a:spAutoFit/>
          </a:bodyPr>
          <a:lstStyle/>
          <a:p>
            <a:pPr>
              <a:spcAft>
                <a:spcPts val="500"/>
              </a:spcAft>
              <a:defRPr sz="800" b="1">
                <a:solidFill>
                  <a:srgbClr val="586980"/>
                </a:solidFill>
                <a:latin typeface="Aptos"/>
              </a:defRPr>
            </a:pPr>
            <a:r>
              <a:t>UNIFIED C-ENGINE  /  ZCU106</a:t>
            </a:r>
          </a:p>
        </p:txBody>
      </p:sp>
      <p:sp>
        <p:nvSpPr>
          <p:cNvPr id="7" name="TextBox 6"/>
          <p:cNvSpPr txBox="1"/>
          <p:nvPr/>
        </p:nvSpPr>
        <p:spPr>
          <a:xfrm>
            <a:off x="3657600" y="6556248"/>
            <a:ext cx="6949440" cy="182880"/>
          </a:xfrm>
          <a:prstGeom prst="rect">
            <a:avLst/>
          </a:prstGeom>
          <a:noFill/>
        </p:spPr>
        <p:txBody>
          <a:bodyPr wrap="square" lIns="13716" rIns="13716" tIns="0" bIns="0">
            <a:spAutoFit/>
          </a:bodyPr>
          <a:lstStyle/>
          <a:p>
            <a:pPr algn="r">
              <a:spcAft>
                <a:spcPts val="500"/>
              </a:spcAft>
              <a:defRPr sz="800" b="0">
                <a:solidFill>
                  <a:srgbClr val="586980"/>
                </a:solidFill>
                <a:latin typeface="Aptos"/>
              </a:defRPr>
            </a:pPr>
            <a:r>
              <a:t>rtl/multibank_dualport_mem.v • hw_config_*.vh • baremetal/src/c_engine_regs.h</a:t>
            </a:r>
          </a:p>
        </p:txBody>
      </p:sp>
      <p:sp>
        <p:nvSpPr>
          <p:cNvPr id="8" name="TextBox 7"/>
          <p:cNvSpPr txBox="1"/>
          <p:nvPr/>
        </p:nvSpPr>
        <p:spPr>
          <a:xfrm>
            <a:off x="10927080" y="6547104"/>
            <a:ext cx="731520" cy="201168"/>
          </a:xfrm>
          <a:prstGeom prst="rect">
            <a:avLst/>
          </a:prstGeom>
          <a:noFill/>
        </p:spPr>
        <p:txBody>
          <a:bodyPr wrap="square" lIns="13716" rIns="13716" tIns="0" bIns="0">
            <a:spAutoFit/>
          </a:bodyPr>
          <a:lstStyle/>
          <a:p>
            <a:pPr algn="r">
              <a:spcAft>
                <a:spcPts val="500"/>
              </a:spcAft>
              <a:defRPr sz="900" b="0">
                <a:solidFill>
                  <a:srgbClr val="586980"/>
                </a:solidFill>
                <a:latin typeface="Aptos"/>
              </a:defRPr>
            </a:pPr>
            <a:r>
              <a:t>08 / 17</a:t>
            </a:r>
          </a:p>
        </p:txBody>
      </p:sp>
      <p:sp>
        <p:nvSpPr>
          <p:cNvPr id="9" name="Rounded Rectangle 8"/>
          <p:cNvSpPr/>
          <p:nvPr/>
        </p:nvSpPr>
        <p:spPr>
          <a:xfrm>
            <a:off x="548640" y="2039112"/>
            <a:ext cx="6629400" cy="795528"/>
          </a:xfrm>
          <a:prstGeom prst="roundRect">
            <a:avLst>
              <a:gd name="adj" fmla="val 12000"/>
            </a:avLst>
          </a:prstGeom>
          <a:solidFill>
            <a:srgbClr val="FFFFFF"/>
          </a:solidFill>
          <a:ln>
            <a:solidFill>
              <a:srgbClr val="6BA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130552"/>
            <a:ext cx="6409944" cy="292608"/>
          </a:xfrm>
          <a:prstGeom prst="rect">
            <a:avLst/>
          </a:prstGeom>
          <a:noFill/>
        </p:spPr>
        <p:txBody>
          <a:bodyPr wrap="square" lIns="13716" rIns="13716" tIns="0" bIns="0">
            <a:spAutoFit/>
          </a:bodyPr>
          <a:lstStyle/>
          <a:p>
            <a:pPr>
              <a:spcAft>
                <a:spcPts val="500"/>
              </a:spcAft>
              <a:defRPr sz="1800" b="1">
                <a:solidFill>
                  <a:srgbClr val="15233B"/>
                </a:solidFill>
                <a:latin typeface="Aptos"/>
              </a:defRPr>
            </a:pPr>
            <a:r>
              <a:t>PS DDR4 — images, weights and output logits</a:t>
            </a:r>
          </a:p>
        </p:txBody>
      </p:sp>
      <p:sp>
        <p:nvSpPr>
          <p:cNvPr id="11" name="TextBox 10"/>
          <p:cNvSpPr txBox="1"/>
          <p:nvPr/>
        </p:nvSpPr>
        <p:spPr>
          <a:xfrm>
            <a:off x="658368" y="2459736"/>
            <a:ext cx="6409944" cy="347472"/>
          </a:xfrm>
          <a:prstGeom prst="rect">
            <a:avLst/>
          </a:prstGeom>
          <a:noFill/>
        </p:spPr>
        <p:txBody>
          <a:bodyPr wrap="square" lIns="13716" rIns="13716" tIns="0" bIns="0">
            <a:spAutoFit/>
          </a:bodyPr>
          <a:lstStyle/>
          <a:p>
            <a:pPr>
              <a:spcAft>
                <a:spcPts val="500"/>
              </a:spcAft>
              <a:defRPr sz="1150" b="0">
                <a:solidFill>
                  <a:srgbClr val="586980"/>
                </a:solidFill>
                <a:latin typeface="Aptos"/>
              </a:defRPr>
            </a:pPr>
            <a:r>
              <a:t>Large external store; DMA sees the mapped 2 GiB DDR-low aperture</a:t>
            </a:r>
          </a:p>
        </p:txBody>
      </p:sp>
      <p:cxnSp>
        <p:nvCxnSpPr>
          <p:cNvPr id="12" name="Connector 11"/>
          <p:cNvCxnSpPr/>
          <p:nvPr/>
        </p:nvCxnSpPr>
        <p:spPr>
          <a:xfrm>
            <a:off x="3858768" y="2834640"/>
            <a:ext cx="0" cy="502920"/>
          </a:xfrm>
          <a:prstGeom prst="line">
            <a:avLst/>
          </a:prstGeom>
          <a:ln w="20320">
            <a:solidFill>
              <a:srgbClr val="6BA6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050791" y="2953512"/>
            <a:ext cx="3108960" cy="274320"/>
          </a:xfrm>
          <a:prstGeom prst="rect">
            <a:avLst/>
          </a:prstGeom>
          <a:noFill/>
        </p:spPr>
        <p:txBody>
          <a:bodyPr wrap="square" lIns="13716" rIns="13716" tIns="0" bIns="0">
            <a:spAutoFit/>
          </a:bodyPr>
          <a:lstStyle/>
          <a:p>
            <a:pPr>
              <a:spcAft>
                <a:spcPts val="500"/>
              </a:spcAft>
              <a:defRPr sz="1200" b="0">
                <a:solidFill>
                  <a:srgbClr val="586980"/>
                </a:solidFill>
                <a:latin typeface="Aptos"/>
              </a:defRPr>
            </a:pPr>
            <a:r>
              <a:t>128-bit AXI bursts  /  16 bytes per beat</a:t>
            </a:r>
          </a:p>
        </p:txBody>
      </p:sp>
      <p:sp>
        <p:nvSpPr>
          <p:cNvPr id="14" name="Rounded Rectangle 13"/>
          <p:cNvSpPr/>
          <p:nvPr/>
        </p:nvSpPr>
        <p:spPr>
          <a:xfrm>
            <a:off x="548640" y="3337560"/>
            <a:ext cx="6629400" cy="877824"/>
          </a:xfrm>
          <a:prstGeom prst="roundRect">
            <a:avLst>
              <a:gd name="adj" fmla="val 12000"/>
            </a:avLst>
          </a:prstGeom>
          <a:solidFill>
            <a:srgbClr val="FFFFFF"/>
          </a:solidFill>
          <a:ln>
            <a:solidFill>
              <a:srgbClr val="35DF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3429000"/>
            <a:ext cx="6409944" cy="292608"/>
          </a:xfrm>
          <a:prstGeom prst="rect">
            <a:avLst/>
          </a:prstGeom>
          <a:noFill/>
        </p:spPr>
        <p:txBody>
          <a:bodyPr wrap="square" lIns="13716" rIns="13716" tIns="0" bIns="0">
            <a:spAutoFit/>
          </a:bodyPr>
          <a:lstStyle/>
          <a:p>
            <a:pPr>
              <a:spcAft>
                <a:spcPts val="500"/>
              </a:spcAft>
              <a:defRPr sz="1700" b="1">
                <a:solidFill>
                  <a:srgbClr val="15233B"/>
                </a:solidFill>
                <a:latin typeface="Aptos"/>
              </a:defRPr>
            </a:pPr>
            <a:r>
              <a:t>Banked on-chip SRAM — active tensors and weights</a:t>
            </a:r>
          </a:p>
        </p:txBody>
      </p:sp>
      <p:sp>
        <p:nvSpPr>
          <p:cNvPr id="16" name="TextBox 15"/>
          <p:cNvSpPr txBox="1"/>
          <p:nvPr/>
        </p:nvSpPr>
        <p:spPr>
          <a:xfrm>
            <a:off x="658368" y="3758184"/>
            <a:ext cx="6409944" cy="429768"/>
          </a:xfrm>
          <a:prstGeom prst="rect">
            <a:avLst/>
          </a:prstGeom>
          <a:noFill/>
        </p:spPr>
        <p:txBody>
          <a:bodyPr wrap="square" lIns="13716" rIns="13716" tIns="0" bIns="0">
            <a:spAutoFit/>
          </a:bodyPr>
          <a:lstStyle/>
          <a:p>
            <a:pPr>
              <a:spcAft>
                <a:spcPts val="500"/>
              </a:spcAft>
              <a:defRPr sz="1150" b="0">
                <a:solidFill>
                  <a:srgbClr val="586980"/>
                </a:solidFill>
                <a:latin typeface="Aptos"/>
              </a:defRPr>
            </a:pPr>
            <a:r>
              <a:t>INT8: 3.93 MB, 256 B/row   |   INT16: 2.10 MB, 512 B/row</a:t>
            </a:r>
          </a:p>
        </p:txBody>
      </p:sp>
      <p:cxnSp>
        <p:nvCxnSpPr>
          <p:cNvPr id="17" name="Connector 16"/>
          <p:cNvCxnSpPr/>
          <p:nvPr/>
        </p:nvCxnSpPr>
        <p:spPr>
          <a:xfrm>
            <a:off x="3858768" y="4215384"/>
            <a:ext cx="0" cy="411480"/>
          </a:xfrm>
          <a:prstGeom prst="line">
            <a:avLst/>
          </a:prstGeom>
          <a:ln w="20320">
            <a:solidFill>
              <a:srgbClr val="35DFC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050791" y="4315968"/>
            <a:ext cx="3099816" cy="237744"/>
          </a:xfrm>
          <a:prstGeom prst="rect">
            <a:avLst/>
          </a:prstGeom>
          <a:noFill/>
        </p:spPr>
        <p:txBody>
          <a:bodyPr wrap="square" lIns="13716" rIns="13716" tIns="0" bIns="0">
            <a:spAutoFit/>
          </a:bodyPr>
          <a:lstStyle/>
          <a:p>
            <a:pPr>
              <a:spcAft>
                <a:spcPts val="500"/>
              </a:spcAft>
              <a:defRPr sz="1100" b="0">
                <a:solidFill>
                  <a:srgbClr val="586980"/>
                </a:solidFill>
                <a:latin typeface="Aptos"/>
              </a:defRPr>
            </a:pPr>
            <a:r>
              <a:t>Controller selects rows, banks and operands</a:t>
            </a:r>
          </a:p>
        </p:txBody>
      </p:sp>
      <p:sp>
        <p:nvSpPr>
          <p:cNvPr id="19" name="Rounded Rectangle 18"/>
          <p:cNvSpPr/>
          <p:nvPr/>
        </p:nvSpPr>
        <p:spPr>
          <a:xfrm>
            <a:off x="1033271" y="4626864"/>
            <a:ext cx="5650992" cy="630936"/>
          </a:xfrm>
          <a:prstGeom prst="roundRect">
            <a:avLst>
              <a:gd name="adj" fmla="val 12000"/>
            </a:avLst>
          </a:prstGeom>
          <a:solidFill>
            <a:srgbClr val="FFFFFF"/>
          </a:solidFill>
          <a:ln>
            <a:solidFill>
              <a:srgbClr val="A69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43000" y="4718303"/>
            <a:ext cx="5431536" cy="292608"/>
          </a:xfrm>
          <a:prstGeom prst="rect">
            <a:avLst/>
          </a:prstGeom>
          <a:noFill/>
        </p:spPr>
        <p:txBody>
          <a:bodyPr wrap="square" lIns="13716" rIns="13716" tIns="0" bIns="0">
            <a:spAutoFit/>
          </a:bodyPr>
          <a:lstStyle/>
          <a:p>
            <a:pPr>
              <a:spcAft>
                <a:spcPts val="500"/>
              </a:spcAft>
              <a:defRPr sz="1600" b="1">
                <a:solidFill>
                  <a:srgbClr val="15233B"/>
                </a:solidFill>
                <a:latin typeface="Aptos"/>
              </a:defRPr>
            </a:pPr>
            <a:r>
              <a:t>Weight staging + GAP / output registers</a:t>
            </a:r>
          </a:p>
        </p:txBody>
      </p:sp>
      <p:cxnSp>
        <p:nvCxnSpPr>
          <p:cNvPr id="21" name="Connector 20"/>
          <p:cNvCxnSpPr/>
          <p:nvPr/>
        </p:nvCxnSpPr>
        <p:spPr>
          <a:xfrm>
            <a:off x="3858768" y="5257800"/>
            <a:ext cx="0" cy="338328"/>
          </a:xfrm>
          <a:prstGeom prst="line">
            <a:avLst/>
          </a:prstGeom>
          <a:ln w="20320">
            <a:solidFill>
              <a:srgbClr val="A69A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536192" y="5596128"/>
            <a:ext cx="4645152" cy="594360"/>
          </a:xfrm>
          <a:prstGeom prst="roundRect">
            <a:avLst>
              <a:gd name="adj" fmla="val 12000"/>
            </a:avLst>
          </a:prstGeom>
          <a:solidFill>
            <a:srgbClr val="FFFFFF"/>
          </a:solidFill>
          <a:ln>
            <a:solidFill>
              <a:srgbClr val="FFC66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645919" y="5687568"/>
            <a:ext cx="4425696" cy="292608"/>
          </a:xfrm>
          <a:prstGeom prst="rect">
            <a:avLst/>
          </a:prstGeom>
          <a:noFill/>
        </p:spPr>
        <p:txBody>
          <a:bodyPr wrap="square" lIns="13716" rIns="13716" tIns="0" bIns="0">
            <a:spAutoFit/>
          </a:bodyPr>
          <a:lstStyle/>
          <a:p>
            <a:pPr>
              <a:spcAft>
                <a:spcPts val="500"/>
              </a:spcAft>
              <a:defRPr sz="1400" b="1">
                <a:solidFill>
                  <a:srgbClr val="15233B"/>
                </a:solidFill>
                <a:latin typeface="Aptos"/>
              </a:defRPr>
            </a:pPr>
            <a:r>
              <a:t>PE registers: HOR / VERT / ENG / Outf_map</a:t>
            </a:r>
          </a:p>
        </p:txBody>
      </p:sp>
      <p:sp>
        <p:nvSpPr>
          <p:cNvPr id="24" name="Rounded Rectangle 23"/>
          <p:cNvSpPr/>
          <p:nvPr/>
        </p:nvSpPr>
        <p:spPr>
          <a:xfrm>
            <a:off x="7607808" y="2039112"/>
            <a:ext cx="4069080" cy="415137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99831" y="2231136"/>
            <a:ext cx="3657600" cy="246888"/>
          </a:xfrm>
          <a:prstGeom prst="rect">
            <a:avLst/>
          </a:prstGeom>
          <a:noFill/>
        </p:spPr>
        <p:txBody>
          <a:bodyPr wrap="square" lIns="13716" rIns="13716" tIns="0" bIns="0">
            <a:spAutoFit/>
          </a:bodyPr>
          <a:lstStyle/>
          <a:p>
            <a:pPr>
              <a:spcAft>
                <a:spcPts val="500"/>
              </a:spcAft>
              <a:defRPr sz="1200" b="1">
                <a:solidFill>
                  <a:srgbClr val="586980"/>
                </a:solidFill>
                <a:latin typeface="Aptos"/>
              </a:defRPr>
            </a:pPr>
            <a:r>
              <a:t>CONTROL STORAGE</a:t>
            </a:r>
          </a:p>
        </p:txBody>
      </p:sp>
      <p:sp>
        <p:nvSpPr>
          <p:cNvPr id="26" name="Rounded Rectangle 25"/>
          <p:cNvSpPr/>
          <p:nvPr/>
        </p:nvSpPr>
        <p:spPr>
          <a:xfrm>
            <a:off x="7799831" y="2724912"/>
            <a:ext cx="3666744" cy="841248"/>
          </a:xfrm>
          <a:prstGeom prst="roundRect">
            <a:avLst>
              <a:gd name="adj" fmla="val 12000"/>
            </a:avLst>
          </a:prstGeom>
          <a:solidFill>
            <a:srgbClr val="FFFFFF"/>
          </a:solidFill>
          <a:ln>
            <a:solidFill>
              <a:srgbClr val="A69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09559" y="2816352"/>
            <a:ext cx="3447287" cy="292608"/>
          </a:xfrm>
          <a:prstGeom prst="rect">
            <a:avLst/>
          </a:prstGeom>
          <a:noFill/>
        </p:spPr>
        <p:txBody>
          <a:bodyPr wrap="square" lIns="13716" rIns="13716" tIns="0" bIns="0">
            <a:spAutoFit/>
          </a:bodyPr>
          <a:lstStyle/>
          <a:p>
            <a:pPr>
              <a:spcAft>
                <a:spcPts val="500"/>
              </a:spcAft>
              <a:defRPr sz="1700" b="1">
                <a:solidFill>
                  <a:srgbClr val="15233B"/>
                </a:solidFill>
                <a:latin typeface="Aptos"/>
              </a:defRPr>
            </a:pPr>
            <a:r>
              <a:t>config_mem: 4 KiB</a:t>
            </a:r>
          </a:p>
        </p:txBody>
      </p:sp>
      <p:sp>
        <p:nvSpPr>
          <p:cNvPr id="28" name="TextBox 27"/>
          <p:cNvSpPr txBox="1"/>
          <p:nvPr/>
        </p:nvSpPr>
        <p:spPr>
          <a:xfrm>
            <a:off x="7909559" y="3145536"/>
            <a:ext cx="3447287" cy="393192"/>
          </a:xfrm>
          <a:prstGeom prst="rect">
            <a:avLst/>
          </a:prstGeom>
          <a:noFill/>
        </p:spPr>
        <p:txBody>
          <a:bodyPr wrap="square" lIns="13716" rIns="13716" tIns="0" bIns="0">
            <a:spAutoFit/>
          </a:bodyPr>
          <a:lstStyle/>
          <a:p>
            <a:pPr>
              <a:spcAft>
                <a:spcPts val="500"/>
              </a:spcAft>
              <a:defRPr sz="1150" b="0">
                <a:solidFill>
                  <a:srgbClr val="586980"/>
                </a:solidFill>
                <a:latin typeface="Aptos"/>
              </a:defRPr>
            </a:pPr>
            <a:r>
              <a:t>256 instructions × 128 bits</a:t>
            </a:r>
          </a:p>
          <a:p>
            <a:pPr>
              <a:spcAft>
                <a:spcPts val="500"/>
              </a:spcAft>
              <a:defRPr sz="1150" b="0">
                <a:solidFill>
                  <a:srgbClr val="586980"/>
                </a:solidFill>
                <a:latin typeface="Aptos"/>
              </a:defRPr>
            </a:pPr>
            <a:r>
              <a:t>AXI-Lite programming → sequencer</a:t>
            </a:r>
          </a:p>
        </p:txBody>
      </p:sp>
      <p:sp>
        <p:nvSpPr>
          <p:cNvPr id="29" name="TextBox 28"/>
          <p:cNvSpPr txBox="1"/>
          <p:nvPr/>
        </p:nvSpPr>
        <p:spPr>
          <a:xfrm>
            <a:off x="7799831" y="3858768"/>
            <a:ext cx="3657600" cy="246888"/>
          </a:xfrm>
          <a:prstGeom prst="rect">
            <a:avLst/>
          </a:prstGeom>
          <a:noFill/>
        </p:spPr>
        <p:txBody>
          <a:bodyPr wrap="square" lIns="13716" rIns="13716" tIns="0" bIns="0">
            <a:spAutoFit/>
          </a:bodyPr>
          <a:lstStyle/>
          <a:p>
            <a:pPr>
              <a:spcAft>
                <a:spcPts val="500"/>
              </a:spcAft>
              <a:defRPr sz="1200" b="1">
                <a:solidFill>
                  <a:srgbClr val="586980"/>
                </a:solidFill>
                <a:latin typeface="Aptos"/>
              </a:defRPr>
            </a:pPr>
            <a:r>
              <a:t>DDR ADDRESS EXAMPLES</a:t>
            </a:r>
          </a:p>
        </p:txBody>
      </p:sp>
      <p:sp>
        <p:nvSpPr>
          <p:cNvPr id="30" name="TextBox 29"/>
          <p:cNvSpPr txBox="1"/>
          <p:nvPr/>
        </p:nvSpPr>
        <p:spPr>
          <a:xfrm>
            <a:off x="7799831" y="4315968"/>
            <a:ext cx="3657600" cy="237744"/>
          </a:xfrm>
          <a:prstGeom prst="rect">
            <a:avLst/>
          </a:prstGeom>
          <a:noFill/>
        </p:spPr>
        <p:txBody>
          <a:bodyPr wrap="square" lIns="13716" rIns="13716" tIns="0" bIns="0">
            <a:spAutoFit/>
          </a:bodyPr>
          <a:lstStyle/>
          <a:p>
            <a:pPr>
              <a:spcAft>
                <a:spcPts val="500"/>
              </a:spcAft>
              <a:defRPr sz="1200" b="0">
                <a:solidFill>
                  <a:srgbClr val="15233B"/>
                </a:solidFill>
                <a:latin typeface="Consolas"/>
              </a:defRPr>
            </a:pPr>
            <a:r>
              <a:t>0x20100000   ImageNet input</a:t>
            </a:r>
          </a:p>
        </p:txBody>
      </p:sp>
      <p:sp>
        <p:nvSpPr>
          <p:cNvPr id="31" name="TextBox 30"/>
          <p:cNvSpPr txBox="1"/>
          <p:nvPr/>
        </p:nvSpPr>
        <p:spPr>
          <a:xfrm>
            <a:off x="7799831" y="4645152"/>
            <a:ext cx="3657600" cy="237744"/>
          </a:xfrm>
          <a:prstGeom prst="rect">
            <a:avLst/>
          </a:prstGeom>
          <a:noFill/>
        </p:spPr>
        <p:txBody>
          <a:bodyPr wrap="square" lIns="13716" rIns="13716" tIns="0" bIns="0">
            <a:spAutoFit/>
          </a:bodyPr>
          <a:lstStyle/>
          <a:p>
            <a:pPr>
              <a:spcAft>
                <a:spcPts val="500"/>
              </a:spcAft>
              <a:defRPr sz="1200" b="0">
                <a:solidFill>
                  <a:srgbClr val="15233B"/>
                </a:solidFill>
                <a:latin typeface="Consolas"/>
              </a:defRPr>
            </a:pPr>
            <a:r>
              <a:t>0x21000000   Microcode assets</a:t>
            </a:r>
          </a:p>
        </p:txBody>
      </p:sp>
      <p:sp>
        <p:nvSpPr>
          <p:cNvPr id="32" name="TextBox 31"/>
          <p:cNvSpPr txBox="1"/>
          <p:nvPr/>
        </p:nvSpPr>
        <p:spPr>
          <a:xfrm>
            <a:off x="7799831" y="4974336"/>
            <a:ext cx="3657600" cy="237744"/>
          </a:xfrm>
          <a:prstGeom prst="rect">
            <a:avLst/>
          </a:prstGeom>
          <a:noFill/>
        </p:spPr>
        <p:txBody>
          <a:bodyPr wrap="square" lIns="13716" rIns="13716" tIns="0" bIns="0">
            <a:spAutoFit/>
          </a:bodyPr>
          <a:lstStyle/>
          <a:p>
            <a:pPr>
              <a:spcAft>
                <a:spcPts val="500"/>
              </a:spcAft>
              <a:defRPr sz="1200" b="0">
                <a:solidFill>
                  <a:srgbClr val="15233B"/>
                </a:solidFill>
                <a:latin typeface="Consolas"/>
              </a:defRPr>
            </a:pPr>
            <a:r>
              <a:t>0x31000000   ResNet-50 weights</a:t>
            </a:r>
          </a:p>
        </p:txBody>
      </p:sp>
      <p:sp>
        <p:nvSpPr>
          <p:cNvPr id="33" name="TextBox 32"/>
          <p:cNvSpPr txBox="1"/>
          <p:nvPr/>
        </p:nvSpPr>
        <p:spPr>
          <a:xfrm>
            <a:off x="7799831" y="5303520"/>
            <a:ext cx="3657600" cy="237744"/>
          </a:xfrm>
          <a:prstGeom prst="rect">
            <a:avLst/>
          </a:prstGeom>
          <a:noFill/>
        </p:spPr>
        <p:txBody>
          <a:bodyPr wrap="square" lIns="13716" rIns="13716" tIns="0" bIns="0">
            <a:spAutoFit/>
          </a:bodyPr>
          <a:lstStyle/>
          <a:p>
            <a:pPr>
              <a:spcAft>
                <a:spcPts val="500"/>
              </a:spcAft>
              <a:defRPr sz="1200" b="0">
                <a:solidFill>
                  <a:srgbClr val="15233B"/>
                </a:solidFill>
                <a:latin typeface="Consolas"/>
              </a:defRPr>
            </a:pPr>
            <a:r>
              <a:t>0x38000000   Output logits</a:t>
            </a:r>
          </a:p>
        </p:txBody>
      </p:sp>
      <p:sp>
        <p:nvSpPr>
          <p:cNvPr id="34" name="TextBox 33"/>
          <p:cNvSpPr txBox="1"/>
          <p:nvPr/>
        </p:nvSpPr>
        <p:spPr>
          <a:xfrm>
            <a:off x="7799831" y="5715000"/>
            <a:ext cx="3657600" cy="393192"/>
          </a:xfrm>
          <a:prstGeom prst="rect">
            <a:avLst/>
          </a:prstGeom>
          <a:noFill/>
        </p:spPr>
        <p:txBody>
          <a:bodyPr wrap="square" lIns="13716" rIns="13716" tIns="0" bIns="0">
            <a:spAutoFit/>
          </a:bodyPr>
          <a:lstStyle/>
          <a:p>
            <a:pPr>
              <a:spcAft>
                <a:spcPts val="500"/>
              </a:spcAft>
              <a:defRPr sz="1100" b="0">
                <a:solidFill>
                  <a:srgbClr val="586980"/>
                </a:solidFill>
                <a:latin typeface="Aptos"/>
              </a:defRPr>
            </a:pPr>
            <a:r>
              <a:t>Read path shown; results return through</a:t>
            </a:r>
          </a:p>
          <a:p>
            <a:pPr>
              <a:spcAft>
                <a:spcPts val="500"/>
              </a:spcAft>
              <a:defRPr sz="1100" b="0">
                <a:solidFill>
                  <a:srgbClr val="586980"/>
                </a:solidFill>
                <a:latin typeface="Aptos"/>
              </a:defRPr>
            </a:pPr>
            <a:r>
              <a:t>SRAM and write DMA to DDR.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Accelerator Design &amp; Development | Unified C-Engine</dc:title>
  <dc:subject>AMD ZCU106 neural accelerator — repository evidence review, 19 October 2026</dc:subject>
  <dc:creator>Unified C-Engine Project</dc:creator>
  <cp:keywords>ZCU106, FPGA, systolic array, INT8, INT16, implementation</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