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78" r:id="rId3"/>
    <p:sldId id="258" r:id="rId4"/>
    <p:sldId id="270" r:id="rId5"/>
    <p:sldId id="271" r:id="rId6"/>
    <p:sldId id="274" r:id="rId7"/>
    <p:sldId id="275" r:id="rId8"/>
    <p:sldId id="276" r:id="rId9"/>
    <p:sldId id="273" r:id="rId10"/>
    <p:sldId id="277"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DFC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78" autoAdjust="0"/>
  </p:normalViewPr>
  <p:slideViewPr>
    <p:cSldViewPr snapToGrid="0" snapToObjects="1">
      <p:cViewPr varScale="1">
        <p:scale>
          <a:sx n="99" d="100"/>
          <a:sy n="99" d="100"/>
        </p:scale>
        <p:origin x="912"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9106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SPEECH</a:t>
            </a:r>
          </a:p>
          <a:p>
            <a:endParaRPr/>
          </a:p>
          <a:p>
            <a:r>
              <a:t>This presentation introduces the design and development of our Unified C-Engine AI accelerator on the AMD ZCU106. The aim is to build a programmable compute platform that can grow over time. Four model integrations are available today: MNIST LeNet-5, ResNet-50, MobileNetV2 and EfficientNet-B0. More models and operators will follow as the compiler and RTL evolve. I will explain the system and engine architecture, the memory hierarchy, and the software flow, then show the implementation evidence and the remaining development milestones. The results are drawn from saved repository artifacts, so each performance claim is tied to its recorded scope.</a:t>
            </a:r>
          </a:p>
          <a:p>
            <a:endParaRPr/>
          </a:p>
          <a:p>
            <a:r>
              <a:t>TECHNICAL REFERENCES AND QUALIFICATIONS</a:t>
            </a:r>
          </a:p>
          <a:p>
            <a:endParaRPr/>
          </a:p>
          <a:p>
            <a:r>
              <a:t>Scope: a concise project overview based on files in E:/unified, reviewed 2026-10-19. No new FPGA build, simulation, or board execution was performed for this presentation. Raw routed reports and saved execution logs take precedence over summary prose when numbers disagree. Some logs reference source snapshots outside the current checkout; they are recorded results, not a fresh verification of the present files.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3F83-B402-862C-C6AC-EAF4B64DB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988DF-1F18-F3F6-95B6-1C2F7D21661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540B783-6635-EA7A-362B-C65CACD423EF}"/>
              </a:ext>
            </a:extLst>
          </p:cNvPr>
          <p:cNvSpPr>
            <a:spLocks noGrp="1"/>
          </p:cNvSpPr>
          <p:nvPr>
            <p:ph type="body" sz="quarter" idx="3"/>
          </p:nvPr>
        </p:nvSpPr>
        <p:spPr/>
        <p:txBody>
          <a:bodyPr/>
          <a:lstStyle/>
          <a:p>
            <a:r>
              <a:t>PRESENTER SPEECH</a:t>
            </a:r>
          </a:p>
          <a:p>
            <a:endParaRPr/>
          </a:p>
          <a:p>
            <a:r>
              <a:t>At the system level, the ARM processor manages the inference job. It prepares configuration, launches transfers and presents the returned predictions. The FPGA programmable logic executes the scheduled neural compute. Images and weights begin in DDR, move through the DMA read path into banked SRAM, and feed the compute array. Post-processing transforms the accumulated results before they return to SRAM. The write DMA then returns the final logits to DDR. Microcode coordinates the layer sequence. This separation provides a reusable accelerator architecture while keeping control and result handling in a familiar baremetal software environment.</a:t>
            </a:r>
          </a:p>
          <a:p>
            <a:endParaRPr/>
          </a:p>
          <a:p>
            <a:r>
              <a:t>TECHNICAL REFERENCES AND QUALIFICATIONS</a:t>
            </a:r>
          </a:p>
          <a:p>
            <a:endParaRPr/>
          </a:p>
          <a:p>
            <a:r>
              <a:t>Sources: rtl/c_engine_dma_top.v, rtl/c_engine_top.v, rtl/axi_lite_slave.v, rtl/axi4_master_rd.v, rtl/axi4_master_wr.v, rtl/dma_sram_bridge.v, baremetal/src/c_engine_driver.c and main.c. Diagram is a functional overview; controller signals and SRAM return paths are summarized in the data-path caption. PPU means post-processing unit. Main CPU also performs softmax and top-k result presentation, so the broad README phrase "zero neural network math" is not repeated.</a:t>
            </a:r>
          </a:p>
        </p:txBody>
      </p:sp>
      <p:sp>
        <p:nvSpPr>
          <p:cNvPr id="4" name="Slide Number Placeholder 3">
            <a:extLst>
              <a:ext uri="{FF2B5EF4-FFF2-40B4-BE49-F238E27FC236}">
                <a16:creationId xmlns:a16="http://schemas.microsoft.com/office/drawing/2014/main" id="{A7CC3FB6-58B1-094A-CEEB-F86940C9A2E6}"/>
              </a:ext>
            </a:extLst>
          </p:cNvPr>
          <p:cNvSpPr>
            <a:spLocks noGrp="1"/>
          </p:cNvSpPr>
          <p:nvPr>
            <p:ph type="sldNum" sz="quarter" idx="5"/>
          </p:nvPr>
        </p:nvSpPr>
        <p:spPr/>
      </p:sp>
    </p:spTree>
    <p:extLst>
      <p:ext uri="{BB962C8B-B14F-4D97-AF65-F5344CB8AC3E}">
        <p14:creationId xmlns:p14="http://schemas.microsoft.com/office/powerpoint/2010/main" val="1673013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SPEECH</a:t>
            </a:r>
          </a:p>
          <a:p>
            <a:endParaRPr/>
          </a:p>
          <a:p>
            <a:r>
              <a:t>At the system level, the ARM processor manages the inference job. It prepares configuration, launches transfers and presents the returned predictions. The FPGA programmable logic executes the scheduled neural compute. Images and weights begin in DDR, move through the DMA read path into banked SRAM, and feed the compute array. Post-processing transforms the accumulated results before they return to SRAM. The write DMA then returns the final logits to DDR. Microcode coordinates the layer sequence. This separation provides a reusable accelerator architecture while keeping control and result handling in a familiar baremetal software environment.</a:t>
            </a:r>
          </a:p>
          <a:p>
            <a:endParaRPr/>
          </a:p>
          <a:p>
            <a:r>
              <a:t>TECHNICAL REFERENCES AND QUALIFICATIONS</a:t>
            </a:r>
          </a:p>
          <a:p>
            <a:endParaRPr/>
          </a:p>
          <a:p>
            <a:r>
              <a:t>Sources: rtl/c_engine_dma_top.v, rtl/c_engine_top.v, rtl/axi_lite_slave.v, rtl/axi4_master_rd.v, rtl/axi4_master_wr.v, rtl/dma_sram_bridge.v, baremetal/src/c_engine_driver.c and main.c. Diagram is a functional overview; controller signals and SRAM return paths are summarized in the data-path caption. PPU means post-processing unit. Main CPU also performs softmax and top-k result presentation, so the broad README phrase "zero neural network math" is not repeated.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SPEECH</a:t>
            </a:r>
          </a:p>
          <a:p>
            <a:endParaRPr/>
          </a:p>
          <a:p>
            <a:r>
              <a:t>This diagram maps the accelerator onto the actual Vivado system connections. At the top, the ARM processing system sends configuration through its HPM master port and a control SmartConnect to the accelerator's AXI-Lite interface. The accelerator has separate read and write DMA masters. Read data returns from DDR through HP0, while output data travels through HP1 on the write path. The arrows here show payload movement; the DMA requests themselves originate in the FPGA logic. The design shares the PS-generated PL clock, uses the processor-system reset block, and connects the accelerator interrupt back to the PS. These interfaces form the system-level contract for future accelerator extensions.</a:t>
            </a:r>
          </a:p>
          <a:p>
            <a:endParaRPr/>
          </a:p>
          <a:p>
            <a:r>
              <a:t>TECHNICAL REFERENCES AND QUALIFICATIONS</a:t>
            </a:r>
          </a:p>
          <a:p>
            <a:endParaRPr/>
          </a:p>
          <a:p>
            <a:r>
              <a:t>Primary source: fpga/create_bd.tcl executable commands. PS M_AXI_HPM0_FPD connects via axi_smc_ctrl to s_axi_lite; m0_axi connects via axi_smc_rd to S_AXI_HP0_FPD; m1_axi via axi_smc_wr to S_AXI_HP1_FPD. The diagram arrows show control writes and payload movement, not AXI master/slave transaction direction. The DMA masters are in PL. Control address aperture is 0xA0000000–0xA000FFFF. Both DMA address spaces map a 2 GiB DDR-low aperture, 0x00000000–0x7FFFFFFF; this is distinct from the board physical DDR capacity. pl_clk0 drives accelerator, interconnects, PS AXI clocks and reset synchronizer. pl_resetn0 feeds rst_ps8_0; peripheral_aresetn resets accelerator and SmartConnects. Accelerator interrupt connects to pl_ps_irq0. Some file comments refer to ZCU104 or 125 MHz; the executable default is ZCU106 and 75 MHz. No new implementation run was made.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840DF-5D61-7AB6-F92D-E5A2796A5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505B8-78D0-1634-E471-88B3281EB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D987003-68FF-CA61-492D-A19E1C74456D}"/>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96046064-8739-FE5C-CE9F-D94BA128C405}"/>
              </a:ext>
            </a:extLst>
          </p:cNvPr>
          <p:cNvSpPr>
            <a:spLocks noGrp="1"/>
          </p:cNvSpPr>
          <p:nvPr>
            <p:ph type="sldNum" sz="quarter" idx="5"/>
          </p:nvPr>
        </p:nvSpPr>
        <p:spPr/>
      </p:sp>
    </p:spTree>
    <p:extLst>
      <p:ext uri="{BB962C8B-B14F-4D97-AF65-F5344CB8AC3E}">
        <p14:creationId xmlns:p14="http://schemas.microsoft.com/office/powerpoint/2010/main" val="1363596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17AB-4433-E8D9-B3B9-93EFB9C2E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10780-53B2-8EB2-2732-C232B621009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029AD3F-EC9B-3C2E-7012-71F774F6E058}"/>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0760115B-BF24-3B3B-F3BF-7DA200799089}"/>
              </a:ext>
            </a:extLst>
          </p:cNvPr>
          <p:cNvSpPr>
            <a:spLocks noGrp="1"/>
          </p:cNvSpPr>
          <p:nvPr>
            <p:ph type="sldNum" sz="quarter" idx="5"/>
          </p:nvPr>
        </p:nvSpPr>
        <p:spPr/>
      </p:sp>
    </p:spTree>
    <p:extLst>
      <p:ext uri="{BB962C8B-B14F-4D97-AF65-F5344CB8AC3E}">
        <p14:creationId xmlns:p14="http://schemas.microsoft.com/office/powerpoint/2010/main" val="4190694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FA677-B77A-C40F-E6CC-CFE04CD5C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5D80E-0B0F-B74E-DAFB-A19AFBCC51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D31ED88-54AC-2431-E032-7CC18ED77649}"/>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0E9C0E17-7EE0-D148-368B-FEA5D8957968}"/>
              </a:ext>
            </a:extLst>
          </p:cNvPr>
          <p:cNvSpPr>
            <a:spLocks noGrp="1"/>
          </p:cNvSpPr>
          <p:nvPr>
            <p:ph type="sldNum" sz="quarter" idx="5"/>
          </p:nvPr>
        </p:nvSpPr>
        <p:spPr/>
      </p:sp>
    </p:spTree>
    <p:extLst>
      <p:ext uri="{BB962C8B-B14F-4D97-AF65-F5344CB8AC3E}">
        <p14:creationId xmlns:p14="http://schemas.microsoft.com/office/powerpoint/2010/main" val="3691020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DD4DF-7FD6-558A-F57B-AEF1BA757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18D3B-6596-B14E-40CE-956060E2D8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0F9B91-8A4D-7AD4-5464-BBF438A638AA}"/>
              </a:ext>
            </a:extLst>
          </p:cNvPr>
          <p:cNvSpPr>
            <a:spLocks noGrp="1"/>
          </p:cNvSpPr>
          <p:nvPr>
            <p:ph type="body" sz="quarter" idx="3"/>
          </p:nvPr>
        </p:nvSpPr>
        <p:spPr/>
        <p:txBody>
          <a:bodyPr/>
          <a:lstStyle/>
          <a:p>
            <a:r>
              <a:t>PRESENTER SPEECH</a:t>
            </a:r>
          </a:p>
          <a:p>
            <a:endParaRPr/>
          </a:p>
          <a:p>
            <a:r>
              <a:t>At the system level, the ARM processor manages the inference job. It prepares configuration, launches transfers and presents the returned predictions. The FPGA programmable logic executes the scheduled neural compute. Images and weights begin in DDR, move through the DMA read path into banked SRAM, and feed the compute array. Post-processing transforms the accumulated results before they return to SRAM. The write DMA then returns the final logits to DDR. Microcode coordinates the layer sequence. This separation provides a reusable accelerator architecture while keeping control and result handling in a familiar baremetal software environment.</a:t>
            </a:r>
          </a:p>
          <a:p>
            <a:endParaRPr/>
          </a:p>
          <a:p>
            <a:r>
              <a:t>TECHNICAL REFERENCES AND QUALIFICATIONS</a:t>
            </a:r>
          </a:p>
          <a:p>
            <a:endParaRPr/>
          </a:p>
          <a:p>
            <a:r>
              <a:t>Sources: rtl/c_engine_dma_top.v, rtl/c_engine_top.v, rtl/axi_lite_slave.v, rtl/axi4_master_rd.v, rtl/axi4_master_wr.v, rtl/dma_sram_bridge.v, baremetal/src/c_engine_driver.c and main.c. Diagram is a functional overview; controller signals and SRAM return paths are summarized in the data-path caption. PPU means post-processing unit. Main CPU also performs softmax and top-k result presentation, so the broad README phrase "zero neural network math" is not repeated.</a:t>
            </a:r>
          </a:p>
        </p:txBody>
      </p:sp>
      <p:sp>
        <p:nvSpPr>
          <p:cNvPr id="4" name="Slide Number Placeholder 3">
            <a:extLst>
              <a:ext uri="{FF2B5EF4-FFF2-40B4-BE49-F238E27FC236}">
                <a16:creationId xmlns:a16="http://schemas.microsoft.com/office/drawing/2014/main" id="{CF821609-BCDA-7915-909E-61FA9DE71B7C}"/>
              </a:ext>
            </a:extLst>
          </p:cNvPr>
          <p:cNvSpPr>
            <a:spLocks noGrp="1"/>
          </p:cNvSpPr>
          <p:nvPr>
            <p:ph type="sldNum" sz="quarter" idx="5"/>
          </p:nvPr>
        </p:nvSpPr>
        <p:spPr/>
      </p:sp>
    </p:spTree>
    <p:extLst>
      <p:ext uri="{BB962C8B-B14F-4D97-AF65-F5344CB8AC3E}">
        <p14:creationId xmlns:p14="http://schemas.microsoft.com/office/powerpoint/2010/main" val="430892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10054-4FAE-88B4-BD96-A885DAD37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2DB27-1C96-27BA-54D8-2EA1781226D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B49B896-6545-D8D9-140A-2FB71AC34FDD}"/>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6B464BEC-3EAB-4814-0D94-CA3E959E4BF8}"/>
              </a:ext>
            </a:extLst>
          </p:cNvPr>
          <p:cNvSpPr>
            <a:spLocks noGrp="1"/>
          </p:cNvSpPr>
          <p:nvPr>
            <p:ph type="sldNum" sz="quarter" idx="5"/>
          </p:nvPr>
        </p:nvSpPr>
        <p:spPr/>
      </p:sp>
    </p:spTree>
    <p:extLst>
      <p:ext uri="{BB962C8B-B14F-4D97-AF65-F5344CB8AC3E}">
        <p14:creationId xmlns:p14="http://schemas.microsoft.com/office/powerpoint/2010/main" val="3195826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PRESENTER SPEECH</a:t>
            </a:r>
          </a:p>
          <a:p>
            <a:endParaRPr dirty="0"/>
          </a:p>
          <a:p>
            <a:r>
              <a:rPr dirty="0"/>
              <a:t>This example helps explain why we look beyond the pass marker. The dog-image runs report Samoyed as top one. MobileNetV2 has a clear highest logit in this capture. EfficientNet-B0, however, gives three classes the maximum INT8 value of 127, so its top result includes a saturation tie. Agreement with a quantized reference is valuable evidence about execution, but it does not establish general classification accuracy. We need to examine output distributions, fix saturation where appropriate, and evaluate on images that were not used for calibration. That becomes more important as we bring additional models onto the accelerator.</a:t>
            </a:r>
          </a:p>
          <a:p>
            <a:endParaRPr dirty="0"/>
          </a:p>
          <a:p>
            <a:r>
              <a:rPr dirty="0"/>
              <a:t>TECHNICAL REFERENCES AND QUALIFICATIONS</a:t>
            </a:r>
          </a:p>
          <a:p>
            <a:endParaRPr dirty="0"/>
          </a:p>
          <a:p>
            <a:r>
              <a:rPr dirty="0"/>
              <a:t>Sources: data/</a:t>
            </a:r>
            <a:r>
              <a:rPr dirty="0" err="1"/>
              <a:t>test_images</a:t>
            </a:r>
            <a:r>
              <a:rPr dirty="0"/>
              <a:t>/dog.jpg; sim/logs/mobilenetv2_8bit.log, efficientnetb0_8bit.log. </a:t>
            </a:r>
            <a:r>
              <a:rPr dirty="0" err="1"/>
              <a:t>MobileNet</a:t>
            </a:r>
            <a:r>
              <a:rPr dirty="0"/>
              <a:t> Top-5 = [258:90,52:72,904:56,0:53,61:53]. </a:t>
            </a:r>
            <a:r>
              <a:rPr dirty="0" err="1"/>
              <a:t>EfficientNet</a:t>
            </a:r>
            <a:r>
              <a:rPr dirty="0"/>
              <a:t> Top-5 = [258:127,350:127,409:127,128:117,146:116]; the tie at INT8 maximum limits interpretation of a top1=258 marker. Zero mismatches means agreement with the logged fixed-point reference, not proof of equivalence to floating-point </a:t>
            </a:r>
            <a:r>
              <a:rPr dirty="0" err="1"/>
              <a:t>PyTorch</a:t>
            </a:r>
            <a:r>
              <a:rPr dirty="0"/>
              <a:t> on all images. The current compiler explicitly calibrates a projected head using test-image features. No held-out benchmark accuracy result was located in the reviewed project evidence. This slide intentionally avoids the V4 prose claim of 100% </a:t>
            </a:r>
            <a:r>
              <a:rPr dirty="0" err="1"/>
              <a:t>PyTorch</a:t>
            </a:r>
            <a:r>
              <a:rPr dirty="0"/>
              <a:t> bit-exact accuracy.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a:t>
            </a:r>
            <a:r>
              <a:rPr dirty="0"/>
              <a:t> </a:t>
            </a:r>
            <a:r>
              <a:rPr lang="en-US" dirty="0"/>
              <a:t>AI Compute </a:t>
            </a:r>
            <a:r>
              <a:rPr dirty="0"/>
              <a:t>E</a:t>
            </a:r>
            <a:r>
              <a:rPr lang="en-US" dirty="0"/>
              <a:t>ngine</a:t>
            </a:r>
            <a:endParaRPr dirty="0"/>
          </a:p>
        </p:txBody>
      </p:sp>
      <p:sp>
        <p:nvSpPr>
          <p:cNvPr id="3" name="TextBox 2"/>
          <p:cNvSpPr txBox="1"/>
          <p:nvPr/>
        </p:nvSpPr>
        <p:spPr>
          <a:xfrm>
            <a:off x="502920" y="713232"/>
            <a:ext cx="11155680" cy="640080"/>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endParaRPr/>
          </a:p>
        </p:txBody>
      </p:sp>
      <p:sp>
        <p:nvSpPr>
          <p:cNvPr id="4" name="Rectangle 3"/>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solidFill>
                  <a:srgbClr val="35DFC3"/>
                </a:solidFill>
              </a:rPr>
              <a:t>01</a:t>
            </a:r>
            <a:r>
              <a:rPr dirty="0"/>
              <a:t> / 1</a:t>
            </a:r>
            <a:r>
              <a:rPr lang="en-US" dirty="0"/>
              <a:t>1</a:t>
            </a:r>
            <a:endParaRPr dirty="0"/>
          </a:p>
        </p:txBody>
      </p:sp>
      <p:sp>
        <p:nvSpPr>
          <p:cNvPr id="8" name="TextBox 7"/>
          <p:cNvSpPr txBox="1"/>
          <p:nvPr/>
        </p:nvSpPr>
        <p:spPr>
          <a:xfrm>
            <a:off x="594360" y="1115568"/>
            <a:ext cx="6858000" cy="1264449"/>
          </a:xfrm>
          <a:prstGeom prst="rect">
            <a:avLst/>
          </a:prstGeom>
          <a:noFill/>
        </p:spPr>
        <p:txBody>
          <a:bodyPr wrap="square" lIns="13716" tIns="0" rIns="13716" bIns="0">
            <a:spAutoFit/>
          </a:bodyPr>
          <a:lstStyle/>
          <a:p>
            <a:pPr>
              <a:spcAft>
                <a:spcPts val="500"/>
              </a:spcAft>
              <a:defRPr sz="3900" b="1">
                <a:solidFill>
                  <a:srgbClr val="FFFFFF"/>
                </a:solidFill>
                <a:latin typeface="Aptos Display"/>
              </a:defRPr>
            </a:pPr>
            <a:r>
              <a:rPr lang="en-US" dirty="0"/>
              <a:t>Indigenous </a:t>
            </a:r>
            <a:r>
              <a:rPr dirty="0"/>
              <a:t>AI Accelerator</a:t>
            </a:r>
          </a:p>
          <a:p>
            <a:pPr>
              <a:spcAft>
                <a:spcPts val="500"/>
              </a:spcAft>
              <a:defRPr sz="3900" b="1">
                <a:solidFill>
                  <a:srgbClr val="FFFFFF"/>
                </a:solidFill>
                <a:latin typeface="Aptos Display"/>
              </a:defRPr>
            </a:pPr>
            <a:r>
              <a:rPr dirty="0"/>
              <a:t>Design &amp; Development</a:t>
            </a:r>
          </a:p>
        </p:txBody>
      </p:sp>
      <p:sp>
        <p:nvSpPr>
          <p:cNvPr id="10" name="TextBox 9"/>
          <p:cNvSpPr txBox="1"/>
          <p:nvPr/>
        </p:nvSpPr>
        <p:spPr>
          <a:xfrm>
            <a:off x="621792" y="2889504"/>
            <a:ext cx="6400800" cy="914400"/>
          </a:xfrm>
          <a:prstGeom prst="rect">
            <a:avLst/>
          </a:prstGeom>
          <a:noFill/>
        </p:spPr>
        <p:txBody>
          <a:bodyPr wrap="square" lIns="13716" tIns="0" rIns="13716" bIns="0">
            <a:spAutoFit/>
          </a:bodyPr>
          <a:lstStyle/>
          <a:p>
            <a:pPr>
              <a:spcAft>
                <a:spcPts val="500"/>
              </a:spcAft>
              <a:defRPr sz="2100" b="0">
                <a:solidFill>
                  <a:srgbClr val="A8B7CF"/>
                </a:solidFill>
                <a:latin typeface="Aptos"/>
              </a:defRPr>
            </a:pPr>
            <a:r>
              <a:rPr dirty="0"/>
              <a:t>A programmable FPGA compute platform</a:t>
            </a:r>
          </a:p>
          <a:p>
            <a:pPr>
              <a:spcAft>
                <a:spcPts val="500"/>
              </a:spcAft>
              <a:defRPr sz="2100" b="0">
                <a:solidFill>
                  <a:srgbClr val="A8B7CF"/>
                </a:solidFill>
                <a:latin typeface="Aptos"/>
              </a:defRPr>
            </a:pPr>
            <a:r>
              <a:rPr dirty="0"/>
              <a:t>with a roadmap for more models and operators.</a:t>
            </a:r>
          </a:p>
        </p:txBody>
      </p:sp>
      <p:sp>
        <p:nvSpPr>
          <p:cNvPr id="11" name="Rounded Rectangle 10"/>
          <p:cNvSpPr/>
          <p:nvPr/>
        </p:nvSpPr>
        <p:spPr>
          <a:xfrm>
            <a:off x="621792" y="4901184"/>
            <a:ext cx="1435608"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937760"/>
            <a:ext cx="1271016" cy="20116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dirty="0"/>
              <a:t>ARCHITECTURE</a:t>
            </a:r>
          </a:p>
        </p:txBody>
      </p:sp>
      <p:sp>
        <p:nvSpPr>
          <p:cNvPr id="13" name="Rounded Rectangle 12"/>
          <p:cNvSpPr/>
          <p:nvPr/>
        </p:nvSpPr>
        <p:spPr>
          <a:xfrm>
            <a:off x="2194560" y="4901184"/>
            <a:ext cx="1517904"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0" y="4937760"/>
            <a:ext cx="1353312" cy="201168"/>
          </a:xfrm>
          <a:prstGeom prst="rect">
            <a:avLst/>
          </a:prstGeom>
          <a:noFill/>
        </p:spPr>
        <p:txBody>
          <a:bodyPr wrap="square" lIns="13716" tIns="0" rIns="13716" bIns="0">
            <a:spAutoFit/>
          </a:bodyPr>
          <a:lstStyle/>
          <a:p>
            <a:pPr>
              <a:spcAft>
                <a:spcPts val="500"/>
              </a:spcAft>
              <a:defRPr sz="1000" b="1">
                <a:solidFill>
                  <a:srgbClr val="6BA6FF"/>
                </a:solidFill>
                <a:latin typeface="Aptos"/>
              </a:defRPr>
            </a:pPr>
            <a:r>
              <a:t>BUILD RESULTS</a:t>
            </a:r>
          </a:p>
        </p:txBody>
      </p:sp>
      <p:sp>
        <p:nvSpPr>
          <p:cNvPr id="15" name="Rounded Rectangle 14"/>
          <p:cNvSpPr/>
          <p:nvPr/>
        </p:nvSpPr>
        <p:spPr>
          <a:xfrm>
            <a:off x="3858768" y="4901184"/>
            <a:ext cx="1755648"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50207" y="4937760"/>
            <a:ext cx="1591056" cy="201168"/>
          </a:xfrm>
          <a:prstGeom prst="rect">
            <a:avLst/>
          </a:prstGeom>
          <a:noFill/>
        </p:spPr>
        <p:txBody>
          <a:bodyPr wrap="square" lIns="13716" tIns="0" rIns="13716" bIns="0">
            <a:spAutoFit/>
          </a:bodyPr>
          <a:lstStyle/>
          <a:p>
            <a:pPr>
              <a:spcAft>
                <a:spcPts val="500"/>
              </a:spcAft>
              <a:defRPr sz="1000" b="1">
                <a:solidFill>
                  <a:srgbClr val="A69AFF"/>
                </a:solidFill>
                <a:latin typeface="Aptos"/>
              </a:defRPr>
            </a:pPr>
            <a:r>
              <a:t>CURRENT STATUS</a:t>
            </a:r>
          </a:p>
        </p:txBody>
      </p:sp>
      <p:sp>
        <p:nvSpPr>
          <p:cNvPr id="17" name="Rounded Rectangle 16"/>
          <p:cNvSpPr/>
          <p:nvPr/>
        </p:nvSpPr>
        <p:spPr>
          <a:xfrm>
            <a:off x="7434072" y="1435608"/>
            <a:ext cx="4160520" cy="3483864"/>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26679" y="1682496"/>
            <a:ext cx="3566160" cy="548640"/>
          </a:xfrm>
          <a:prstGeom prst="rect">
            <a:avLst/>
          </a:prstGeom>
          <a:noFill/>
        </p:spPr>
        <p:txBody>
          <a:bodyPr wrap="square" lIns="13716" tIns="0" rIns="13716" bIns="0">
            <a:spAutoFit/>
          </a:bodyPr>
          <a:lstStyle/>
          <a:p>
            <a:pPr>
              <a:spcAft>
                <a:spcPts val="500"/>
              </a:spcAft>
              <a:defRPr sz="3300" b="1">
                <a:solidFill>
                  <a:srgbClr val="FFFFFF"/>
                </a:solidFill>
                <a:latin typeface="Aptos"/>
              </a:defRPr>
            </a:pPr>
            <a:r>
              <a:rPr dirty="0"/>
              <a:t>8 × 32</a:t>
            </a:r>
          </a:p>
        </p:txBody>
      </p:sp>
      <p:sp>
        <p:nvSpPr>
          <p:cNvPr id="19" name="TextBox 18"/>
          <p:cNvSpPr txBox="1"/>
          <p:nvPr/>
        </p:nvSpPr>
        <p:spPr>
          <a:xfrm>
            <a:off x="7726679" y="2313432"/>
            <a:ext cx="3566160" cy="274320"/>
          </a:xfrm>
          <a:prstGeom prst="rect">
            <a:avLst/>
          </a:prstGeom>
          <a:noFill/>
        </p:spPr>
        <p:txBody>
          <a:bodyPr wrap="square" lIns="13716" tIns="0" rIns="13716" bIns="0">
            <a:spAutoFit/>
          </a:bodyPr>
          <a:lstStyle/>
          <a:p>
            <a:pPr>
              <a:spcAft>
                <a:spcPts val="500"/>
              </a:spcAft>
              <a:defRPr sz="1100" b="1">
                <a:solidFill>
                  <a:srgbClr val="A8B7CF"/>
                </a:solidFill>
                <a:latin typeface="Aptos"/>
              </a:defRPr>
            </a:pPr>
            <a:r>
              <a:t>SYSTOLIC COMPUTE FABRIC</a:t>
            </a:r>
          </a:p>
        </p:txBody>
      </p:sp>
      <p:sp>
        <p:nvSpPr>
          <p:cNvPr id="20" name="Rectangle 19"/>
          <p:cNvSpPr/>
          <p:nvPr/>
        </p:nvSpPr>
        <p:spPr>
          <a:xfrm>
            <a:off x="7726679"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836407"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46136"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55863"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65592"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75319"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385048"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494776"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04504"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714232"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823959"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933688"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43415"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153144"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262872"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372600"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482328"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592055"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701784"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811511"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921240"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0030967"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0140696"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250424"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360151"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0469880"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579608"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689336"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99063"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0908792"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1018519"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1128247"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726679"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836407"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946136"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055863"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165592"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275319"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385048"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494776"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604504"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8714232"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823959"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933688"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9043415"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153144"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9262872"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9372600"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9482328"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592055"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701784"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811511"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9921240"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0030967"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0140696"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0250424"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0360151"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10469880"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579608"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689336"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799063"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10908792"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11018519"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11128247"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7726679"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7836407"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7946136"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8055863"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165592"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8275319"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385048"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494776"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604504"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8714232"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8823959"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8933688"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9043415"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9153144"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9262872"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9372600"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9482328"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9592055"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9701784"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9811511"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9921240"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10030967"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10140696"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10250424"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10360151"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10469880"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579608"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689336"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10799063"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10908792"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11018519"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11128247"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7726679"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7836407"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7946136"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8055863"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8165592"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8275319"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8385048"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494776"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604504"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8714232"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8823959"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8933688"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9043415"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a:off x="9153144"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9262872"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9372600"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9482328"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9592055"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9701784"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9811511"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9921240"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10030967"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10140696"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10250424"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10360151"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10469880"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0579608"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0689336"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0799063"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0908792"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018519"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128247"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7726679"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7836407"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7946136"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8055863"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8165592"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8275319"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8385048"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8494776"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8604504"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8714232"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8823959"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8933688"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9043415"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9153144"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9262872"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9372600"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9482328"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9592055"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9701784"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9811511"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9921240"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10030967"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ectangle 169"/>
          <p:cNvSpPr/>
          <p:nvPr/>
        </p:nvSpPr>
        <p:spPr>
          <a:xfrm>
            <a:off x="10140696"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10250424"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10360151"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10469880"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10579608"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10689336"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10799063"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10908792"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11018519"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11128247"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ectangle 179"/>
          <p:cNvSpPr/>
          <p:nvPr/>
        </p:nvSpPr>
        <p:spPr>
          <a:xfrm>
            <a:off x="7726679"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7836407"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7946136"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8055863"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8165592"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8275319"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8385048"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ectangle 186"/>
          <p:cNvSpPr/>
          <p:nvPr/>
        </p:nvSpPr>
        <p:spPr>
          <a:xfrm>
            <a:off x="8494776"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Rectangle 187"/>
          <p:cNvSpPr/>
          <p:nvPr/>
        </p:nvSpPr>
        <p:spPr>
          <a:xfrm>
            <a:off x="8604504"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8714232"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8823959"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Rectangle 190"/>
          <p:cNvSpPr/>
          <p:nvPr/>
        </p:nvSpPr>
        <p:spPr>
          <a:xfrm>
            <a:off x="8933688"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Rectangle 191"/>
          <p:cNvSpPr/>
          <p:nvPr/>
        </p:nvSpPr>
        <p:spPr>
          <a:xfrm>
            <a:off x="9043415"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Rectangle 192"/>
          <p:cNvSpPr/>
          <p:nvPr/>
        </p:nvSpPr>
        <p:spPr>
          <a:xfrm>
            <a:off x="9153144"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Rectangle 193"/>
          <p:cNvSpPr/>
          <p:nvPr/>
        </p:nvSpPr>
        <p:spPr>
          <a:xfrm>
            <a:off x="9262872"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Rectangle 194"/>
          <p:cNvSpPr/>
          <p:nvPr/>
        </p:nvSpPr>
        <p:spPr>
          <a:xfrm>
            <a:off x="9372600"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195"/>
          <p:cNvSpPr/>
          <p:nvPr/>
        </p:nvSpPr>
        <p:spPr>
          <a:xfrm>
            <a:off x="9482328"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Rectangle 196"/>
          <p:cNvSpPr/>
          <p:nvPr/>
        </p:nvSpPr>
        <p:spPr>
          <a:xfrm>
            <a:off x="9592055"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Rectangle 197"/>
          <p:cNvSpPr/>
          <p:nvPr/>
        </p:nvSpPr>
        <p:spPr>
          <a:xfrm>
            <a:off x="9701784"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ectangle 198"/>
          <p:cNvSpPr/>
          <p:nvPr/>
        </p:nvSpPr>
        <p:spPr>
          <a:xfrm>
            <a:off x="9811511"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99"/>
          <p:cNvSpPr/>
          <p:nvPr/>
        </p:nvSpPr>
        <p:spPr>
          <a:xfrm>
            <a:off x="9921240"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Rectangle 200"/>
          <p:cNvSpPr/>
          <p:nvPr/>
        </p:nvSpPr>
        <p:spPr>
          <a:xfrm>
            <a:off x="10030967"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Rectangle 201"/>
          <p:cNvSpPr/>
          <p:nvPr/>
        </p:nvSpPr>
        <p:spPr>
          <a:xfrm>
            <a:off x="10140696"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Rectangle 202"/>
          <p:cNvSpPr/>
          <p:nvPr/>
        </p:nvSpPr>
        <p:spPr>
          <a:xfrm>
            <a:off x="10250424"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203"/>
          <p:cNvSpPr/>
          <p:nvPr/>
        </p:nvSpPr>
        <p:spPr>
          <a:xfrm>
            <a:off x="10360151"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Rectangle 204"/>
          <p:cNvSpPr/>
          <p:nvPr/>
        </p:nvSpPr>
        <p:spPr>
          <a:xfrm>
            <a:off x="10469880"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ectangle 205"/>
          <p:cNvSpPr/>
          <p:nvPr/>
        </p:nvSpPr>
        <p:spPr>
          <a:xfrm>
            <a:off x="10579608"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ectangle 206"/>
          <p:cNvSpPr/>
          <p:nvPr/>
        </p:nvSpPr>
        <p:spPr>
          <a:xfrm>
            <a:off x="10689336"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207"/>
          <p:cNvSpPr/>
          <p:nvPr/>
        </p:nvSpPr>
        <p:spPr>
          <a:xfrm>
            <a:off x="10799063"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Rectangle 208"/>
          <p:cNvSpPr/>
          <p:nvPr/>
        </p:nvSpPr>
        <p:spPr>
          <a:xfrm>
            <a:off x="10908792"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Rectangle 209"/>
          <p:cNvSpPr/>
          <p:nvPr/>
        </p:nvSpPr>
        <p:spPr>
          <a:xfrm>
            <a:off x="11018519"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Rectangle 210"/>
          <p:cNvSpPr/>
          <p:nvPr/>
        </p:nvSpPr>
        <p:spPr>
          <a:xfrm>
            <a:off x="11128247"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Rectangle 211"/>
          <p:cNvSpPr/>
          <p:nvPr/>
        </p:nvSpPr>
        <p:spPr>
          <a:xfrm>
            <a:off x="7726679"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Rectangle 212"/>
          <p:cNvSpPr/>
          <p:nvPr/>
        </p:nvSpPr>
        <p:spPr>
          <a:xfrm>
            <a:off x="7836407"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Rectangle 213"/>
          <p:cNvSpPr/>
          <p:nvPr/>
        </p:nvSpPr>
        <p:spPr>
          <a:xfrm>
            <a:off x="7946136"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Rectangle 214"/>
          <p:cNvSpPr/>
          <p:nvPr/>
        </p:nvSpPr>
        <p:spPr>
          <a:xfrm>
            <a:off x="8055863"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Rectangle 215"/>
          <p:cNvSpPr/>
          <p:nvPr/>
        </p:nvSpPr>
        <p:spPr>
          <a:xfrm>
            <a:off x="8165592"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Rectangle 216"/>
          <p:cNvSpPr/>
          <p:nvPr/>
        </p:nvSpPr>
        <p:spPr>
          <a:xfrm>
            <a:off x="8275319"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Rectangle 217"/>
          <p:cNvSpPr/>
          <p:nvPr/>
        </p:nvSpPr>
        <p:spPr>
          <a:xfrm>
            <a:off x="8385048"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Rectangle 218"/>
          <p:cNvSpPr/>
          <p:nvPr/>
        </p:nvSpPr>
        <p:spPr>
          <a:xfrm>
            <a:off x="8494776"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Rectangle 219"/>
          <p:cNvSpPr/>
          <p:nvPr/>
        </p:nvSpPr>
        <p:spPr>
          <a:xfrm>
            <a:off x="8604504"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Rectangle 220"/>
          <p:cNvSpPr/>
          <p:nvPr/>
        </p:nvSpPr>
        <p:spPr>
          <a:xfrm>
            <a:off x="8714232"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Rectangle 221"/>
          <p:cNvSpPr/>
          <p:nvPr/>
        </p:nvSpPr>
        <p:spPr>
          <a:xfrm>
            <a:off x="8823959"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Rectangle 222"/>
          <p:cNvSpPr/>
          <p:nvPr/>
        </p:nvSpPr>
        <p:spPr>
          <a:xfrm>
            <a:off x="8933688"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Rectangle 223"/>
          <p:cNvSpPr/>
          <p:nvPr/>
        </p:nvSpPr>
        <p:spPr>
          <a:xfrm>
            <a:off x="9043415"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Rectangle 224"/>
          <p:cNvSpPr/>
          <p:nvPr/>
        </p:nvSpPr>
        <p:spPr>
          <a:xfrm>
            <a:off x="9153144"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Rectangle 225"/>
          <p:cNvSpPr/>
          <p:nvPr/>
        </p:nvSpPr>
        <p:spPr>
          <a:xfrm>
            <a:off x="9262872"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Rectangle 226"/>
          <p:cNvSpPr/>
          <p:nvPr/>
        </p:nvSpPr>
        <p:spPr>
          <a:xfrm>
            <a:off x="9372600"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Rectangle 227"/>
          <p:cNvSpPr/>
          <p:nvPr/>
        </p:nvSpPr>
        <p:spPr>
          <a:xfrm>
            <a:off x="9482328"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Rectangle 228"/>
          <p:cNvSpPr/>
          <p:nvPr/>
        </p:nvSpPr>
        <p:spPr>
          <a:xfrm>
            <a:off x="9592055"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Rectangle 229"/>
          <p:cNvSpPr/>
          <p:nvPr/>
        </p:nvSpPr>
        <p:spPr>
          <a:xfrm>
            <a:off x="9701784"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Rectangle 230"/>
          <p:cNvSpPr/>
          <p:nvPr/>
        </p:nvSpPr>
        <p:spPr>
          <a:xfrm>
            <a:off x="9811511"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Rectangle 231"/>
          <p:cNvSpPr/>
          <p:nvPr/>
        </p:nvSpPr>
        <p:spPr>
          <a:xfrm>
            <a:off x="9921240"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Rectangle 232"/>
          <p:cNvSpPr/>
          <p:nvPr/>
        </p:nvSpPr>
        <p:spPr>
          <a:xfrm>
            <a:off x="10030967"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Rectangle 233"/>
          <p:cNvSpPr/>
          <p:nvPr/>
        </p:nvSpPr>
        <p:spPr>
          <a:xfrm>
            <a:off x="10140696"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Rectangle 234"/>
          <p:cNvSpPr/>
          <p:nvPr/>
        </p:nvSpPr>
        <p:spPr>
          <a:xfrm>
            <a:off x="10250424"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Rectangle 235"/>
          <p:cNvSpPr/>
          <p:nvPr/>
        </p:nvSpPr>
        <p:spPr>
          <a:xfrm>
            <a:off x="10360151"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Rectangle 236"/>
          <p:cNvSpPr/>
          <p:nvPr/>
        </p:nvSpPr>
        <p:spPr>
          <a:xfrm>
            <a:off x="10469880"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Rectangle 237"/>
          <p:cNvSpPr/>
          <p:nvPr/>
        </p:nvSpPr>
        <p:spPr>
          <a:xfrm>
            <a:off x="10579608"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Rectangle 238"/>
          <p:cNvSpPr/>
          <p:nvPr/>
        </p:nvSpPr>
        <p:spPr>
          <a:xfrm>
            <a:off x="10689336"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Rectangle 239"/>
          <p:cNvSpPr/>
          <p:nvPr/>
        </p:nvSpPr>
        <p:spPr>
          <a:xfrm>
            <a:off x="10799063"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Rectangle 240"/>
          <p:cNvSpPr/>
          <p:nvPr/>
        </p:nvSpPr>
        <p:spPr>
          <a:xfrm>
            <a:off x="10908792"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Rectangle 241"/>
          <p:cNvSpPr/>
          <p:nvPr/>
        </p:nvSpPr>
        <p:spPr>
          <a:xfrm>
            <a:off x="11018519"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Rectangle 242"/>
          <p:cNvSpPr/>
          <p:nvPr/>
        </p:nvSpPr>
        <p:spPr>
          <a:xfrm>
            <a:off x="11128247"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Rectangle 243"/>
          <p:cNvSpPr/>
          <p:nvPr/>
        </p:nvSpPr>
        <p:spPr>
          <a:xfrm>
            <a:off x="7726679"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Rectangle 244"/>
          <p:cNvSpPr/>
          <p:nvPr/>
        </p:nvSpPr>
        <p:spPr>
          <a:xfrm>
            <a:off x="7836407"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Rectangle 245"/>
          <p:cNvSpPr/>
          <p:nvPr/>
        </p:nvSpPr>
        <p:spPr>
          <a:xfrm>
            <a:off x="7946136"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Rectangle 246"/>
          <p:cNvSpPr/>
          <p:nvPr/>
        </p:nvSpPr>
        <p:spPr>
          <a:xfrm>
            <a:off x="8055863"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Rectangle 247"/>
          <p:cNvSpPr/>
          <p:nvPr/>
        </p:nvSpPr>
        <p:spPr>
          <a:xfrm>
            <a:off x="8165592"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angle 248"/>
          <p:cNvSpPr/>
          <p:nvPr/>
        </p:nvSpPr>
        <p:spPr>
          <a:xfrm>
            <a:off x="8275319"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Rectangle 249"/>
          <p:cNvSpPr/>
          <p:nvPr/>
        </p:nvSpPr>
        <p:spPr>
          <a:xfrm>
            <a:off x="8385048"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Rectangle 250"/>
          <p:cNvSpPr/>
          <p:nvPr/>
        </p:nvSpPr>
        <p:spPr>
          <a:xfrm>
            <a:off x="8494776"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Rectangle 251"/>
          <p:cNvSpPr/>
          <p:nvPr/>
        </p:nvSpPr>
        <p:spPr>
          <a:xfrm>
            <a:off x="8604504"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Rectangle 252"/>
          <p:cNvSpPr/>
          <p:nvPr/>
        </p:nvSpPr>
        <p:spPr>
          <a:xfrm>
            <a:off x="8714232"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Rectangle 253"/>
          <p:cNvSpPr/>
          <p:nvPr/>
        </p:nvSpPr>
        <p:spPr>
          <a:xfrm>
            <a:off x="8823959"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Rectangle 254"/>
          <p:cNvSpPr/>
          <p:nvPr/>
        </p:nvSpPr>
        <p:spPr>
          <a:xfrm>
            <a:off x="8933688"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Rectangle 255"/>
          <p:cNvSpPr/>
          <p:nvPr/>
        </p:nvSpPr>
        <p:spPr>
          <a:xfrm>
            <a:off x="9043415"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Rectangle 256"/>
          <p:cNvSpPr/>
          <p:nvPr/>
        </p:nvSpPr>
        <p:spPr>
          <a:xfrm>
            <a:off x="9153144"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Rectangle 257"/>
          <p:cNvSpPr/>
          <p:nvPr/>
        </p:nvSpPr>
        <p:spPr>
          <a:xfrm>
            <a:off x="9262872"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Rectangle 258"/>
          <p:cNvSpPr/>
          <p:nvPr/>
        </p:nvSpPr>
        <p:spPr>
          <a:xfrm>
            <a:off x="9372600"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Rectangle 259"/>
          <p:cNvSpPr/>
          <p:nvPr/>
        </p:nvSpPr>
        <p:spPr>
          <a:xfrm>
            <a:off x="9482328"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Rectangle 260"/>
          <p:cNvSpPr/>
          <p:nvPr/>
        </p:nvSpPr>
        <p:spPr>
          <a:xfrm>
            <a:off x="9592055"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Rectangle 261"/>
          <p:cNvSpPr/>
          <p:nvPr/>
        </p:nvSpPr>
        <p:spPr>
          <a:xfrm>
            <a:off x="9701784"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262"/>
          <p:cNvSpPr/>
          <p:nvPr/>
        </p:nvSpPr>
        <p:spPr>
          <a:xfrm>
            <a:off x="9811511"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263"/>
          <p:cNvSpPr/>
          <p:nvPr/>
        </p:nvSpPr>
        <p:spPr>
          <a:xfrm>
            <a:off x="9921240"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264"/>
          <p:cNvSpPr/>
          <p:nvPr/>
        </p:nvSpPr>
        <p:spPr>
          <a:xfrm>
            <a:off x="10030967"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Rectangle 265"/>
          <p:cNvSpPr/>
          <p:nvPr/>
        </p:nvSpPr>
        <p:spPr>
          <a:xfrm>
            <a:off x="10140696"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266"/>
          <p:cNvSpPr/>
          <p:nvPr/>
        </p:nvSpPr>
        <p:spPr>
          <a:xfrm>
            <a:off x="10250424"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267"/>
          <p:cNvSpPr/>
          <p:nvPr/>
        </p:nvSpPr>
        <p:spPr>
          <a:xfrm>
            <a:off x="10360151"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268"/>
          <p:cNvSpPr/>
          <p:nvPr/>
        </p:nvSpPr>
        <p:spPr>
          <a:xfrm>
            <a:off x="10469880"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Rectangle 269"/>
          <p:cNvSpPr/>
          <p:nvPr/>
        </p:nvSpPr>
        <p:spPr>
          <a:xfrm>
            <a:off x="10579608"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270"/>
          <p:cNvSpPr/>
          <p:nvPr/>
        </p:nvSpPr>
        <p:spPr>
          <a:xfrm>
            <a:off x="10689336"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271"/>
          <p:cNvSpPr/>
          <p:nvPr/>
        </p:nvSpPr>
        <p:spPr>
          <a:xfrm>
            <a:off x="10799063"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272"/>
          <p:cNvSpPr/>
          <p:nvPr/>
        </p:nvSpPr>
        <p:spPr>
          <a:xfrm>
            <a:off x="10908792"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angle 273"/>
          <p:cNvSpPr/>
          <p:nvPr/>
        </p:nvSpPr>
        <p:spPr>
          <a:xfrm>
            <a:off x="11018519"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274"/>
          <p:cNvSpPr/>
          <p:nvPr/>
        </p:nvSpPr>
        <p:spPr>
          <a:xfrm>
            <a:off x="11128247"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75"/>
          <p:cNvSpPr txBox="1"/>
          <p:nvPr/>
        </p:nvSpPr>
        <p:spPr>
          <a:xfrm>
            <a:off x="7726679" y="4507992"/>
            <a:ext cx="3657600" cy="201168"/>
          </a:xfrm>
          <a:prstGeom prst="rect">
            <a:avLst/>
          </a:prstGeom>
          <a:noFill/>
        </p:spPr>
        <p:txBody>
          <a:bodyPr wrap="square" lIns="13716" tIns="0" rIns="13716" bIns="0">
            <a:spAutoFit/>
          </a:bodyPr>
          <a:lstStyle/>
          <a:p>
            <a:pPr>
              <a:spcAft>
                <a:spcPts val="500"/>
              </a:spcAft>
              <a:defRPr sz="1000" b="1">
                <a:solidFill>
                  <a:srgbClr val="A8B7CF"/>
                </a:solidFill>
                <a:latin typeface="Aptos"/>
              </a:defRPr>
            </a:pPr>
            <a:r>
              <a:t>INT8 / INT16  ·  MICROCODE CONTROL</a:t>
            </a:r>
          </a:p>
        </p:txBody>
      </p:sp>
      <p:sp>
        <p:nvSpPr>
          <p:cNvPr id="277" name="TextBox 276"/>
          <p:cNvSpPr txBox="1"/>
          <p:nvPr/>
        </p:nvSpPr>
        <p:spPr>
          <a:xfrm>
            <a:off x="621792" y="5605272"/>
            <a:ext cx="9144000" cy="215444"/>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rPr lang="en-US" dirty="0"/>
              <a:t>• </a:t>
            </a:r>
            <a:r>
              <a:rPr dirty="0"/>
              <a:t>RTL architecture • memory hierarchy • FPGA integration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943B1C86-8026-7924-8B05-0575C7B3C85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772CF2D1-78E6-6AE9-4217-92CBF3F5F899}"/>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lang="en-US" dirty="0">
                <a:solidFill>
                  <a:schemeClr val="bg1">
                    <a:lumMod val="95000"/>
                  </a:schemeClr>
                </a:solidFill>
              </a:rPr>
              <a:t>COMPILER + RUNTIME: </a:t>
            </a:r>
            <a:r>
              <a:rPr dirty="0">
                <a:solidFill>
                  <a:schemeClr val="bg1">
                    <a:lumMod val="95000"/>
                  </a:schemeClr>
                </a:solidFill>
              </a:rPr>
              <a:t>The software makes the hardware reusable</a:t>
            </a:r>
          </a:p>
        </p:txBody>
      </p:sp>
      <p:sp>
        <p:nvSpPr>
          <p:cNvPr id="49" name="TextBox 48">
            <a:extLst>
              <a:ext uri="{FF2B5EF4-FFF2-40B4-BE49-F238E27FC236}">
                <a16:creationId xmlns:a16="http://schemas.microsoft.com/office/drawing/2014/main" id="{09F41BEB-2F73-A87E-5301-179D41018E72}"/>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lumMod val="95000"/>
                  </a:schemeClr>
                </a:solidFill>
              </a:rPr>
              <a:t>Compilation generates the data and instruction stream for each model; deployment launches the same engine.</a:t>
            </a:r>
          </a:p>
        </p:txBody>
      </p:sp>
      <p:sp>
        <p:nvSpPr>
          <p:cNvPr id="51" name="Rectangle 50">
            <a:extLst>
              <a:ext uri="{FF2B5EF4-FFF2-40B4-BE49-F238E27FC236}">
                <a16:creationId xmlns:a16="http://schemas.microsoft.com/office/drawing/2014/main" id="{8079B3CD-32E3-F124-C2B7-8665130E0987}"/>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E9C91C7F-3466-CE57-6B68-B293BF7D5C72}"/>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2</a:t>
            </a:r>
            <a:r>
              <a:rPr dirty="0">
                <a:solidFill>
                  <a:srgbClr val="35DFC3"/>
                </a:solidFill>
              </a:rPr>
              <a:t> / 1</a:t>
            </a:r>
            <a:r>
              <a:rPr lang="en-US" dirty="0">
                <a:solidFill>
                  <a:srgbClr val="35DFC3"/>
                </a:solidFill>
              </a:rPr>
              <a:t>1</a:t>
            </a:r>
            <a:endParaRPr dirty="0">
              <a:solidFill>
                <a:srgbClr val="35DFC3"/>
              </a:solidFill>
            </a:endParaRPr>
          </a:p>
        </p:txBody>
      </p:sp>
      <p:sp>
        <p:nvSpPr>
          <p:cNvPr id="57" name="Rounded Rectangle 8">
            <a:extLst>
              <a:ext uri="{FF2B5EF4-FFF2-40B4-BE49-F238E27FC236}">
                <a16:creationId xmlns:a16="http://schemas.microsoft.com/office/drawing/2014/main" id="{362335AF-62DA-1A9A-173F-109A7254B27B}"/>
              </a:ext>
            </a:extLst>
          </p:cNvPr>
          <p:cNvSpPr/>
          <p:nvPr/>
        </p:nvSpPr>
        <p:spPr>
          <a:xfrm>
            <a:off x="502920"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a:extLst>
              <a:ext uri="{FF2B5EF4-FFF2-40B4-BE49-F238E27FC236}">
                <a16:creationId xmlns:a16="http://schemas.microsoft.com/office/drawing/2014/main" id="{1D14908A-ADEE-8223-AD99-EA272294D571}"/>
              </a:ext>
            </a:extLst>
          </p:cNvPr>
          <p:cNvSpPr/>
          <p:nvPr/>
        </p:nvSpPr>
        <p:spPr>
          <a:xfrm>
            <a:off x="502920" y="2148840"/>
            <a:ext cx="41148" cy="2011680"/>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C56D64FA-5AC7-188B-BFC0-F153FE8CC13B}"/>
              </a:ext>
            </a:extLst>
          </p:cNvPr>
          <p:cNvSpPr txBox="1"/>
          <p:nvPr/>
        </p:nvSpPr>
        <p:spPr>
          <a:xfrm>
            <a:off x="685800"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Import</a:t>
            </a:r>
          </a:p>
        </p:txBody>
      </p:sp>
      <p:sp>
        <p:nvSpPr>
          <p:cNvPr id="63" name="TextBox 62">
            <a:extLst>
              <a:ext uri="{FF2B5EF4-FFF2-40B4-BE49-F238E27FC236}">
                <a16:creationId xmlns:a16="http://schemas.microsoft.com/office/drawing/2014/main" id="{7BAB58BF-A011-2D62-2A19-44FFC83A53C6}"/>
              </a:ext>
            </a:extLst>
          </p:cNvPr>
          <p:cNvSpPr txBox="1"/>
          <p:nvPr/>
        </p:nvSpPr>
        <p:spPr>
          <a:xfrm>
            <a:off x="685800"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Load PyTorch parameters</a:t>
            </a:r>
          </a:p>
          <a:p>
            <a:pPr>
              <a:spcAft>
                <a:spcPts val="500"/>
              </a:spcAft>
              <a:defRPr sz="1500" b="0">
                <a:solidFill>
                  <a:srgbClr val="586980"/>
                </a:solidFill>
                <a:latin typeface="Aptos"/>
              </a:defRPr>
            </a:pPr>
            <a:r>
              <a:t>and model structure</a:t>
            </a:r>
          </a:p>
        </p:txBody>
      </p:sp>
      <p:sp>
        <p:nvSpPr>
          <p:cNvPr id="65" name="Rounded Rectangle 12">
            <a:extLst>
              <a:ext uri="{FF2B5EF4-FFF2-40B4-BE49-F238E27FC236}">
                <a16:creationId xmlns:a16="http://schemas.microsoft.com/office/drawing/2014/main" id="{6847C5A4-876F-5CE5-E941-2691F85BC981}"/>
              </a:ext>
            </a:extLst>
          </p:cNvPr>
          <p:cNvSpPr/>
          <p:nvPr/>
        </p:nvSpPr>
        <p:spPr>
          <a:xfrm>
            <a:off x="685800"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B4A72800-0B3F-43DB-C20F-6AFA9305B45F}"/>
              </a:ext>
            </a:extLst>
          </p:cNvPr>
          <p:cNvSpPr txBox="1"/>
          <p:nvPr/>
        </p:nvSpPr>
        <p:spPr>
          <a:xfrm>
            <a:off x="777240" y="3813048"/>
            <a:ext cx="228600" cy="201168"/>
          </a:xfrm>
          <a:prstGeom prst="rect">
            <a:avLst/>
          </a:prstGeom>
          <a:noFill/>
        </p:spPr>
        <p:txBody>
          <a:bodyPr wrap="square" lIns="13716" tIns="0" rIns="13716" bIns="0">
            <a:spAutoFit/>
          </a:bodyPr>
          <a:lstStyle/>
          <a:p>
            <a:pPr>
              <a:spcAft>
                <a:spcPts val="500"/>
              </a:spcAft>
              <a:defRPr sz="1000" b="1">
                <a:solidFill>
                  <a:srgbClr val="6BA6FF"/>
                </a:solidFill>
                <a:latin typeface="Aptos"/>
              </a:defRPr>
            </a:pPr>
            <a:r>
              <a:t>01</a:t>
            </a:r>
          </a:p>
        </p:txBody>
      </p:sp>
      <p:sp>
        <p:nvSpPr>
          <p:cNvPr id="69" name="Rounded Rectangle 14">
            <a:extLst>
              <a:ext uri="{FF2B5EF4-FFF2-40B4-BE49-F238E27FC236}">
                <a16:creationId xmlns:a16="http://schemas.microsoft.com/office/drawing/2014/main" id="{E9C1AF0B-2D9B-FFD9-3027-43B6C75FAF02}"/>
              </a:ext>
            </a:extLst>
          </p:cNvPr>
          <p:cNvSpPr/>
          <p:nvPr/>
        </p:nvSpPr>
        <p:spPr>
          <a:xfrm>
            <a:off x="3364991"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a:extLst>
              <a:ext uri="{FF2B5EF4-FFF2-40B4-BE49-F238E27FC236}">
                <a16:creationId xmlns:a16="http://schemas.microsoft.com/office/drawing/2014/main" id="{5022C6E1-358D-9FF3-F225-C17580C87343}"/>
              </a:ext>
            </a:extLst>
          </p:cNvPr>
          <p:cNvSpPr/>
          <p:nvPr/>
        </p:nvSpPr>
        <p:spPr>
          <a:xfrm>
            <a:off x="3364991" y="2148840"/>
            <a:ext cx="41148" cy="2011680"/>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8DFDA7ED-3AF1-A919-B84C-639464F13DC8}"/>
              </a:ext>
            </a:extLst>
          </p:cNvPr>
          <p:cNvSpPr txBox="1"/>
          <p:nvPr/>
        </p:nvSpPr>
        <p:spPr>
          <a:xfrm>
            <a:off x="3547872"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t>Transform</a:t>
            </a:r>
          </a:p>
        </p:txBody>
      </p:sp>
      <p:sp>
        <p:nvSpPr>
          <p:cNvPr id="75" name="TextBox 74">
            <a:extLst>
              <a:ext uri="{FF2B5EF4-FFF2-40B4-BE49-F238E27FC236}">
                <a16:creationId xmlns:a16="http://schemas.microsoft.com/office/drawing/2014/main" id="{83090A2C-DE42-379E-BF9C-24A5A870C100}"/>
              </a:ext>
            </a:extLst>
          </p:cNvPr>
          <p:cNvSpPr txBox="1"/>
          <p:nvPr/>
        </p:nvSpPr>
        <p:spPr>
          <a:xfrm>
            <a:off x="3547872"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Fold BatchNorm; quantize</a:t>
            </a:r>
          </a:p>
          <a:p>
            <a:pPr>
              <a:spcAft>
                <a:spcPts val="500"/>
              </a:spcAft>
              <a:defRPr sz="1500" b="0">
                <a:solidFill>
                  <a:srgbClr val="586980"/>
                </a:solidFill>
                <a:latin typeface="Aptos"/>
              </a:defRPr>
            </a:pPr>
            <a:r>
              <a:t>weights and activations</a:t>
            </a:r>
          </a:p>
        </p:txBody>
      </p:sp>
      <p:sp>
        <p:nvSpPr>
          <p:cNvPr id="77" name="Rounded Rectangle 18">
            <a:extLst>
              <a:ext uri="{FF2B5EF4-FFF2-40B4-BE49-F238E27FC236}">
                <a16:creationId xmlns:a16="http://schemas.microsoft.com/office/drawing/2014/main" id="{7464843F-ACCE-7FEE-EAE3-2B38C7FBAE7B}"/>
              </a:ext>
            </a:extLst>
          </p:cNvPr>
          <p:cNvSpPr/>
          <p:nvPr/>
        </p:nvSpPr>
        <p:spPr>
          <a:xfrm>
            <a:off x="3547872"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0715E933-8B47-4292-5CD9-FDC5B6830445}"/>
              </a:ext>
            </a:extLst>
          </p:cNvPr>
          <p:cNvSpPr txBox="1"/>
          <p:nvPr/>
        </p:nvSpPr>
        <p:spPr>
          <a:xfrm>
            <a:off x="3639312" y="3813048"/>
            <a:ext cx="228600" cy="20116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02</a:t>
            </a:r>
          </a:p>
        </p:txBody>
      </p:sp>
      <p:sp>
        <p:nvSpPr>
          <p:cNvPr id="81" name="Rounded Rectangle 20">
            <a:extLst>
              <a:ext uri="{FF2B5EF4-FFF2-40B4-BE49-F238E27FC236}">
                <a16:creationId xmlns:a16="http://schemas.microsoft.com/office/drawing/2014/main" id="{150BB3A7-4A3F-1428-E81F-B77AEE645158}"/>
              </a:ext>
            </a:extLst>
          </p:cNvPr>
          <p:cNvSpPr/>
          <p:nvPr/>
        </p:nvSpPr>
        <p:spPr>
          <a:xfrm>
            <a:off x="6227064"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a:extLst>
              <a:ext uri="{FF2B5EF4-FFF2-40B4-BE49-F238E27FC236}">
                <a16:creationId xmlns:a16="http://schemas.microsoft.com/office/drawing/2014/main" id="{267FE888-9B05-4357-953C-CFE6F807FCC2}"/>
              </a:ext>
            </a:extLst>
          </p:cNvPr>
          <p:cNvSpPr/>
          <p:nvPr/>
        </p:nvSpPr>
        <p:spPr>
          <a:xfrm>
            <a:off x="6227064" y="2148840"/>
            <a:ext cx="41148" cy="2011680"/>
          </a:xfrm>
          <a:prstGeom prst="rect">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61464007-FFE1-A0A4-49D0-220443C676C2}"/>
              </a:ext>
            </a:extLst>
          </p:cNvPr>
          <p:cNvSpPr txBox="1"/>
          <p:nvPr/>
        </p:nvSpPr>
        <p:spPr>
          <a:xfrm>
            <a:off x="6409944"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Schedule</a:t>
            </a:r>
          </a:p>
        </p:txBody>
      </p:sp>
      <p:sp>
        <p:nvSpPr>
          <p:cNvPr id="87" name="TextBox 86">
            <a:extLst>
              <a:ext uri="{FF2B5EF4-FFF2-40B4-BE49-F238E27FC236}">
                <a16:creationId xmlns:a16="http://schemas.microsoft.com/office/drawing/2014/main" id="{8DB28A20-B66C-3590-189D-B066164F4AC0}"/>
              </a:ext>
            </a:extLst>
          </p:cNvPr>
          <p:cNvSpPr txBox="1"/>
          <p:nvPr/>
        </p:nvSpPr>
        <p:spPr>
          <a:xfrm>
            <a:off x="6409944"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Tile tensors; assign SRAM</a:t>
            </a:r>
          </a:p>
          <a:p>
            <a:pPr>
              <a:spcAft>
                <a:spcPts val="500"/>
              </a:spcAft>
              <a:defRPr sz="1500" b="0">
                <a:solidFill>
                  <a:srgbClr val="586980"/>
                </a:solidFill>
                <a:latin typeface="Aptos"/>
              </a:defRPr>
            </a:pPr>
            <a:r>
              <a:t>rows and layer controls</a:t>
            </a:r>
          </a:p>
        </p:txBody>
      </p:sp>
      <p:sp>
        <p:nvSpPr>
          <p:cNvPr id="89" name="Rounded Rectangle 24">
            <a:extLst>
              <a:ext uri="{FF2B5EF4-FFF2-40B4-BE49-F238E27FC236}">
                <a16:creationId xmlns:a16="http://schemas.microsoft.com/office/drawing/2014/main" id="{CF75D5EE-02B4-8A55-2259-A7CA23CE75EF}"/>
              </a:ext>
            </a:extLst>
          </p:cNvPr>
          <p:cNvSpPr/>
          <p:nvPr/>
        </p:nvSpPr>
        <p:spPr>
          <a:xfrm>
            <a:off x="6409944"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extLst>
              <a:ext uri="{FF2B5EF4-FFF2-40B4-BE49-F238E27FC236}">
                <a16:creationId xmlns:a16="http://schemas.microsoft.com/office/drawing/2014/main" id="{4341F1A0-01B0-6458-1D63-5CFECF2E9D6F}"/>
              </a:ext>
            </a:extLst>
          </p:cNvPr>
          <p:cNvSpPr txBox="1"/>
          <p:nvPr/>
        </p:nvSpPr>
        <p:spPr>
          <a:xfrm>
            <a:off x="6501383" y="3813048"/>
            <a:ext cx="228600" cy="201168"/>
          </a:xfrm>
          <a:prstGeom prst="rect">
            <a:avLst/>
          </a:prstGeom>
          <a:noFill/>
        </p:spPr>
        <p:txBody>
          <a:bodyPr wrap="square" lIns="13716" tIns="0" rIns="13716" bIns="0">
            <a:spAutoFit/>
          </a:bodyPr>
          <a:lstStyle/>
          <a:p>
            <a:pPr>
              <a:spcAft>
                <a:spcPts val="500"/>
              </a:spcAft>
              <a:defRPr sz="1000" b="1">
                <a:solidFill>
                  <a:srgbClr val="A69AFF"/>
                </a:solidFill>
                <a:latin typeface="Aptos"/>
              </a:defRPr>
            </a:pPr>
            <a:r>
              <a:t>03</a:t>
            </a:r>
          </a:p>
        </p:txBody>
      </p:sp>
      <p:sp>
        <p:nvSpPr>
          <p:cNvPr id="93" name="Rounded Rectangle 26">
            <a:extLst>
              <a:ext uri="{FF2B5EF4-FFF2-40B4-BE49-F238E27FC236}">
                <a16:creationId xmlns:a16="http://schemas.microsoft.com/office/drawing/2014/main" id="{8F4FBF0D-2DE4-E07A-860F-07BC89BE9038}"/>
              </a:ext>
            </a:extLst>
          </p:cNvPr>
          <p:cNvSpPr/>
          <p:nvPr/>
        </p:nvSpPr>
        <p:spPr>
          <a:xfrm>
            <a:off x="9089136"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a:extLst>
              <a:ext uri="{FF2B5EF4-FFF2-40B4-BE49-F238E27FC236}">
                <a16:creationId xmlns:a16="http://schemas.microsoft.com/office/drawing/2014/main" id="{C8C6A709-A637-633A-4C88-1DA5E8116823}"/>
              </a:ext>
            </a:extLst>
          </p:cNvPr>
          <p:cNvSpPr/>
          <p:nvPr/>
        </p:nvSpPr>
        <p:spPr>
          <a:xfrm>
            <a:off x="9089136" y="2148840"/>
            <a:ext cx="41148" cy="2011680"/>
          </a:xfrm>
          <a:prstGeom prst="rect">
            <a:avLst/>
          </a:prstGeom>
          <a:solidFill>
            <a:srgbClr val="FFC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4B935104-F599-AE2D-01E9-B61BE8A20FCE}"/>
              </a:ext>
            </a:extLst>
          </p:cNvPr>
          <p:cNvSpPr txBox="1"/>
          <p:nvPr/>
        </p:nvSpPr>
        <p:spPr>
          <a:xfrm>
            <a:off x="9272016"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Emit</a:t>
            </a:r>
          </a:p>
        </p:txBody>
      </p:sp>
      <p:sp>
        <p:nvSpPr>
          <p:cNvPr id="99" name="TextBox 98">
            <a:extLst>
              <a:ext uri="{FF2B5EF4-FFF2-40B4-BE49-F238E27FC236}">
                <a16:creationId xmlns:a16="http://schemas.microsoft.com/office/drawing/2014/main" id="{6DD4AF79-15FC-9245-6162-B00EAE6A88DB}"/>
              </a:ext>
            </a:extLst>
          </p:cNvPr>
          <p:cNvSpPr txBox="1"/>
          <p:nvPr/>
        </p:nvSpPr>
        <p:spPr>
          <a:xfrm>
            <a:off x="9272016"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Weights, 128-bit microcode,</a:t>
            </a:r>
          </a:p>
          <a:p>
            <a:pPr>
              <a:spcAft>
                <a:spcPts val="500"/>
              </a:spcAft>
              <a:defRPr sz="1500" b="0">
                <a:solidFill>
                  <a:srgbClr val="586980"/>
                </a:solidFill>
                <a:latin typeface="Aptos"/>
              </a:defRPr>
            </a:pPr>
            <a:r>
              <a:t>stimulus and metadata</a:t>
            </a:r>
          </a:p>
        </p:txBody>
      </p:sp>
      <p:sp>
        <p:nvSpPr>
          <p:cNvPr id="101" name="Rounded Rectangle 30">
            <a:extLst>
              <a:ext uri="{FF2B5EF4-FFF2-40B4-BE49-F238E27FC236}">
                <a16:creationId xmlns:a16="http://schemas.microsoft.com/office/drawing/2014/main" id="{5268883C-6490-80D5-854D-2C955AC3A381}"/>
              </a:ext>
            </a:extLst>
          </p:cNvPr>
          <p:cNvSpPr/>
          <p:nvPr/>
        </p:nvSpPr>
        <p:spPr>
          <a:xfrm>
            <a:off x="9272016"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a:extLst>
              <a:ext uri="{FF2B5EF4-FFF2-40B4-BE49-F238E27FC236}">
                <a16:creationId xmlns:a16="http://schemas.microsoft.com/office/drawing/2014/main" id="{ADF8953D-0354-64E6-8DE2-286A117185EB}"/>
              </a:ext>
            </a:extLst>
          </p:cNvPr>
          <p:cNvSpPr txBox="1"/>
          <p:nvPr/>
        </p:nvSpPr>
        <p:spPr>
          <a:xfrm>
            <a:off x="9363456" y="3813048"/>
            <a:ext cx="228600" cy="201168"/>
          </a:xfrm>
          <a:prstGeom prst="rect">
            <a:avLst/>
          </a:prstGeom>
          <a:noFill/>
        </p:spPr>
        <p:txBody>
          <a:bodyPr wrap="square" lIns="13716" tIns="0" rIns="13716" bIns="0">
            <a:spAutoFit/>
          </a:bodyPr>
          <a:lstStyle/>
          <a:p>
            <a:pPr>
              <a:spcAft>
                <a:spcPts val="500"/>
              </a:spcAft>
              <a:defRPr sz="1000" b="1">
                <a:solidFill>
                  <a:srgbClr val="FFC66D"/>
                </a:solidFill>
                <a:latin typeface="Aptos"/>
              </a:defRPr>
            </a:pPr>
            <a:r>
              <a:t>04</a:t>
            </a:r>
          </a:p>
        </p:txBody>
      </p:sp>
      <p:sp>
        <p:nvSpPr>
          <p:cNvPr id="105" name="Rounded Rectangle 32">
            <a:extLst>
              <a:ext uri="{FF2B5EF4-FFF2-40B4-BE49-F238E27FC236}">
                <a16:creationId xmlns:a16="http://schemas.microsoft.com/office/drawing/2014/main" id="{1598AEE2-A8DC-CFB6-A6FB-34D070061391}"/>
              </a:ext>
            </a:extLst>
          </p:cNvPr>
          <p:cNvSpPr/>
          <p:nvPr/>
        </p:nvSpPr>
        <p:spPr>
          <a:xfrm>
            <a:off x="502920" y="4517136"/>
            <a:ext cx="11173968" cy="914400"/>
          </a:xfrm>
          <a:prstGeom prst="roundRect">
            <a:avLst>
              <a:gd name="adj" fmla="val 12000"/>
            </a:avLst>
          </a:prstGeom>
          <a:solidFill>
            <a:srgbClr val="0B1224"/>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extLst>
              <a:ext uri="{FF2B5EF4-FFF2-40B4-BE49-F238E27FC236}">
                <a16:creationId xmlns:a16="http://schemas.microsoft.com/office/drawing/2014/main" id="{EF8E5AFA-45BC-FA05-E8B8-5AA6A8FF55C4}"/>
              </a:ext>
            </a:extLst>
          </p:cNvPr>
          <p:cNvSpPr txBox="1"/>
          <p:nvPr/>
        </p:nvSpPr>
        <p:spPr>
          <a:xfrm>
            <a:off x="731520" y="4667631"/>
            <a:ext cx="2743200" cy="584775"/>
          </a:xfrm>
          <a:prstGeom prst="rect">
            <a:avLst/>
          </a:prstGeom>
          <a:noFill/>
        </p:spPr>
        <p:txBody>
          <a:bodyPr wrap="square" lIns="13716" tIns="0" rIns="13716" bIns="0">
            <a:spAutoFit/>
          </a:bodyPr>
          <a:lstStyle/>
          <a:p>
            <a:pPr>
              <a:spcAft>
                <a:spcPts val="500"/>
              </a:spcAft>
              <a:defRPr sz="1900" b="1">
                <a:solidFill>
                  <a:srgbClr val="FFFFFF"/>
                </a:solidFill>
                <a:latin typeface="Aptos"/>
              </a:defRPr>
            </a:pPr>
            <a:r>
              <a:rPr dirty="0"/>
              <a:t>JTAG / XSDB preload</a:t>
            </a:r>
            <a:br>
              <a:rPr lang="en-US" dirty="0"/>
            </a:br>
            <a:r>
              <a:rPr lang="en-US" dirty="0"/>
              <a:t>weights in DDR</a:t>
            </a:r>
            <a:endParaRPr dirty="0"/>
          </a:p>
        </p:txBody>
      </p:sp>
      <p:sp>
        <p:nvSpPr>
          <p:cNvPr id="109" name="Right Arrow 34">
            <a:extLst>
              <a:ext uri="{FF2B5EF4-FFF2-40B4-BE49-F238E27FC236}">
                <a16:creationId xmlns:a16="http://schemas.microsoft.com/office/drawing/2014/main" id="{0394F40A-88D7-2067-37F3-B4F70EC873A1}"/>
              </a:ext>
            </a:extLst>
          </p:cNvPr>
          <p:cNvSpPr/>
          <p:nvPr/>
        </p:nvSpPr>
        <p:spPr>
          <a:xfrm>
            <a:off x="3502152" y="4928616"/>
            <a:ext cx="50292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a:extLst>
              <a:ext uri="{FF2B5EF4-FFF2-40B4-BE49-F238E27FC236}">
                <a16:creationId xmlns:a16="http://schemas.microsoft.com/office/drawing/2014/main" id="{FB7B3FA3-561E-B663-4A46-D6521F5886E0}"/>
              </a:ext>
            </a:extLst>
          </p:cNvPr>
          <p:cNvSpPr txBox="1"/>
          <p:nvPr/>
        </p:nvSpPr>
        <p:spPr>
          <a:xfrm>
            <a:off x="4206240" y="4791456"/>
            <a:ext cx="3200400" cy="365760"/>
          </a:xfrm>
          <a:prstGeom prst="rect">
            <a:avLst/>
          </a:prstGeom>
          <a:noFill/>
        </p:spPr>
        <p:txBody>
          <a:bodyPr wrap="square" lIns="13716" tIns="0" rIns="13716" bIns="0">
            <a:spAutoFit/>
          </a:bodyPr>
          <a:lstStyle/>
          <a:p>
            <a:pPr>
              <a:spcAft>
                <a:spcPts val="500"/>
              </a:spcAft>
              <a:defRPr sz="1900" b="1">
                <a:solidFill>
                  <a:srgbClr val="FFFFFF"/>
                </a:solidFill>
                <a:latin typeface="Aptos"/>
              </a:defRPr>
            </a:pPr>
            <a:r>
              <a:rPr dirty="0"/>
              <a:t>ARM + AXI-Lite launch</a:t>
            </a:r>
          </a:p>
        </p:txBody>
      </p:sp>
      <p:sp>
        <p:nvSpPr>
          <p:cNvPr id="113" name="Right Arrow 36">
            <a:extLst>
              <a:ext uri="{FF2B5EF4-FFF2-40B4-BE49-F238E27FC236}">
                <a16:creationId xmlns:a16="http://schemas.microsoft.com/office/drawing/2014/main" id="{4987C6E3-F77C-1ACF-1CCA-9F9837E6B82A}"/>
              </a:ext>
            </a:extLst>
          </p:cNvPr>
          <p:cNvSpPr/>
          <p:nvPr/>
        </p:nvSpPr>
        <p:spPr>
          <a:xfrm>
            <a:off x="7498079" y="4928616"/>
            <a:ext cx="50292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a:extLst>
              <a:ext uri="{FF2B5EF4-FFF2-40B4-BE49-F238E27FC236}">
                <a16:creationId xmlns:a16="http://schemas.microsoft.com/office/drawing/2014/main" id="{F6CF8293-39A2-34CD-FB95-C3D08F21B1F8}"/>
              </a:ext>
            </a:extLst>
          </p:cNvPr>
          <p:cNvSpPr txBox="1"/>
          <p:nvPr/>
        </p:nvSpPr>
        <p:spPr>
          <a:xfrm>
            <a:off x="8266175" y="4791456"/>
            <a:ext cx="3108960" cy="365760"/>
          </a:xfrm>
          <a:prstGeom prst="rect">
            <a:avLst/>
          </a:prstGeom>
          <a:noFill/>
        </p:spPr>
        <p:txBody>
          <a:bodyPr wrap="square" lIns="13716" tIns="0" rIns="13716" bIns="0">
            <a:spAutoFit/>
          </a:bodyPr>
          <a:lstStyle/>
          <a:p>
            <a:pPr>
              <a:spcAft>
                <a:spcPts val="500"/>
              </a:spcAft>
              <a:defRPr sz="1900" b="1">
                <a:solidFill>
                  <a:srgbClr val="FFFFFF"/>
                </a:solidFill>
                <a:latin typeface="Aptos"/>
              </a:defRPr>
            </a:pPr>
            <a:r>
              <a:t>DDR logits → UART</a:t>
            </a:r>
          </a:p>
        </p:txBody>
      </p:sp>
      <p:sp>
        <p:nvSpPr>
          <p:cNvPr id="117" name="TextBox 116">
            <a:extLst>
              <a:ext uri="{FF2B5EF4-FFF2-40B4-BE49-F238E27FC236}">
                <a16:creationId xmlns:a16="http://schemas.microsoft.com/office/drawing/2014/main" id="{38869BD6-FA1E-3DBD-75A2-A8B4A98CE1BE}"/>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628126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210312"/>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SYSTEM ARCHITECTURE</a:t>
            </a:r>
          </a:p>
        </p:txBody>
      </p:sp>
      <p:sp>
        <p:nvSpPr>
          <p:cNvPr id="3" name="TextBox 2"/>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r>
              <a:rPr dirty="0"/>
              <a:t>From </a:t>
            </a:r>
            <a:r>
              <a:rPr lang="en-US" dirty="0"/>
              <a:t>Python M</a:t>
            </a:r>
            <a:r>
              <a:rPr dirty="0"/>
              <a:t>odel assets to FPGA inference</a:t>
            </a:r>
          </a:p>
        </p:txBody>
      </p:sp>
      <p:sp>
        <p:nvSpPr>
          <p:cNvPr id="4" name="TextBox 3"/>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rPr dirty="0"/>
              <a:t>The processing system controls the </a:t>
            </a:r>
            <a:r>
              <a:rPr lang="en-US" dirty="0"/>
              <a:t>overall inference </a:t>
            </a:r>
            <a:r>
              <a:rPr dirty="0"/>
              <a:t>run; the programmable logic performs the scheduled compute</a:t>
            </a:r>
            <a:r>
              <a:rPr lang="en-US" dirty="0"/>
              <a:t> involved in four models</a:t>
            </a:r>
            <a:endParaRPr dirty="0"/>
          </a:p>
        </p:txBody>
      </p:sp>
      <p:sp>
        <p:nvSpPr>
          <p:cNvPr id="5" name="Rectangle 4"/>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
        <p:nvSpPr>
          <p:cNvPr id="8" name="TextBox 7"/>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t>03 / 1</a:t>
            </a:r>
            <a:r>
              <a:rPr lang="en-US" dirty="0"/>
              <a:t>1</a:t>
            </a:r>
            <a:endParaRPr dirty="0"/>
          </a:p>
        </p:txBody>
      </p:sp>
      <p:sp>
        <p:nvSpPr>
          <p:cNvPr id="9" name="Rounded Rectangle 8"/>
          <p:cNvSpPr/>
          <p:nvPr/>
        </p:nvSpPr>
        <p:spPr>
          <a:xfrm>
            <a:off x="502920" y="2029968"/>
            <a:ext cx="2834640" cy="3977639"/>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221992"/>
            <a:ext cx="2468880" cy="228600"/>
          </a:xfrm>
          <a:prstGeom prst="rect">
            <a:avLst/>
          </a:prstGeom>
          <a:noFill/>
        </p:spPr>
        <p:txBody>
          <a:bodyPr wrap="square" lIns="13716" tIns="0" rIns="13716" bIns="0">
            <a:spAutoFit/>
          </a:bodyPr>
          <a:lstStyle/>
          <a:p>
            <a:pPr>
              <a:spcAft>
                <a:spcPts val="500"/>
              </a:spcAft>
              <a:defRPr sz="1200" b="1">
                <a:solidFill>
                  <a:srgbClr val="6BA6FF"/>
                </a:solidFill>
                <a:latin typeface="Aptos"/>
              </a:defRPr>
            </a:pPr>
            <a:r>
              <a:t>PROCESSING SYSTEM</a:t>
            </a:r>
          </a:p>
        </p:txBody>
      </p:sp>
      <p:sp>
        <p:nvSpPr>
          <p:cNvPr id="11" name="Rounded Rectangle 10"/>
          <p:cNvSpPr/>
          <p:nvPr/>
        </p:nvSpPr>
        <p:spPr>
          <a:xfrm>
            <a:off x="713232" y="2697480"/>
            <a:ext cx="2414016" cy="115214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13232" y="2697480"/>
            <a:ext cx="41148" cy="1152144"/>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2862072"/>
            <a:ext cx="2048256"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ARM Cortex-A53</a:t>
            </a:r>
          </a:p>
        </p:txBody>
      </p:sp>
      <p:sp>
        <p:nvSpPr>
          <p:cNvPr id="14" name="TextBox 13"/>
          <p:cNvSpPr txBox="1"/>
          <p:nvPr/>
        </p:nvSpPr>
        <p:spPr>
          <a:xfrm>
            <a:off x="896112" y="3310128"/>
            <a:ext cx="2048256" cy="400110"/>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err="1"/>
              <a:t>Baremetal</a:t>
            </a:r>
            <a:r>
              <a:rPr dirty="0"/>
              <a:t> driver + AXI-Lite</a:t>
            </a:r>
            <a:br>
              <a:rPr lang="en-US" dirty="0"/>
            </a:br>
            <a:endParaRPr dirty="0"/>
          </a:p>
        </p:txBody>
      </p:sp>
      <p:sp>
        <p:nvSpPr>
          <p:cNvPr id="15" name="Rounded Rectangle 14"/>
          <p:cNvSpPr/>
          <p:nvPr/>
        </p:nvSpPr>
        <p:spPr>
          <a:xfrm>
            <a:off x="713232" y="4233672"/>
            <a:ext cx="2414016" cy="128930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13232" y="4233672"/>
            <a:ext cx="41148" cy="1289304"/>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4398264"/>
            <a:ext cx="2048256"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PS DDR4</a:t>
            </a:r>
          </a:p>
        </p:txBody>
      </p:sp>
      <p:sp>
        <p:nvSpPr>
          <p:cNvPr id="18" name="TextBox 17"/>
          <p:cNvSpPr txBox="1"/>
          <p:nvPr/>
        </p:nvSpPr>
        <p:spPr>
          <a:xfrm>
            <a:off x="896112" y="4846320"/>
            <a:ext cx="2048256" cy="464230"/>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Images, weights, microcode</a:t>
            </a:r>
          </a:p>
          <a:p>
            <a:pPr>
              <a:spcAft>
                <a:spcPts val="500"/>
              </a:spcAft>
              <a:defRPr sz="1300" b="0">
                <a:solidFill>
                  <a:srgbClr val="A8B7CF"/>
                </a:solidFill>
                <a:latin typeface="Aptos"/>
              </a:defRPr>
            </a:pPr>
            <a:r>
              <a:rPr lang="en-US" dirty="0"/>
              <a:t>Using JTAG</a:t>
            </a:r>
            <a:endParaRPr dirty="0"/>
          </a:p>
        </p:txBody>
      </p:sp>
      <p:sp>
        <p:nvSpPr>
          <p:cNvPr id="19" name="Rounded Rectangle 18"/>
          <p:cNvSpPr/>
          <p:nvPr/>
        </p:nvSpPr>
        <p:spPr>
          <a:xfrm>
            <a:off x="3977639" y="2029968"/>
            <a:ext cx="7699248" cy="3977639"/>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97096" y="2221992"/>
            <a:ext cx="7132320" cy="228600"/>
          </a:xfrm>
          <a:prstGeom prst="rect">
            <a:avLst/>
          </a:prstGeom>
          <a:noFill/>
        </p:spPr>
        <p:txBody>
          <a:bodyPr wrap="square" lIns="13716" tIns="0" rIns="13716" bIns="0">
            <a:spAutoFit/>
          </a:bodyPr>
          <a:lstStyle/>
          <a:p>
            <a:pPr>
              <a:spcAft>
                <a:spcPts val="500"/>
              </a:spcAft>
              <a:defRPr sz="1200" b="1">
                <a:solidFill>
                  <a:srgbClr val="35DFC3"/>
                </a:solidFill>
                <a:latin typeface="Aptos"/>
              </a:defRPr>
            </a:pPr>
            <a:r>
              <a:t>PROGRAMMABLE LOGIC</a:t>
            </a:r>
          </a:p>
        </p:txBody>
      </p:sp>
      <p:sp>
        <p:nvSpPr>
          <p:cNvPr id="21" name="Rounded Rectangle 20"/>
          <p:cNvSpPr/>
          <p:nvPr/>
        </p:nvSpPr>
        <p:spPr>
          <a:xfrm>
            <a:off x="4197096" y="2706624"/>
            <a:ext cx="2112264" cy="119786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97096" y="2706624"/>
            <a:ext cx="41148" cy="1197864"/>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79976" y="2871216"/>
            <a:ext cx="1746504"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AXI-Lite</a:t>
            </a:r>
          </a:p>
        </p:txBody>
      </p:sp>
      <p:sp>
        <p:nvSpPr>
          <p:cNvPr id="24" name="TextBox 23"/>
          <p:cNvSpPr txBox="1"/>
          <p:nvPr/>
        </p:nvSpPr>
        <p:spPr>
          <a:xfrm>
            <a:off x="4379976" y="3319272"/>
            <a:ext cx="1746504" cy="539496"/>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Registers + status</a:t>
            </a:r>
          </a:p>
        </p:txBody>
      </p:sp>
      <p:sp>
        <p:nvSpPr>
          <p:cNvPr id="25" name="Rounded Rectangle 24"/>
          <p:cNvSpPr/>
          <p:nvPr/>
        </p:nvSpPr>
        <p:spPr>
          <a:xfrm>
            <a:off x="6601968" y="2706624"/>
            <a:ext cx="4800600" cy="119786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01968" y="2706624"/>
            <a:ext cx="41148" cy="1197864"/>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84848" y="2871216"/>
            <a:ext cx="4434840"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Microcode sequencer</a:t>
            </a:r>
          </a:p>
        </p:txBody>
      </p:sp>
      <p:sp>
        <p:nvSpPr>
          <p:cNvPr id="28" name="TextBox 27"/>
          <p:cNvSpPr txBox="1"/>
          <p:nvPr/>
        </p:nvSpPr>
        <p:spPr>
          <a:xfrm>
            <a:off x="6784848" y="3319272"/>
            <a:ext cx="4434840" cy="539496"/>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Layer control, address generation and DMA triggers</a:t>
            </a:r>
          </a:p>
        </p:txBody>
      </p:sp>
      <p:sp>
        <p:nvSpPr>
          <p:cNvPr id="29" name="Right Arrow 28"/>
          <p:cNvSpPr/>
          <p:nvPr/>
        </p:nvSpPr>
        <p:spPr>
          <a:xfrm>
            <a:off x="3383280" y="3236976"/>
            <a:ext cx="502920" cy="164592"/>
          </a:xfrm>
          <a:prstGeom prst="rightArrow">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a:off x="6364224" y="3236976"/>
            <a:ext cx="18288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197096" y="4288536"/>
            <a:ext cx="2112264" cy="1170432"/>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197096" y="4288536"/>
            <a:ext cx="41148" cy="1170432"/>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79976" y="4453128"/>
            <a:ext cx="1746504"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128-bit DMA</a:t>
            </a:r>
          </a:p>
        </p:txBody>
      </p:sp>
      <p:sp>
        <p:nvSpPr>
          <p:cNvPr id="34" name="TextBox 33"/>
          <p:cNvSpPr txBox="1"/>
          <p:nvPr/>
        </p:nvSpPr>
        <p:spPr>
          <a:xfrm>
            <a:off x="4379976" y="4901184"/>
            <a:ext cx="1746504" cy="512064"/>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Read + write masters</a:t>
            </a:r>
          </a:p>
        </p:txBody>
      </p:sp>
      <p:sp>
        <p:nvSpPr>
          <p:cNvPr id="35" name="Rounded Rectangle 34"/>
          <p:cNvSpPr/>
          <p:nvPr/>
        </p:nvSpPr>
        <p:spPr>
          <a:xfrm>
            <a:off x="6601968" y="4288536"/>
            <a:ext cx="2084831" cy="1170432"/>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601968" y="4288536"/>
            <a:ext cx="41148" cy="1170432"/>
          </a:xfrm>
          <a:prstGeom prst="rect">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84848" y="4453128"/>
            <a:ext cx="1719072"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Banked SRAM</a:t>
            </a:r>
          </a:p>
        </p:txBody>
      </p:sp>
      <p:sp>
        <p:nvSpPr>
          <p:cNvPr id="38" name="TextBox 37"/>
          <p:cNvSpPr txBox="1"/>
          <p:nvPr/>
        </p:nvSpPr>
        <p:spPr>
          <a:xfrm>
            <a:off x="6784848" y="4901184"/>
            <a:ext cx="1719072" cy="512064"/>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Activations + weights</a:t>
            </a:r>
          </a:p>
        </p:txBody>
      </p:sp>
      <p:sp>
        <p:nvSpPr>
          <p:cNvPr id="39" name="Rounded Rectangle 38"/>
          <p:cNvSpPr/>
          <p:nvPr/>
        </p:nvSpPr>
        <p:spPr>
          <a:xfrm>
            <a:off x="8979408" y="4288536"/>
            <a:ext cx="2423160" cy="1170432"/>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979408" y="4288536"/>
            <a:ext cx="41148" cy="117043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62288" y="4453128"/>
            <a:ext cx="2057400"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256 PEs + PPU</a:t>
            </a:r>
          </a:p>
        </p:txBody>
      </p:sp>
      <p:sp>
        <p:nvSpPr>
          <p:cNvPr id="42" name="TextBox 41"/>
          <p:cNvSpPr txBox="1"/>
          <p:nvPr/>
        </p:nvSpPr>
        <p:spPr>
          <a:xfrm>
            <a:off x="9162288" y="4901184"/>
            <a:ext cx="2057400" cy="512064"/>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MAC, activation, pooling</a:t>
            </a:r>
          </a:p>
        </p:txBody>
      </p:sp>
      <p:sp>
        <p:nvSpPr>
          <p:cNvPr id="43" name="Right Arrow 42"/>
          <p:cNvSpPr/>
          <p:nvPr/>
        </p:nvSpPr>
        <p:spPr>
          <a:xfrm>
            <a:off x="3383280" y="4809744"/>
            <a:ext cx="502920" cy="164592"/>
          </a:xfrm>
          <a:prstGeom prst="rightArrow">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ight Arrow 43"/>
          <p:cNvSpPr/>
          <p:nvPr/>
        </p:nvSpPr>
        <p:spPr>
          <a:xfrm>
            <a:off x="6364224" y="4809744"/>
            <a:ext cx="18288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ight Arrow 44"/>
          <p:cNvSpPr/>
          <p:nvPr/>
        </p:nvSpPr>
        <p:spPr>
          <a:xfrm>
            <a:off x="8741664" y="4809744"/>
            <a:ext cx="18288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206240" y="5669280"/>
            <a:ext cx="7223760" cy="228600"/>
          </a:xfrm>
          <a:prstGeom prst="rect">
            <a:avLst/>
          </a:prstGeom>
          <a:noFill/>
        </p:spPr>
        <p:txBody>
          <a:bodyPr wrap="square" lIns="13716" tIns="0" rIns="13716" bIns="0">
            <a:spAutoFit/>
          </a:bodyPr>
          <a:lstStyle/>
          <a:p>
            <a:pPr>
              <a:spcAft>
                <a:spcPts val="500"/>
              </a:spcAft>
              <a:defRPr sz="1200" b="0">
                <a:solidFill>
                  <a:srgbClr val="A8B7CF"/>
                </a:solidFill>
                <a:latin typeface="Aptos"/>
              </a:defRPr>
            </a:pPr>
            <a:r>
              <a:rPr dirty="0"/>
              <a:t>Data path: DDR → SRAM → compute / post-processing → SRAM → DDR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210312"/>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FPGA SYSTEM INTEGRATION</a:t>
            </a:r>
          </a:p>
        </p:txBody>
      </p:sp>
      <p:sp>
        <p:nvSpPr>
          <p:cNvPr id="3" name="TextBox 2"/>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r>
              <a:rPr dirty="0"/>
              <a:t>FPGA implementation: the PS–PL </a:t>
            </a:r>
            <a:r>
              <a:rPr lang="en-US" dirty="0"/>
              <a:t>Interface</a:t>
            </a:r>
            <a:endParaRPr dirty="0"/>
          </a:p>
        </p:txBody>
      </p:sp>
      <p:sp>
        <p:nvSpPr>
          <p:cNvPr id="4" name="TextBox 3"/>
          <p:cNvSpPr txBox="1"/>
          <p:nvPr/>
        </p:nvSpPr>
        <p:spPr>
          <a:xfrm>
            <a:off x="512064" y="1426464"/>
            <a:ext cx="11109960" cy="502920"/>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t>Vivado block-design connections for the accelerator IP on the Zynq UltraScale+ MPSoC.</a:t>
            </a:r>
          </a:p>
        </p:txBody>
      </p:sp>
      <p:sp>
        <p:nvSpPr>
          <p:cNvPr id="5" name="Rectangle 4"/>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t>04 / 1</a:t>
            </a:r>
            <a:r>
              <a:rPr lang="en-US" dirty="0"/>
              <a:t>1</a:t>
            </a:r>
            <a:endParaRPr dirty="0"/>
          </a:p>
        </p:txBody>
      </p:sp>
      <p:sp>
        <p:nvSpPr>
          <p:cNvPr id="9" name="Rounded Rectangle 8"/>
          <p:cNvSpPr/>
          <p:nvPr/>
        </p:nvSpPr>
        <p:spPr>
          <a:xfrm>
            <a:off x="502920" y="2029968"/>
            <a:ext cx="2971800" cy="3685032"/>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194560"/>
            <a:ext cx="2606040" cy="237744"/>
          </a:xfrm>
          <a:prstGeom prst="rect">
            <a:avLst/>
          </a:prstGeom>
          <a:noFill/>
        </p:spPr>
        <p:txBody>
          <a:bodyPr wrap="square" lIns="13716" tIns="0" rIns="13716" bIns="0">
            <a:spAutoFit/>
          </a:bodyPr>
          <a:lstStyle/>
          <a:p>
            <a:pPr>
              <a:spcAft>
                <a:spcPts val="500"/>
              </a:spcAft>
              <a:defRPr sz="1200" b="1">
                <a:solidFill>
                  <a:srgbClr val="6BA6FF"/>
                </a:solidFill>
                <a:latin typeface="Aptos"/>
              </a:defRPr>
            </a:pPr>
            <a:r>
              <a:t>PROCESSING SYSTEM (PS)</a:t>
            </a:r>
          </a:p>
        </p:txBody>
      </p:sp>
      <p:sp>
        <p:nvSpPr>
          <p:cNvPr id="11" name="Rounded Rectangle 10"/>
          <p:cNvSpPr/>
          <p:nvPr/>
        </p:nvSpPr>
        <p:spPr>
          <a:xfrm>
            <a:off x="3730752" y="2029968"/>
            <a:ext cx="7946136" cy="3685032"/>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31920" y="2194560"/>
            <a:ext cx="7315200" cy="237744"/>
          </a:xfrm>
          <a:prstGeom prst="rect">
            <a:avLst/>
          </a:prstGeom>
          <a:noFill/>
        </p:spPr>
        <p:txBody>
          <a:bodyPr wrap="square" lIns="13716" tIns="0" rIns="13716" bIns="0">
            <a:spAutoFit/>
          </a:bodyPr>
          <a:lstStyle/>
          <a:p>
            <a:pPr>
              <a:spcAft>
                <a:spcPts val="500"/>
              </a:spcAft>
              <a:defRPr sz="1200" b="1">
                <a:solidFill>
                  <a:srgbClr val="35DFC3"/>
                </a:solidFill>
                <a:latin typeface="Aptos"/>
              </a:defRPr>
            </a:pPr>
            <a:r>
              <a:t>PROGRAMMABLE LOGIC (PL)</a:t>
            </a:r>
          </a:p>
        </p:txBody>
      </p:sp>
      <p:sp>
        <p:nvSpPr>
          <p:cNvPr id="13" name="Rounded Rectangle 12"/>
          <p:cNvSpPr/>
          <p:nvPr/>
        </p:nvSpPr>
        <p:spPr>
          <a:xfrm>
            <a:off x="704088" y="2724912"/>
            <a:ext cx="2551176" cy="71323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 y="2816352"/>
            <a:ext cx="2331720" cy="292608"/>
          </a:xfrm>
          <a:prstGeom prst="rect">
            <a:avLst/>
          </a:prstGeom>
          <a:noFill/>
        </p:spPr>
        <p:txBody>
          <a:bodyPr wrap="square" lIns="13716" tIns="0" rIns="13716" bIns="0">
            <a:spAutoFit/>
          </a:bodyPr>
          <a:lstStyle/>
          <a:p>
            <a:pPr>
              <a:spcAft>
                <a:spcPts val="500"/>
              </a:spcAft>
              <a:defRPr sz="1300" b="1">
                <a:solidFill>
                  <a:srgbClr val="FFFFFF"/>
                </a:solidFill>
                <a:latin typeface="Aptos"/>
              </a:defRPr>
            </a:pPr>
            <a:r>
              <a:t>ARM / M_AXI_HPM0_FPD</a:t>
            </a:r>
          </a:p>
        </p:txBody>
      </p:sp>
      <p:sp>
        <p:nvSpPr>
          <p:cNvPr id="15" name="TextBox 14"/>
          <p:cNvSpPr txBox="1"/>
          <p:nvPr/>
        </p:nvSpPr>
        <p:spPr>
          <a:xfrm>
            <a:off x="813816" y="3145536"/>
            <a:ext cx="2331720"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Control master: 128-bit AXI</a:t>
            </a:r>
          </a:p>
        </p:txBody>
      </p:sp>
      <p:sp>
        <p:nvSpPr>
          <p:cNvPr id="16" name="Rounded Rectangle 15"/>
          <p:cNvSpPr/>
          <p:nvPr/>
        </p:nvSpPr>
        <p:spPr>
          <a:xfrm>
            <a:off x="704088" y="3666744"/>
            <a:ext cx="2551176" cy="71323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 y="3758183"/>
            <a:ext cx="2331720" cy="292608"/>
          </a:xfrm>
          <a:prstGeom prst="rect">
            <a:avLst/>
          </a:prstGeom>
          <a:noFill/>
        </p:spPr>
        <p:txBody>
          <a:bodyPr wrap="square" lIns="13716" tIns="0" rIns="13716" bIns="0">
            <a:spAutoFit/>
          </a:bodyPr>
          <a:lstStyle/>
          <a:p>
            <a:pPr>
              <a:spcAft>
                <a:spcPts val="500"/>
              </a:spcAft>
              <a:defRPr sz="1300" b="1">
                <a:solidFill>
                  <a:srgbClr val="FFFFFF"/>
                </a:solidFill>
                <a:latin typeface="Aptos"/>
              </a:defRPr>
            </a:pPr>
            <a:r>
              <a:t>PS DDR / S_AXI_HP0_FPD</a:t>
            </a:r>
          </a:p>
        </p:txBody>
      </p:sp>
      <p:sp>
        <p:nvSpPr>
          <p:cNvPr id="18" name="TextBox 17"/>
          <p:cNvSpPr txBox="1"/>
          <p:nvPr/>
        </p:nvSpPr>
        <p:spPr>
          <a:xfrm>
            <a:off x="813816" y="4087368"/>
            <a:ext cx="2331720"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Read-data return: 128 bits</a:t>
            </a:r>
          </a:p>
        </p:txBody>
      </p:sp>
      <p:sp>
        <p:nvSpPr>
          <p:cNvPr id="19" name="Rounded Rectangle 18"/>
          <p:cNvSpPr/>
          <p:nvPr/>
        </p:nvSpPr>
        <p:spPr>
          <a:xfrm>
            <a:off x="704088" y="4608576"/>
            <a:ext cx="2551176" cy="71323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3816" y="4700016"/>
            <a:ext cx="2331720" cy="292608"/>
          </a:xfrm>
          <a:prstGeom prst="rect">
            <a:avLst/>
          </a:prstGeom>
          <a:noFill/>
        </p:spPr>
        <p:txBody>
          <a:bodyPr wrap="square" lIns="13716" tIns="0" rIns="13716" bIns="0">
            <a:spAutoFit/>
          </a:bodyPr>
          <a:lstStyle/>
          <a:p>
            <a:pPr>
              <a:spcAft>
                <a:spcPts val="500"/>
              </a:spcAft>
              <a:defRPr sz="1300" b="1">
                <a:solidFill>
                  <a:srgbClr val="FFFFFF"/>
                </a:solidFill>
                <a:latin typeface="Aptos"/>
              </a:defRPr>
            </a:pPr>
            <a:r>
              <a:t>PS DDR / S_AXI_HP1_FPD</a:t>
            </a:r>
          </a:p>
        </p:txBody>
      </p:sp>
      <p:sp>
        <p:nvSpPr>
          <p:cNvPr id="21" name="TextBox 20"/>
          <p:cNvSpPr txBox="1"/>
          <p:nvPr/>
        </p:nvSpPr>
        <p:spPr>
          <a:xfrm>
            <a:off x="813816" y="5029200"/>
            <a:ext cx="2331720"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Write-data destination: 128 bits</a:t>
            </a:r>
          </a:p>
        </p:txBody>
      </p:sp>
      <p:sp>
        <p:nvSpPr>
          <p:cNvPr id="22" name="Rounded Rectangle 21"/>
          <p:cNvSpPr/>
          <p:nvPr/>
        </p:nvSpPr>
        <p:spPr>
          <a:xfrm>
            <a:off x="4087368" y="2724912"/>
            <a:ext cx="2048256" cy="713232"/>
          </a:xfrm>
          <a:prstGeom prst="roundRect">
            <a:avLst>
              <a:gd name="adj" fmla="val 12000"/>
            </a:avLst>
          </a:prstGeom>
          <a:solidFill>
            <a:srgbClr val="1C2C47"/>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97096" y="2816352"/>
            <a:ext cx="1828800" cy="292608"/>
          </a:xfrm>
          <a:prstGeom prst="rect">
            <a:avLst/>
          </a:prstGeom>
          <a:noFill/>
        </p:spPr>
        <p:txBody>
          <a:bodyPr wrap="square" lIns="13716" tIns="0" rIns="13716" bIns="0">
            <a:spAutoFit/>
          </a:bodyPr>
          <a:lstStyle/>
          <a:p>
            <a:pPr>
              <a:spcAft>
                <a:spcPts val="500"/>
              </a:spcAft>
              <a:defRPr sz="1400" b="1">
                <a:solidFill>
                  <a:srgbClr val="FFFFFF"/>
                </a:solidFill>
                <a:latin typeface="Aptos"/>
              </a:defRPr>
            </a:pPr>
            <a:r>
              <a:t>axi_smc_ctrl</a:t>
            </a:r>
          </a:p>
        </p:txBody>
      </p:sp>
      <p:sp>
        <p:nvSpPr>
          <p:cNvPr id="24" name="TextBox 23"/>
          <p:cNvSpPr txBox="1"/>
          <p:nvPr/>
        </p:nvSpPr>
        <p:spPr>
          <a:xfrm>
            <a:off x="4197096" y="3145536"/>
            <a:ext cx="1828800"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128 → 32-bit control</a:t>
            </a:r>
          </a:p>
        </p:txBody>
      </p:sp>
      <p:sp>
        <p:nvSpPr>
          <p:cNvPr id="25" name="Rounded Rectangle 24"/>
          <p:cNvSpPr/>
          <p:nvPr/>
        </p:nvSpPr>
        <p:spPr>
          <a:xfrm>
            <a:off x="4087368" y="3666744"/>
            <a:ext cx="2048256" cy="71323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97096" y="3758183"/>
            <a:ext cx="1828800" cy="292608"/>
          </a:xfrm>
          <a:prstGeom prst="rect">
            <a:avLst/>
          </a:prstGeom>
          <a:noFill/>
        </p:spPr>
        <p:txBody>
          <a:bodyPr wrap="square" lIns="13716" tIns="0" rIns="13716" bIns="0">
            <a:spAutoFit/>
          </a:bodyPr>
          <a:lstStyle/>
          <a:p>
            <a:pPr>
              <a:spcAft>
                <a:spcPts val="500"/>
              </a:spcAft>
              <a:defRPr sz="1400" b="1">
                <a:solidFill>
                  <a:srgbClr val="FFFFFF"/>
                </a:solidFill>
                <a:latin typeface="Aptos"/>
              </a:defRPr>
            </a:pPr>
            <a:r>
              <a:t>axi_smc_rd</a:t>
            </a:r>
          </a:p>
        </p:txBody>
      </p:sp>
      <p:sp>
        <p:nvSpPr>
          <p:cNvPr id="27" name="TextBox 26"/>
          <p:cNvSpPr txBox="1"/>
          <p:nvPr/>
        </p:nvSpPr>
        <p:spPr>
          <a:xfrm>
            <a:off x="4197096" y="4087368"/>
            <a:ext cx="1828800"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Read SmartConnect</a:t>
            </a:r>
          </a:p>
        </p:txBody>
      </p:sp>
      <p:sp>
        <p:nvSpPr>
          <p:cNvPr id="28" name="Rounded Rectangle 27"/>
          <p:cNvSpPr/>
          <p:nvPr/>
        </p:nvSpPr>
        <p:spPr>
          <a:xfrm>
            <a:off x="4087368" y="4608576"/>
            <a:ext cx="2048256" cy="713232"/>
          </a:xfrm>
          <a:prstGeom prst="roundRect">
            <a:avLst>
              <a:gd name="adj" fmla="val 12000"/>
            </a:avLst>
          </a:prstGeom>
          <a:solidFill>
            <a:srgbClr val="1C2C47"/>
          </a:solidFill>
          <a:ln>
            <a:solidFill>
              <a:srgbClr val="A6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97096" y="4700016"/>
            <a:ext cx="1828800" cy="292608"/>
          </a:xfrm>
          <a:prstGeom prst="rect">
            <a:avLst/>
          </a:prstGeom>
          <a:noFill/>
        </p:spPr>
        <p:txBody>
          <a:bodyPr wrap="square" lIns="13716" tIns="0" rIns="13716" bIns="0">
            <a:spAutoFit/>
          </a:bodyPr>
          <a:lstStyle/>
          <a:p>
            <a:pPr>
              <a:spcAft>
                <a:spcPts val="500"/>
              </a:spcAft>
              <a:defRPr sz="1400" b="1">
                <a:solidFill>
                  <a:srgbClr val="FFFFFF"/>
                </a:solidFill>
                <a:latin typeface="Aptos"/>
              </a:defRPr>
            </a:pPr>
            <a:r>
              <a:t>axi_smc_wr</a:t>
            </a:r>
          </a:p>
        </p:txBody>
      </p:sp>
      <p:sp>
        <p:nvSpPr>
          <p:cNvPr id="30" name="TextBox 29"/>
          <p:cNvSpPr txBox="1"/>
          <p:nvPr/>
        </p:nvSpPr>
        <p:spPr>
          <a:xfrm>
            <a:off x="4197096" y="5029200"/>
            <a:ext cx="1828800"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Write SmartConnect</a:t>
            </a:r>
          </a:p>
        </p:txBody>
      </p:sp>
      <p:sp>
        <p:nvSpPr>
          <p:cNvPr id="31" name="Rounded Rectangle 30"/>
          <p:cNvSpPr/>
          <p:nvPr/>
        </p:nvSpPr>
        <p:spPr>
          <a:xfrm>
            <a:off x="6903720" y="2596896"/>
            <a:ext cx="4535424" cy="2944368"/>
          </a:xfrm>
          <a:prstGeom prst="roundRect">
            <a:avLst>
              <a:gd name="adj" fmla="val 12000"/>
            </a:avLst>
          </a:prstGeom>
          <a:solidFill>
            <a:srgbClr val="0B1224"/>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95744" y="2734056"/>
            <a:ext cx="4114800" cy="283464"/>
          </a:xfrm>
          <a:prstGeom prst="rect">
            <a:avLst/>
          </a:prstGeom>
          <a:noFill/>
        </p:spPr>
        <p:txBody>
          <a:bodyPr wrap="square" lIns="13716" tIns="0" rIns="13716" bIns="0">
            <a:spAutoFit/>
          </a:bodyPr>
          <a:lstStyle/>
          <a:p>
            <a:pPr>
              <a:spcAft>
                <a:spcPts val="500"/>
              </a:spcAft>
              <a:defRPr sz="1800" b="1">
                <a:solidFill>
                  <a:srgbClr val="FFFFFF"/>
                </a:solidFill>
                <a:latin typeface="Consolas"/>
              </a:defRPr>
            </a:pPr>
            <a:r>
              <a:rPr lang="en-US" dirty="0"/>
              <a:t>Compute </a:t>
            </a:r>
            <a:r>
              <a:rPr dirty="0"/>
              <a:t>engine</a:t>
            </a:r>
          </a:p>
        </p:txBody>
      </p:sp>
      <p:sp>
        <p:nvSpPr>
          <p:cNvPr id="33" name="TextBox 32"/>
          <p:cNvSpPr txBox="1"/>
          <p:nvPr/>
        </p:nvSpPr>
        <p:spPr>
          <a:xfrm>
            <a:off x="7132320" y="3172968"/>
            <a:ext cx="4069080" cy="256032"/>
          </a:xfrm>
          <a:prstGeom prst="rect">
            <a:avLst/>
          </a:prstGeom>
          <a:noFill/>
        </p:spPr>
        <p:txBody>
          <a:bodyPr wrap="square" lIns="13716" tIns="0" rIns="13716" bIns="0">
            <a:spAutoFit/>
          </a:bodyPr>
          <a:lstStyle/>
          <a:p>
            <a:pPr>
              <a:spcAft>
                <a:spcPts val="500"/>
              </a:spcAft>
              <a:defRPr sz="1400" b="0">
                <a:solidFill>
                  <a:srgbClr val="35DFC3"/>
                </a:solidFill>
                <a:latin typeface="Aptos"/>
              </a:defRPr>
            </a:pPr>
            <a:r>
              <a:t>s_axi_lite  /  register control</a:t>
            </a:r>
          </a:p>
        </p:txBody>
      </p:sp>
      <p:sp>
        <p:nvSpPr>
          <p:cNvPr id="34" name="TextBox 33"/>
          <p:cNvSpPr txBox="1"/>
          <p:nvPr/>
        </p:nvSpPr>
        <p:spPr>
          <a:xfrm>
            <a:off x="7132320" y="3941063"/>
            <a:ext cx="4069080" cy="256032"/>
          </a:xfrm>
          <a:prstGeom prst="rect">
            <a:avLst/>
          </a:prstGeom>
          <a:noFill/>
        </p:spPr>
        <p:txBody>
          <a:bodyPr wrap="square" lIns="13716" tIns="0" rIns="13716" bIns="0">
            <a:spAutoFit/>
          </a:bodyPr>
          <a:lstStyle/>
          <a:p>
            <a:pPr>
              <a:spcAft>
                <a:spcPts val="500"/>
              </a:spcAft>
              <a:defRPr sz="1400" b="0">
                <a:solidFill>
                  <a:srgbClr val="6BA6FF"/>
                </a:solidFill>
                <a:latin typeface="Aptos"/>
              </a:defRPr>
            </a:pPr>
            <a:r>
              <a:t>m0_axi  /  read DMA master</a:t>
            </a:r>
          </a:p>
        </p:txBody>
      </p:sp>
      <p:sp>
        <p:nvSpPr>
          <p:cNvPr id="35" name="TextBox 34"/>
          <p:cNvSpPr txBox="1"/>
          <p:nvPr/>
        </p:nvSpPr>
        <p:spPr>
          <a:xfrm>
            <a:off x="7132320" y="4882896"/>
            <a:ext cx="4069080" cy="256032"/>
          </a:xfrm>
          <a:prstGeom prst="rect">
            <a:avLst/>
          </a:prstGeom>
          <a:noFill/>
        </p:spPr>
        <p:txBody>
          <a:bodyPr wrap="square" lIns="13716" tIns="0" rIns="13716" bIns="0">
            <a:spAutoFit/>
          </a:bodyPr>
          <a:lstStyle/>
          <a:p>
            <a:pPr>
              <a:spcAft>
                <a:spcPts val="500"/>
              </a:spcAft>
              <a:defRPr sz="1400" b="0">
                <a:solidFill>
                  <a:srgbClr val="A69AFF"/>
                </a:solidFill>
                <a:latin typeface="Aptos"/>
              </a:defRPr>
            </a:pPr>
            <a:r>
              <a:t>m1_axi  /  write DMA master</a:t>
            </a:r>
          </a:p>
        </p:txBody>
      </p:sp>
      <p:cxnSp>
        <p:nvCxnSpPr>
          <p:cNvPr id="36" name="Connector 35"/>
          <p:cNvCxnSpPr/>
          <p:nvPr/>
        </p:nvCxnSpPr>
        <p:spPr>
          <a:xfrm>
            <a:off x="3255264" y="3081528"/>
            <a:ext cx="832104" cy="0"/>
          </a:xfrm>
          <a:prstGeom prst="line">
            <a:avLst/>
          </a:prstGeom>
          <a:ln w="20320">
            <a:solidFill>
              <a:srgbClr val="35DFC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35624" y="3081528"/>
            <a:ext cx="374904" cy="0"/>
          </a:xfrm>
          <a:prstGeom prst="line">
            <a:avLst/>
          </a:prstGeom>
          <a:ln w="20320">
            <a:solidFill>
              <a:srgbClr val="35DFC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10528" y="3081528"/>
            <a:ext cx="0" cy="228600"/>
          </a:xfrm>
          <a:prstGeom prst="line">
            <a:avLst/>
          </a:prstGeom>
          <a:ln w="20320">
            <a:solidFill>
              <a:srgbClr val="35DFC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10528" y="3310128"/>
            <a:ext cx="576072" cy="0"/>
          </a:xfrm>
          <a:prstGeom prst="line">
            <a:avLst/>
          </a:prstGeom>
          <a:ln w="20320">
            <a:solidFill>
              <a:srgbClr val="35DFC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255264" y="4023360"/>
            <a:ext cx="832104" cy="0"/>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35624" y="4023360"/>
            <a:ext cx="950976" cy="0"/>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6135624" y="4965192"/>
            <a:ext cx="950976" cy="0"/>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3255264" y="4965192"/>
            <a:ext cx="832104" cy="0"/>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977639" y="5715000"/>
            <a:ext cx="7269480" cy="155448"/>
          </a:xfrm>
          <a:prstGeom prst="rect">
            <a:avLst/>
          </a:prstGeom>
          <a:noFill/>
        </p:spPr>
        <p:txBody>
          <a:bodyPr wrap="square" lIns="13716" tIns="0" rIns="13716" bIns="0">
            <a:spAutoFit/>
          </a:bodyPr>
          <a:lstStyle/>
          <a:p>
            <a:pPr>
              <a:spcAft>
                <a:spcPts val="500"/>
              </a:spcAft>
              <a:defRPr sz="900" b="0">
                <a:solidFill>
                  <a:srgbClr val="A8B7CF"/>
                </a:solidFill>
                <a:latin typeface="Aptos"/>
              </a:defRPr>
            </a:pPr>
            <a:r>
              <a:t>Arrows show control / payload flow; DMA requests originate in PL.</a:t>
            </a:r>
          </a:p>
        </p:txBody>
      </p:sp>
      <p:sp>
        <p:nvSpPr>
          <p:cNvPr id="45" name="Rounded Rectangle 44"/>
          <p:cNvSpPr/>
          <p:nvPr/>
        </p:nvSpPr>
        <p:spPr>
          <a:xfrm>
            <a:off x="502920" y="5897880"/>
            <a:ext cx="11173968" cy="356616"/>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8368" y="5971032"/>
            <a:ext cx="2834640" cy="182880"/>
          </a:xfrm>
          <a:prstGeom prst="rect">
            <a:avLst/>
          </a:prstGeom>
          <a:noFill/>
        </p:spPr>
        <p:txBody>
          <a:bodyPr wrap="square" lIns="13716" tIns="0" rIns="13716" bIns="0">
            <a:spAutoFit/>
          </a:bodyPr>
          <a:lstStyle/>
          <a:p>
            <a:pPr>
              <a:spcAft>
                <a:spcPts val="500"/>
              </a:spcAft>
              <a:defRPr sz="1100" b="0">
                <a:solidFill>
                  <a:srgbClr val="FFFFFF"/>
                </a:solidFill>
                <a:latin typeface="Aptos"/>
              </a:defRPr>
            </a:pPr>
            <a:r>
              <a:rPr dirty="0"/>
              <a:t>pl_clk0 → shared clock</a:t>
            </a:r>
          </a:p>
        </p:txBody>
      </p:sp>
      <p:sp>
        <p:nvSpPr>
          <p:cNvPr id="47" name="TextBox 46"/>
          <p:cNvSpPr txBox="1"/>
          <p:nvPr/>
        </p:nvSpPr>
        <p:spPr>
          <a:xfrm>
            <a:off x="3822191" y="5971032"/>
            <a:ext cx="2788920" cy="182880"/>
          </a:xfrm>
          <a:prstGeom prst="rect">
            <a:avLst/>
          </a:prstGeom>
          <a:noFill/>
        </p:spPr>
        <p:txBody>
          <a:bodyPr wrap="square" lIns="13716" tIns="0" rIns="13716" bIns="0">
            <a:spAutoFit/>
          </a:bodyPr>
          <a:lstStyle/>
          <a:p>
            <a:pPr>
              <a:spcAft>
                <a:spcPts val="500"/>
              </a:spcAft>
              <a:defRPr sz="1100" b="0">
                <a:solidFill>
                  <a:srgbClr val="FFFFFF"/>
                </a:solidFill>
                <a:latin typeface="Aptos"/>
              </a:defRPr>
            </a:pPr>
            <a:r>
              <a:t>rst_ps8_0 → resets</a:t>
            </a:r>
          </a:p>
        </p:txBody>
      </p:sp>
      <p:sp>
        <p:nvSpPr>
          <p:cNvPr id="48" name="TextBox 47"/>
          <p:cNvSpPr txBox="1"/>
          <p:nvPr/>
        </p:nvSpPr>
        <p:spPr>
          <a:xfrm>
            <a:off x="7470648" y="5971032"/>
            <a:ext cx="3840480" cy="182880"/>
          </a:xfrm>
          <a:prstGeom prst="rect">
            <a:avLst/>
          </a:prstGeom>
          <a:noFill/>
        </p:spPr>
        <p:txBody>
          <a:bodyPr wrap="square" lIns="13716" tIns="0" rIns="13716" bIns="0">
            <a:spAutoFit/>
          </a:bodyPr>
          <a:lstStyle/>
          <a:p>
            <a:pPr>
              <a:spcAft>
                <a:spcPts val="500"/>
              </a:spcAft>
              <a:defRPr sz="1100" b="0">
                <a:solidFill>
                  <a:srgbClr val="FFFFFF"/>
                </a:solidFill>
                <a:latin typeface="Aptos"/>
              </a:defRPr>
            </a:pPr>
            <a:r>
              <a:t>interrupt → PS pl_ps_irq0</a:t>
            </a:r>
          </a:p>
        </p:txBody>
      </p:sp>
      <p:sp>
        <p:nvSpPr>
          <p:cNvPr id="50" name="TextBox 49">
            <a:extLst>
              <a:ext uri="{FF2B5EF4-FFF2-40B4-BE49-F238E27FC236}">
                <a16:creationId xmlns:a16="http://schemas.microsoft.com/office/drawing/2014/main" id="{F8472A17-9715-7E69-149F-C1BCEBD5ECF8}"/>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210312"/>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RTL MODULE ARCHITECTURE</a:t>
            </a:r>
          </a:p>
        </p:txBody>
      </p:sp>
      <p:sp>
        <p:nvSpPr>
          <p:cNvPr id="3" name="TextBox 2"/>
          <p:cNvSpPr txBox="1"/>
          <p:nvPr/>
        </p:nvSpPr>
        <p:spPr>
          <a:xfrm>
            <a:off x="502920" y="713232"/>
            <a:ext cx="11155680" cy="640080"/>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r>
              <a:t>RTL engine architecture: modules and data paths</a:t>
            </a:r>
          </a:p>
        </p:txBody>
      </p:sp>
      <p:sp>
        <p:nvSpPr>
          <p:cNvPr id="4" name="TextBox 3"/>
          <p:cNvSpPr txBox="1"/>
          <p:nvPr/>
        </p:nvSpPr>
        <p:spPr>
          <a:xfrm>
            <a:off x="512064" y="1426464"/>
            <a:ext cx="11109960" cy="502920"/>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t>The DMA wrapper handles transfers; the compute core contains instruction memory, SRAM, control and the PE array.</a:t>
            </a:r>
          </a:p>
        </p:txBody>
      </p:sp>
      <p:sp>
        <p:nvSpPr>
          <p:cNvPr id="5" name="Rectangle 4"/>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t>05 / 1</a:t>
            </a:r>
            <a:r>
              <a:rPr lang="en-US" dirty="0"/>
              <a:t>1</a:t>
            </a:r>
            <a:endParaRPr dirty="0"/>
          </a:p>
        </p:txBody>
      </p:sp>
      <p:sp>
        <p:nvSpPr>
          <p:cNvPr id="9" name="Rounded Rectangle 8"/>
          <p:cNvSpPr/>
          <p:nvPr/>
        </p:nvSpPr>
        <p:spPr>
          <a:xfrm>
            <a:off x="502920" y="2002536"/>
            <a:ext cx="11173968" cy="4169663"/>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157984"/>
            <a:ext cx="10515600" cy="246221"/>
          </a:xfrm>
          <a:prstGeom prst="rect">
            <a:avLst/>
          </a:prstGeom>
          <a:noFill/>
        </p:spPr>
        <p:txBody>
          <a:bodyPr wrap="square" lIns="13716" tIns="0" rIns="13716" bIns="0">
            <a:spAutoFit/>
          </a:bodyPr>
          <a:lstStyle/>
          <a:p>
            <a:pPr>
              <a:spcAft>
                <a:spcPts val="500"/>
              </a:spcAft>
              <a:defRPr sz="1600" b="1">
                <a:solidFill>
                  <a:srgbClr val="35DFC3"/>
                </a:solidFill>
                <a:latin typeface="Consolas"/>
              </a:defRPr>
            </a:pPr>
            <a:r>
              <a:rPr lang="en-US" dirty="0"/>
              <a:t>PL Implementation Architecture</a:t>
            </a:r>
            <a:endParaRPr dirty="0"/>
          </a:p>
        </p:txBody>
      </p:sp>
      <p:sp>
        <p:nvSpPr>
          <p:cNvPr id="11" name="Rounded Rectangle 10"/>
          <p:cNvSpPr/>
          <p:nvPr/>
        </p:nvSpPr>
        <p:spPr>
          <a:xfrm>
            <a:off x="722376" y="2697480"/>
            <a:ext cx="2286000" cy="685800"/>
          </a:xfrm>
          <a:prstGeom prst="roundRect">
            <a:avLst>
              <a:gd name="adj" fmla="val 12000"/>
            </a:avLst>
          </a:prstGeom>
          <a:solidFill>
            <a:srgbClr val="1C2C47"/>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 y="2788920"/>
            <a:ext cx="2066543" cy="292608"/>
          </a:xfrm>
          <a:prstGeom prst="rect">
            <a:avLst/>
          </a:prstGeom>
          <a:noFill/>
        </p:spPr>
        <p:txBody>
          <a:bodyPr wrap="square" lIns="13716" tIns="0" rIns="13716" bIns="0">
            <a:spAutoFit/>
          </a:bodyPr>
          <a:lstStyle/>
          <a:p>
            <a:pPr>
              <a:spcAft>
                <a:spcPts val="500"/>
              </a:spcAft>
              <a:defRPr sz="1400" b="1">
                <a:solidFill>
                  <a:srgbClr val="FFFFFF"/>
                </a:solidFill>
                <a:latin typeface="Aptos"/>
              </a:defRPr>
            </a:pPr>
            <a:r>
              <a:t>axi_lite_slave</a:t>
            </a:r>
          </a:p>
        </p:txBody>
      </p:sp>
      <p:sp>
        <p:nvSpPr>
          <p:cNvPr id="13" name="TextBox 12"/>
          <p:cNvSpPr txBox="1"/>
          <p:nvPr/>
        </p:nvSpPr>
        <p:spPr>
          <a:xfrm>
            <a:off x="832104" y="3118104"/>
            <a:ext cx="2066543" cy="237744"/>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Control / status / config</a:t>
            </a:r>
          </a:p>
        </p:txBody>
      </p:sp>
      <p:sp>
        <p:nvSpPr>
          <p:cNvPr id="14" name="Rounded Rectangle 13"/>
          <p:cNvSpPr/>
          <p:nvPr/>
        </p:nvSpPr>
        <p:spPr>
          <a:xfrm>
            <a:off x="722376" y="3666744"/>
            <a:ext cx="2286000" cy="80467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 y="3758183"/>
            <a:ext cx="2066543" cy="292608"/>
          </a:xfrm>
          <a:prstGeom prst="rect">
            <a:avLst/>
          </a:prstGeom>
          <a:noFill/>
        </p:spPr>
        <p:txBody>
          <a:bodyPr wrap="square" lIns="13716" tIns="0" rIns="13716" bIns="0">
            <a:spAutoFit/>
          </a:bodyPr>
          <a:lstStyle/>
          <a:p>
            <a:pPr>
              <a:spcAft>
                <a:spcPts val="500"/>
              </a:spcAft>
              <a:defRPr sz="1250" b="1">
                <a:solidFill>
                  <a:srgbClr val="FFFFFF"/>
                </a:solidFill>
                <a:latin typeface="Aptos"/>
              </a:defRPr>
            </a:pPr>
            <a:r>
              <a:t>axi4_master_rd / wr</a:t>
            </a:r>
          </a:p>
        </p:txBody>
      </p:sp>
      <p:sp>
        <p:nvSpPr>
          <p:cNvPr id="16" name="TextBox 15"/>
          <p:cNvSpPr txBox="1"/>
          <p:nvPr/>
        </p:nvSpPr>
        <p:spPr>
          <a:xfrm>
            <a:off x="832104" y="4087368"/>
            <a:ext cx="2066543" cy="35661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128-bit read / write AXI</a:t>
            </a:r>
          </a:p>
        </p:txBody>
      </p:sp>
      <p:sp>
        <p:nvSpPr>
          <p:cNvPr id="17" name="Rounded Rectangle 16"/>
          <p:cNvSpPr/>
          <p:nvPr/>
        </p:nvSpPr>
        <p:spPr>
          <a:xfrm>
            <a:off x="722376" y="4754880"/>
            <a:ext cx="2286000" cy="71323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 y="4846320"/>
            <a:ext cx="2066543" cy="292608"/>
          </a:xfrm>
          <a:prstGeom prst="rect">
            <a:avLst/>
          </a:prstGeom>
          <a:noFill/>
        </p:spPr>
        <p:txBody>
          <a:bodyPr wrap="square" lIns="13716" tIns="0" rIns="13716" bIns="0">
            <a:spAutoFit/>
          </a:bodyPr>
          <a:lstStyle/>
          <a:p>
            <a:pPr>
              <a:spcAft>
                <a:spcPts val="500"/>
              </a:spcAft>
              <a:defRPr sz="1300" b="1">
                <a:solidFill>
                  <a:srgbClr val="FFFFFF"/>
                </a:solidFill>
                <a:latin typeface="Aptos"/>
              </a:defRPr>
            </a:pPr>
            <a:r>
              <a:t>dma_sram_bridge</a:t>
            </a:r>
          </a:p>
        </p:txBody>
      </p:sp>
      <p:sp>
        <p:nvSpPr>
          <p:cNvPr id="19" name="TextBox 18"/>
          <p:cNvSpPr txBox="1"/>
          <p:nvPr/>
        </p:nvSpPr>
        <p:spPr>
          <a:xfrm>
            <a:off x="832104" y="5175504"/>
            <a:ext cx="2066543"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128-bit beat → SRAM bank</a:t>
            </a:r>
          </a:p>
        </p:txBody>
      </p:sp>
      <p:cxnSp>
        <p:nvCxnSpPr>
          <p:cNvPr id="20" name="Connector 19"/>
          <p:cNvCxnSpPr/>
          <p:nvPr/>
        </p:nvCxnSpPr>
        <p:spPr>
          <a:xfrm>
            <a:off x="1865376" y="4471416"/>
            <a:ext cx="0" cy="283464"/>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410712" y="2514600"/>
            <a:ext cx="8010144" cy="3410712"/>
          </a:xfrm>
          <a:prstGeom prst="roundRect">
            <a:avLst>
              <a:gd name="adj" fmla="val 12000"/>
            </a:avLst>
          </a:prstGeom>
          <a:solidFill>
            <a:srgbClr val="0B1224"/>
          </a:solidFill>
          <a:ln>
            <a:solidFill>
              <a:srgbClr val="3853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685032" y="3108960"/>
            <a:ext cx="2093976" cy="758952"/>
          </a:xfrm>
          <a:prstGeom prst="roundRect">
            <a:avLst>
              <a:gd name="adj" fmla="val 12000"/>
            </a:avLst>
          </a:prstGeom>
          <a:solidFill>
            <a:srgbClr val="1C2C47"/>
          </a:solidFill>
          <a:ln>
            <a:solidFill>
              <a:srgbClr val="A6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94760" y="3200400"/>
            <a:ext cx="1874519" cy="292608"/>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t>config_mem</a:t>
            </a:r>
          </a:p>
        </p:txBody>
      </p:sp>
      <p:sp>
        <p:nvSpPr>
          <p:cNvPr id="25" name="TextBox 24"/>
          <p:cNvSpPr txBox="1"/>
          <p:nvPr/>
        </p:nvSpPr>
        <p:spPr>
          <a:xfrm>
            <a:off x="3794760" y="3529584"/>
            <a:ext cx="1874519" cy="31089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rPr dirty="0"/>
              <a:t>256 × 128 bits</a:t>
            </a:r>
          </a:p>
        </p:txBody>
      </p:sp>
      <p:sp>
        <p:nvSpPr>
          <p:cNvPr id="26" name="Rounded Rectangle 25"/>
          <p:cNvSpPr/>
          <p:nvPr/>
        </p:nvSpPr>
        <p:spPr>
          <a:xfrm>
            <a:off x="6199632" y="2962656"/>
            <a:ext cx="4928616" cy="1362456"/>
          </a:xfrm>
          <a:prstGeom prst="roundRect">
            <a:avLst>
              <a:gd name="adj" fmla="val 12000"/>
            </a:avLst>
          </a:prstGeom>
          <a:solidFill>
            <a:srgbClr val="142139"/>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73368" y="3072384"/>
            <a:ext cx="4553712" cy="265176"/>
          </a:xfrm>
          <a:prstGeom prst="rect">
            <a:avLst/>
          </a:prstGeom>
          <a:noFill/>
        </p:spPr>
        <p:txBody>
          <a:bodyPr wrap="square" lIns="13716" tIns="0" rIns="13716" bIns="0">
            <a:spAutoFit/>
          </a:bodyPr>
          <a:lstStyle/>
          <a:p>
            <a:pPr>
              <a:spcAft>
                <a:spcPts val="500"/>
              </a:spcAft>
              <a:defRPr sz="1500" b="1">
                <a:solidFill>
                  <a:srgbClr val="35DFC3"/>
                </a:solidFill>
                <a:latin typeface="Consolas"/>
              </a:defRPr>
            </a:pPr>
            <a:r>
              <a:t>c_engine_controller</a:t>
            </a:r>
          </a:p>
        </p:txBody>
      </p:sp>
      <p:sp>
        <p:nvSpPr>
          <p:cNvPr id="28" name="Rounded Rectangle 27"/>
          <p:cNvSpPr/>
          <p:nvPr/>
        </p:nvSpPr>
        <p:spPr>
          <a:xfrm>
            <a:off x="6382512" y="3502152"/>
            <a:ext cx="1965960" cy="585216"/>
          </a:xfrm>
          <a:prstGeom prst="roundRect">
            <a:avLst>
              <a:gd name="adj" fmla="val 12000"/>
            </a:avLst>
          </a:prstGeom>
          <a:solidFill>
            <a:srgbClr val="1C2C47"/>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3593592"/>
            <a:ext cx="1746504" cy="292608"/>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t>FSM + GAP</a:t>
            </a:r>
          </a:p>
        </p:txBody>
      </p:sp>
      <p:sp>
        <p:nvSpPr>
          <p:cNvPr id="30" name="Rounded Rectangle 29"/>
          <p:cNvSpPr/>
          <p:nvPr/>
        </p:nvSpPr>
        <p:spPr>
          <a:xfrm>
            <a:off x="8641080" y="3502152"/>
            <a:ext cx="2304288" cy="585216"/>
          </a:xfrm>
          <a:prstGeom prst="roundRect">
            <a:avLst>
              <a:gd name="adj" fmla="val 12000"/>
            </a:avLst>
          </a:prstGeom>
          <a:solidFill>
            <a:srgbClr val="1C2C47"/>
          </a:solidFill>
          <a:ln>
            <a:solidFill>
              <a:srgbClr val="FFC6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50807" y="3593592"/>
            <a:ext cx="2084832" cy="292608"/>
          </a:xfrm>
          <a:prstGeom prst="rect">
            <a:avLst/>
          </a:prstGeom>
          <a:noFill/>
        </p:spPr>
        <p:txBody>
          <a:bodyPr wrap="square" lIns="13716" tIns="0" rIns="13716" bIns="0">
            <a:spAutoFit/>
          </a:bodyPr>
          <a:lstStyle/>
          <a:p>
            <a:pPr>
              <a:spcAft>
                <a:spcPts val="500"/>
              </a:spcAft>
              <a:defRPr sz="1400" b="1">
                <a:solidFill>
                  <a:srgbClr val="FFFFFF"/>
                </a:solidFill>
                <a:latin typeface="Aptos"/>
              </a:defRPr>
            </a:pPr>
            <a:r>
              <a:t>Requantization PPU</a:t>
            </a:r>
          </a:p>
        </p:txBody>
      </p:sp>
      <p:sp>
        <p:nvSpPr>
          <p:cNvPr id="32" name="Rounded Rectangle 31"/>
          <p:cNvSpPr/>
          <p:nvPr/>
        </p:nvSpPr>
        <p:spPr>
          <a:xfrm>
            <a:off x="3685032" y="4709160"/>
            <a:ext cx="4142232" cy="795528"/>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94760" y="4800600"/>
            <a:ext cx="3922776" cy="292608"/>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rPr dirty="0" err="1"/>
              <a:t>multibank_dualport_mem</a:t>
            </a:r>
            <a:endParaRPr dirty="0"/>
          </a:p>
        </p:txBody>
      </p:sp>
      <p:sp>
        <p:nvSpPr>
          <p:cNvPr id="34" name="TextBox 33"/>
          <p:cNvSpPr txBox="1"/>
          <p:nvPr/>
        </p:nvSpPr>
        <p:spPr>
          <a:xfrm>
            <a:off x="3794760" y="5129784"/>
            <a:ext cx="3922776" cy="347472"/>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rPr dirty="0"/>
              <a:t>Port A: DMA / controller mux; Port B: compute</a:t>
            </a:r>
          </a:p>
        </p:txBody>
      </p:sp>
      <p:sp>
        <p:nvSpPr>
          <p:cNvPr id="35" name="Rounded Rectangle 34"/>
          <p:cNvSpPr/>
          <p:nvPr/>
        </p:nvSpPr>
        <p:spPr>
          <a:xfrm>
            <a:off x="8641080" y="4709160"/>
            <a:ext cx="2304288" cy="795528"/>
          </a:xfrm>
          <a:prstGeom prst="roundRect">
            <a:avLst>
              <a:gd name="adj" fmla="val 12000"/>
            </a:avLst>
          </a:prstGeom>
          <a:solidFill>
            <a:srgbClr val="1C2C47"/>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750807" y="4800600"/>
            <a:ext cx="2084832" cy="230832"/>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rPr dirty="0" err="1"/>
              <a:t>c</a:t>
            </a:r>
            <a:r>
              <a:rPr lang="en-US" dirty="0" err="1"/>
              <a:t>ompute</a:t>
            </a:r>
            <a:r>
              <a:rPr dirty="0" err="1"/>
              <a:t>_engine</a:t>
            </a:r>
            <a:endParaRPr dirty="0"/>
          </a:p>
        </p:txBody>
      </p:sp>
      <p:sp>
        <p:nvSpPr>
          <p:cNvPr id="37" name="TextBox 36"/>
          <p:cNvSpPr txBox="1"/>
          <p:nvPr/>
        </p:nvSpPr>
        <p:spPr>
          <a:xfrm>
            <a:off x="8750807" y="5129784"/>
            <a:ext cx="2084832" cy="347472"/>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8 × 32 processing_element</a:t>
            </a:r>
          </a:p>
        </p:txBody>
      </p:sp>
      <p:cxnSp>
        <p:nvCxnSpPr>
          <p:cNvPr id="38" name="Connector 37"/>
          <p:cNvCxnSpPr/>
          <p:nvPr/>
        </p:nvCxnSpPr>
        <p:spPr>
          <a:xfrm>
            <a:off x="3008376" y="3035808"/>
            <a:ext cx="237744" cy="0"/>
          </a:xfrm>
          <a:prstGeom prst="line">
            <a:avLst/>
          </a:prstGeom>
          <a:ln w="20320">
            <a:solidFill>
              <a:srgbClr val="A69AF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246120" y="3035808"/>
            <a:ext cx="0" cy="438912"/>
          </a:xfrm>
          <a:prstGeom prst="line">
            <a:avLst/>
          </a:prstGeom>
          <a:ln w="20320">
            <a:solidFill>
              <a:srgbClr val="A69A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246120" y="3474720"/>
            <a:ext cx="438912" cy="0"/>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779008" y="3483864"/>
            <a:ext cx="420624" cy="0"/>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008376" y="5120640"/>
            <a:ext cx="676656" cy="0"/>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27264" y="5120640"/>
            <a:ext cx="813816" cy="0"/>
          </a:xfrm>
          <a:prstGeom prst="line">
            <a:avLst/>
          </a:prstGeom>
          <a:ln w="20320">
            <a:solidFill>
              <a:srgbClr val="35DFC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793224" y="4087368"/>
            <a:ext cx="0" cy="621792"/>
          </a:xfrm>
          <a:prstGeom prst="line">
            <a:avLst/>
          </a:prstGeom>
          <a:ln w="20320">
            <a:solidFill>
              <a:srgbClr val="FFC66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485632" y="3794760"/>
            <a:ext cx="155448" cy="0"/>
          </a:xfrm>
          <a:prstGeom prst="line">
            <a:avLst/>
          </a:prstGeom>
          <a:ln w="20320">
            <a:solidFill>
              <a:srgbClr val="FFC66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485632" y="3794760"/>
            <a:ext cx="0" cy="685800"/>
          </a:xfrm>
          <a:prstGeom prst="line">
            <a:avLst/>
          </a:prstGeom>
          <a:ln w="20320">
            <a:solidFill>
              <a:srgbClr val="FFC66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5769864" y="4480560"/>
            <a:ext cx="2715768" cy="0"/>
          </a:xfrm>
          <a:prstGeom prst="line">
            <a:avLst/>
          </a:prstGeom>
          <a:ln w="20320">
            <a:solidFill>
              <a:srgbClr val="FFC66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769864" y="4480560"/>
            <a:ext cx="0" cy="228600"/>
          </a:xfrm>
          <a:prstGeom prst="line">
            <a:avLst/>
          </a:prstGeom>
          <a:ln w="20320">
            <a:solidFill>
              <a:srgbClr val="FFC66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360920" y="4087368"/>
            <a:ext cx="0" cy="265176"/>
          </a:xfrm>
          <a:prstGeom prst="line">
            <a:avLst/>
          </a:prstGeom>
          <a:ln w="20320">
            <a:solidFill>
              <a:srgbClr val="35DFC3"/>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360920" y="4352544"/>
            <a:ext cx="3822192" cy="0"/>
          </a:xfrm>
          <a:prstGeom prst="line">
            <a:avLst/>
          </a:prstGeom>
          <a:ln w="20320">
            <a:solidFill>
              <a:srgbClr val="35DFC3"/>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83112" y="4352544"/>
            <a:ext cx="0" cy="768096"/>
          </a:xfrm>
          <a:prstGeom prst="line">
            <a:avLst/>
          </a:prstGeom>
          <a:ln w="20320">
            <a:solidFill>
              <a:srgbClr val="35DFC3"/>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0945368" y="5120640"/>
            <a:ext cx="237744" cy="0"/>
          </a:xfrm>
          <a:prstGeom prst="line">
            <a:avLst/>
          </a:prstGeom>
          <a:ln w="20320">
            <a:solidFill>
              <a:srgbClr val="35DFC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870448" y="4535424"/>
            <a:ext cx="2514600" cy="146304"/>
          </a:xfrm>
          <a:prstGeom prst="rect">
            <a:avLst/>
          </a:prstGeom>
          <a:noFill/>
        </p:spPr>
        <p:txBody>
          <a:bodyPr wrap="square" lIns="13716" tIns="0" rIns="13716" bIns="0">
            <a:spAutoFit/>
          </a:bodyPr>
          <a:lstStyle/>
          <a:p>
            <a:pPr>
              <a:spcAft>
                <a:spcPts val="500"/>
              </a:spcAft>
              <a:defRPr sz="900" b="0">
                <a:solidFill>
                  <a:srgbClr val="FFC66D"/>
                </a:solidFill>
                <a:latin typeface="Aptos"/>
              </a:defRPr>
            </a:pPr>
            <a:r>
              <a:t>Requantized writeback</a:t>
            </a:r>
          </a:p>
        </p:txBody>
      </p:sp>
      <p:sp>
        <p:nvSpPr>
          <p:cNvPr id="54" name="TextBox 53"/>
          <p:cNvSpPr txBox="1"/>
          <p:nvPr/>
        </p:nvSpPr>
        <p:spPr>
          <a:xfrm>
            <a:off x="1036320" y="5976365"/>
            <a:ext cx="10515600" cy="201168"/>
          </a:xfrm>
          <a:prstGeom prst="rect">
            <a:avLst/>
          </a:prstGeom>
          <a:noFill/>
        </p:spPr>
        <p:txBody>
          <a:bodyPr wrap="square" lIns="13716" tIns="0" rIns="13716" bIns="0">
            <a:spAutoFit/>
          </a:bodyPr>
          <a:lstStyle/>
          <a:p>
            <a:pPr>
              <a:spcAft>
                <a:spcPts val="500"/>
              </a:spcAft>
              <a:defRPr sz="1100" b="0">
                <a:solidFill>
                  <a:srgbClr val="A8B7CF"/>
                </a:solidFill>
                <a:latin typeface="Aptos"/>
              </a:defRPr>
            </a:pPr>
            <a:r>
              <a:rPr dirty="0"/>
              <a:t>Solid: data / instructions   ·   Dashed: array control   ·   PPU is instantiated inside the controller</a:t>
            </a:r>
          </a:p>
        </p:txBody>
      </p:sp>
      <p:sp>
        <p:nvSpPr>
          <p:cNvPr id="58" name="TextBox 57">
            <a:extLst>
              <a:ext uri="{FF2B5EF4-FFF2-40B4-BE49-F238E27FC236}">
                <a16:creationId xmlns:a16="http://schemas.microsoft.com/office/drawing/2014/main" id="{812642F6-A456-C7D6-0F57-5E52E010A3DB}"/>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2CF6FFA1-82E7-170B-D124-255A677C8BB2}"/>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A623BB1F-60AC-F758-50DD-C8C9D0317A86}"/>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a:solidFill>
                  <a:schemeClr val="bg1"/>
                </a:solidFill>
              </a:rPr>
              <a:t>COMPUTE DESIGN</a:t>
            </a:r>
          </a:p>
        </p:txBody>
      </p:sp>
      <p:sp>
        <p:nvSpPr>
          <p:cNvPr id="57" name="TextBox 56">
            <a:extLst>
              <a:ext uri="{FF2B5EF4-FFF2-40B4-BE49-F238E27FC236}">
                <a16:creationId xmlns:a16="http://schemas.microsoft.com/office/drawing/2014/main" id="{E1571367-ED67-24ED-5223-1499DCE67887}"/>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a:solidFill>
                  <a:schemeClr val="bg1"/>
                </a:solidFill>
              </a:rPr>
              <a:t>Inside the compute engine</a:t>
            </a:r>
          </a:p>
        </p:txBody>
      </p:sp>
      <p:sp>
        <p:nvSpPr>
          <p:cNvPr id="59" name="TextBox 58">
            <a:extLst>
              <a:ext uri="{FF2B5EF4-FFF2-40B4-BE49-F238E27FC236}">
                <a16:creationId xmlns:a16="http://schemas.microsoft.com/office/drawing/2014/main" id="{7321FF13-AD72-92D9-395F-DA3FB632E94E}"/>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solidFill>
              </a:rPr>
              <a:t>One parameterized grid supports convolution, depthwise execution and dense matrix-vector stages.</a:t>
            </a:r>
          </a:p>
        </p:txBody>
      </p:sp>
      <p:sp>
        <p:nvSpPr>
          <p:cNvPr id="61" name="Rectangle 60">
            <a:extLst>
              <a:ext uri="{FF2B5EF4-FFF2-40B4-BE49-F238E27FC236}">
                <a16:creationId xmlns:a16="http://schemas.microsoft.com/office/drawing/2014/main" id="{C59AA0CB-2144-1768-5501-E3CD42F25D13}"/>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67" name="TextBox 66">
            <a:extLst>
              <a:ext uri="{FF2B5EF4-FFF2-40B4-BE49-F238E27FC236}">
                <a16:creationId xmlns:a16="http://schemas.microsoft.com/office/drawing/2014/main" id="{FE74DB3D-82F8-BFB9-5B55-6BEE5FA5DE6F}"/>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06 / 1</a:t>
            </a:r>
            <a:r>
              <a:rPr lang="en-US" dirty="0">
                <a:solidFill>
                  <a:srgbClr val="35DFC3"/>
                </a:solidFill>
              </a:rPr>
              <a:t>1</a:t>
            </a:r>
            <a:endParaRPr dirty="0">
              <a:solidFill>
                <a:srgbClr val="35DFC3"/>
              </a:solidFill>
            </a:endParaRPr>
          </a:p>
        </p:txBody>
      </p:sp>
      <p:sp>
        <p:nvSpPr>
          <p:cNvPr id="69" name="Rounded Rectangle 8">
            <a:extLst>
              <a:ext uri="{FF2B5EF4-FFF2-40B4-BE49-F238E27FC236}">
                <a16:creationId xmlns:a16="http://schemas.microsoft.com/office/drawing/2014/main" id="{FB15BABE-8872-EE60-305D-C2DED56FCB68}"/>
              </a:ext>
            </a:extLst>
          </p:cNvPr>
          <p:cNvSpPr/>
          <p:nvPr/>
        </p:nvSpPr>
        <p:spPr>
          <a:xfrm>
            <a:off x="502920" y="2057400"/>
            <a:ext cx="4681728" cy="3547872"/>
          </a:xfrm>
          <a:prstGeom prst="roundRect">
            <a:avLst>
              <a:gd name="adj" fmla="val 12000"/>
            </a:avLst>
          </a:prstGeom>
          <a:solidFill>
            <a:srgbClr val="0B1224"/>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1" name="TextBox 70">
            <a:extLst>
              <a:ext uri="{FF2B5EF4-FFF2-40B4-BE49-F238E27FC236}">
                <a16:creationId xmlns:a16="http://schemas.microsoft.com/office/drawing/2014/main" id="{DADFFE43-4695-6FC5-DBB6-84ED68F6B8FB}"/>
              </a:ext>
            </a:extLst>
          </p:cNvPr>
          <p:cNvSpPr txBox="1"/>
          <p:nvPr/>
        </p:nvSpPr>
        <p:spPr>
          <a:xfrm>
            <a:off x="749808" y="2286000"/>
            <a:ext cx="4206240" cy="307777"/>
          </a:xfrm>
          <a:prstGeom prst="rect">
            <a:avLst/>
          </a:prstGeom>
          <a:noFill/>
        </p:spPr>
        <p:txBody>
          <a:bodyPr wrap="square" lIns="13716" tIns="0" rIns="13716" bIns="0">
            <a:spAutoFit/>
          </a:bodyPr>
          <a:lstStyle/>
          <a:p>
            <a:pPr>
              <a:spcAft>
                <a:spcPts val="500"/>
              </a:spcAft>
              <a:defRPr sz="2000" b="1">
                <a:solidFill>
                  <a:srgbClr val="FFFFFF"/>
                </a:solidFill>
                <a:latin typeface="Aptos"/>
              </a:defRPr>
            </a:pPr>
            <a:r>
              <a:rPr>
                <a:solidFill>
                  <a:schemeClr val="bg1"/>
                </a:solidFill>
              </a:rPr>
              <a:t>256 signed MAC units</a:t>
            </a:r>
          </a:p>
        </p:txBody>
      </p:sp>
      <p:sp>
        <p:nvSpPr>
          <p:cNvPr id="73" name="Rectangle 72">
            <a:extLst>
              <a:ext uri="{FF2B5EF4-FFF2-40B4-BE49-F238E27FC236}">
                <a16:creationId xmlns:a16="http://schemas.microsoft.com/office/drawing/2014/main" id="{A1BB89C0-3A66-0A7F-5F11-AC631AC0503D}"/>
              </a:ext>
            </a:extLst>
          </p:cNvPr>
          <p:cNvSpPr/>
          <p:nvPr/>
        </p:nvSpPr>
        <p:spPr>
          <a:xfrm>
            <a:off x="76809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5" name="Rectangle 74">
            <a:extLst>
              <a:ext uri="{FF2B5EF4-FFF2-40B4-BE49-F238E27FC236}">
                <a16:creationId xmlns:a16="http://schemas.microsoft.com/office/drawing/2014/main" id="{0CF69AF8-E98E-482B-83EE-103274D947A0}"/>
              </a:ext>
            </a:extLst>
          </p:cNvPr>
          <p:cNvSpPr/>
          <p:nvPr/>
        </p:nvSpPr>
        <p:spPr>
          <a:xfrm>
            <a:off x="89611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7" name="Rectangle 76">
            <a:extLst>
              <a:ext uri="{FF2B5EF4-FFF2-40B4-BE49-F238E27FC236}">
                <a16:creationId xmlns:a16="http://schemas.microsoft.com/office/drawing/2014/main" id="{E339E561-9AFD-B20A-ADC9-EB2C9EC8BC59}"/>
              </a:ext>
            </a:extLst>
          </p:cNvPr>
          <p:cNvSpPr/>
          <p:nvPr/>
        </p:nvSpPr>
        <p:spPr>
          <a:xfrm>
            <a:off x="102412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9" name="Rectangle 78">
            <a:extLst>
              <a:ext uri="{FF2B5EF4-FFF2-40B4-BE49-F238E27FC236}">
                <a16:creationId xmlns:a16="http://schemas.microsoft.com/office/drawing/2014/main" id="{1A8A351B-6A03-DDDA-2B3D-E7F248A831FC}"/>
              </a:ext>
            </a:extLst>
          </p:cNvPr>
          <p:cNvSpPr/>
          <p:nvPr/>
        </p:nvSpPr>
        <p:spPr>
          <a:xfrm>
            <a:off x="115214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1" name="Rectangle 80">
            <a:extLst>
              <a:ext uri="{FF2B5EF4-FFF2-40B4-BE49-F238E27FC236}">
                <a16:creationId xmlns:a16="http://schemas.microsoft.com/office/drawing/2014/main" id="{C8C65794-3692-915B-3C49-91E8A2AF1146}"/>
              </a:ext>
            </a:extLst>
          </p:cNvPr>
          <p:cNvSpPr/>
          <p:nvPr/>
        </p:nvSpPr>
        <p:spPr>
          <a:xfrm>
            <a:off x="128016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3" name="Rectangle 82">
            <a:extLst>
              <a:ext uri="{FF2B5EF4-FFF2-40B4-BE49-F238E27FC236}">
                <a16:creationId xmlns:a16="http://schemas.microsoft.com/office/drawing/2014/main" id="{41C7FA46-B22A-F414-9A8D-D600F8810E52}"/>
              </a:ext>
            </a:extLst>
          </p:cNvPr>
          <p:cNvSpPr/>
          <p:nvPr/>
        </p:nvSpPr>
        <p:spPr>
          <a:xfrm>
            <a:off x="140817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5" name="Rectangle 84">
            <a:extLst>
              <a:ext uri="{FF2B5EF4-FFF2-40B4-BE49-F238E27FC236}">
                <a16:creationId xmlns:a16="http://schemas.microsoft.com/office/drawing/2014/main" id="{076CE01D-79D9-4CD6-61B6-82F19EAC89E1}"/>
              </a:ext>
            </a:extLst>
          </p:cNvPr>
          <p:cNvSpPr/>
          <p:nvPr/>
        </p:nvSpPr>
        <p:spPr>
          <a:xfrm>
            <a:off x="153619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7" name="Rectangle 86">
            <a:extLst>
              <a:ext uri="{FF2B5EF4-FFF2-40B4-BE49-F238E27FC236}">
                <a16:creationId xmlns:a16="http://schemas.microsoft.com/office/drawing/2014/main" id="{1B9DC190-0723-E7E9-19A0-73974841F6E8}"/>
              </a:ext>
            </a:extLst>
          </p:cNvPr>
          <p:cNvSpPr/>
          <p:nvPr/>
        </p:nvSpPr>
        <p:spPr>
          <a:xfrm>
            <a:off x="166420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9" name="Rectangle 88">
            <a:extLst>
              <a:ext uri="{FF2B5EF4-FFF2-40B4-BE49-F238E27FC236}">
                <a16:creationId xmlns:a16="http://schemas.microsoft.com/office/drawing/2014/main" id="{D132D610-6444-1A27-ECE0-76EE47F2B823}"/>
              </a:ext>
            </a:extLst>
          </p:cNvPr>
          <p:cNvSpPr/>
          <p:nvPr/>
        </p:nvSpPr>
        <p:spPr>
          <a:xfrm>
            <a:off x="179222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1" name="Rectangle 90">
            <a:extLst>
              <a:ext uri="{FF2B5EF4-FFF2-40B4-BE49-F238E27FC236}">
                <a16:creationId xmlns:a16="http://schemas.microsoft.com/office/drawing/2014/main" id="{BDBC8335-9A7B-8CBB-7F44-BA1D1E097A32}"/>
              </a:ext>
            </a:extLst>
          </p:cNvPr>
          <p:cNvSpPr/>
          <p:nvPr/>
        </p:nvSpPr>
        <p:spPr>
          <a:xfrm>
            <a:off x="192024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3" name="Rectangle 92">
            <a:extLst>
              <a:ext uri="{FF2B5EF4-FFF2-40B4-BE49-F238E27FC236}">
                <a16:creationId xmlns:a16="http://schemas.microsoft.com/office/drawing/2014/main" id="{5D5A393A-1409-0DF2-8664-EFECA1CD8B7E}"/>
              </a:ext>
            </a:extLst>
          </p:cNvPr>
          <p:cNvSpPr/>
          <p:nvPr/>
        </p:nvSpPr>
        <p:spPr>
          <a:xfrm>
            <a:off x="204825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5" name="Rectangle 94">
            <a:extLst>
              <a:ext uri="{FF2B5EF4-FFF2-40B4-BE49-F238E27FC236}">
                <a16:creationId xmlns:a16="http://schemas.microsoft.com/office/drawing/2014/main" id="{9EC1EE67-CD17-3406-0877-526D204BD431}"/>
              </a:ext>
            </a:extLst>
          </p:cNvPr>
          <p:cNvSpPr/>
          <p:nvPr/>
        </p:nvSpPr>
        <p:spPr>
          <a:xfrm>
            <a:off x="217627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7" name="Rectangle 96">
            <a:extLst>
              <a:ext uri="{FF2B5EF4-FFF2-40B4-BE49-F238E27FC236}">
                <a16:creationId xmlns:a16="http://schemas.microsoft.com/office/drawing/2014/main" id="{6C49647E-9670-E7C7-876D-0E2406D5414B}"/>
              </a:ext>
            </a:extLst>
          </p:cNvPr>
          <p:cNvSpPr/>
          <p:nvPr/>
        </p:nvSpPr>
        <p:spPr>
          <a:xfrm>
            <a:off x="230428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9" name="Rectangle 98">
            <a:extLst>
              <a:ext uri="{FF2B5EF4-FFF2-40B4-BE49-F238E27FC236}">
                <a16:creationId xmlns:a16="http://schemas.microsoft.com/office/drawing/2014/main" id="{E5F3D8A7-AAA6-FDD3-171B-2E28A8F4A114}"/>
              </a:ext>
            </a:extLst>
          </p:cNvPr>
          <p:cNvSpPr/>
          <p:nvPr/>
        </p:nvSpPr>
        <p:spPr>
          <a:xfrm>
            <a:off x="243230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1" name="Rectangle 100">
            <a:extLst>
              <a:ext uri="{FF2B5EF4-FFF2-40B4-BE49-F238E27FC236}">
                <a16:creationId xmlns:a16="http://schemas.microsoft.com/office/drawing/2014/main" id="{288C858C-71B6-0EFD-97C3-6F8A3210588A}"/>
              </a:ext>
            </a:extLst>
          </p:cNvPr>
          <p:cNvSpPr/>
          <p:nvPr/>
        </p:nvSpPr>
        <p:spPr>
          <a:xfrm>
            <a:off x="256032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3" name="Rectangle 102">
            <a:extLst>
              <a:ext uri="{FF2B5EF4-FFF2-40B4-BE49-F238E27FC236}">
                <a16:creationId xmlns:a16="http://schemas.microsoft.com/office/drawing/2014/main" id="{427A60CE-D1DD-6E79-FF1E-566A65353434}"/>
              </a:ext>
            </a:extLst>
          </p:cNvPr>
          <p:cNvSpPr/>
          <p:nvPr/>
        </p:nvSpPr>
        <p:spPr>
          <a:xfrm>
            <a:off x="268833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5" name="Rectangle 104">
            <a:extLst>
              <a:ext uri="{FF2B5EF4-FFF2-40B4-BE49-F238E27FC236}">
                <a16:creationId xmlns:a16="http://schemas.microsoft.com/office/drawing/2014/main" id="{D2EC08E0-F0F1-04AA-BEF9-17D143CC35D7}"/>
              </a:ext>
            </a:extLst>
          </p:cNvPr>
          <p:cNvSpPr/>
          <p:nvPr/>
        </p:nvSpPr>
        <p:spPr>
          <a:xfrm>
            <a:off x="281635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7" name="Rectangle 106">
            <a:extLst>
              <a:ext uri="{FF2B5EF4-FFF2-40B4-BE49-F238E27FC236}">
                <a16:creationId xmlns:a16="http://schemas.microsoft.com/office/drawing/2014/main" id="{22AC258D-287B-002E-EFC6-63E4C5C8D025}"/>
              </a:ext>
            </a:extLst>
          </p:cNvPr>
          <p:cNvSpPr/>
          <p:nvPr/>
        </p:nvSpPr>
        <p:spPr>
          <a:xfrm>
            <a:off x="294436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9" name="Rectangle 108">
            <a:extLst>
              <a:ext uri="{FF2B5EF4-FFF2-40B4-BE49-F238E27FC236}">
                <a16:creationId xmlns:a16="http://schemas.microsoft.com/office/drawing/2014/main" id="{7F5135E8-9A3F-5997-64CE-FD5A81ABF5E4}"/>
              </a:ext>
            </a:extLst>
          </p:cNvPr>
          <p:cNvSpPr/>
          <p:nvPr/>
        </p:nvSpPr>
        <p:spPr>
          <a:xfrm>
            <a:off x="307238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1" name="Rectangle 110">
            <a:extLst>
              <a:ext uri="{FF2B5EF4-FFF2-40B4-BE49-F238E27FC236}">
                <a16:creationId xmlns:a16="http://schemas.microsoft.com/office/drawing/2014/main" id="{D93DCC25-38E9-711B-FF6A-A208DC534614}"/>
              </a:ext>
            </a:extLst>
          </p:cNvPr>
          <p:cNvSpPr/>
          <p:nvPr/>
        </p:nvSpPr>
        <p:spPr>
          <a:xfrm>
            <a:off x="320040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3" name="Rectangle 112">
            <a:extLst>
              <a:ext uri="{FF2B5EF4-FFF2-40B4-BE49-F238E27FC236}">
                <a16:creationId xmlns:a16="http://schemas.microsoft.com/office/drawing/2014/main" id="{FF0CC6C1-A5D2-4A57-2565-283A8593EB39}"/>
              </a:ext>
            </a:extLst>
          </p:cNvPr>
          <p:cNvSpPr/>
          <p:nvPr/>
        </p:nvSpPr>
        <p:spPr>
          <a:xfrm>
            <a:off x="332841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5" name="Rectangle 114">
            <a:extLst>
              <a:ext uri="{FF2B5EF4-FFF2-40B4-BE49-F238E27FC236}">
                <a16:creationId xmlns:a16="http://schemas.microsoft.com/office/drawing/2014/main" id="{67ACA740-BACA-99D2-9CE0-A329AD56EDDA}"/>
              </a:ext>
            </a:extLst>
          </p:cNvPr>
          <p:cNvSpPr/>
          <p:nvPr/>
        </p:nvSpPr>
        <p:spPr>
          <a:xfrm>
            <a:off x="345643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7" name="Rectangle 116">
            <a:extLst>
              <a:ext uri="{FF2B5EF4-FFF2-40B4-BE49-F238E27FC236}">
                <a16:creationId xmlns:a16="http://schemas.microsoft.com/office/drawing/2014/main" id="{A0463088-BB12-1AAD-AF7B-A458B113239B}"/>
              </a:ext>
            </a:extLst>
          </p:cNvPr>
          <p:cNvSpPr/>
          <p:nvPr/>
        </p:nvSpPr>
        <p:spPr>
          <a:xfrm>
            <a:off x="358444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9" name="Rectangle 118">
            <a:extLst>
              <a:ext uri="{FF2B5EF4-FFF2-40B4-BE49-F238E27FC236}">
                <a16:creationId xmlns:a16="http://schemas.microsoft.com/office/drawing/2014/main" id="{127F784F-65C6-F465-D482-8C2B3AADBA09}"/>
              </a:ext>
            </a:extLst>
          </p:cNvPr>
          <p:cNvSpPr/>
          <p:nvPr/>
        </p:nvSpPr>
        <p:spPr>
          <a:xfrm>
            <a:off x="371246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1" name="Rectangle 120">
            <a:extLst>
              <a:ext uri="{FF2B5EF4-FFF2-40B4-BE49-F238E27FC236}">
                <a16:creationId xmlns:a16="http://schemas.microsoft.com/office/drawing/2014/main" id="{6EC00ED0-3F9B-C910-9A53-C49B2C378443}"/>
              </a:ext>
            </a:extLst>
          </p:cNvPr>
          <p:cNvSpPr/>
          <p:nvPr/>
        </p:nvSpPr>
        <p:spPr>
          <a:xfrm>
            <a:off x="384048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3" name="Rectangle 122">
            <a:extLst>
              <a:ext uri="{FF2B5EF4-FFF2-40B4-BE49-F238E27FC236}">
                <a16:creationId xmlns:a16="http://schemas.microsoft.com/office/drawing/2014/main" id="{EFA9FAFA-DDF5-ABBF-EE37-C82C8504634D}"/>
              </a:ext>
            </a:extLst>
          </p:cNvPr>
          <p:cNvSpPr/>
          <p:nvPr/>
        </p:nvSpPr>
        <p:spPr>
          <a:xfrm>
            <a:off x="396849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5" name="Rectangle 124">
            <a:extLst>
              <a:ext uri="{FF2B5EF4-FFF2-40B4-BE49-F238E27FC236}">
                <a16:creationId xmlns:a16="http://schemas.microsoft.com/office/drawing/2014/main" id="{FC4475BF-1CC4-5E79-AC31-4C9B57C77D26}"/>
              </a:ext>
            </a:extLst>
          </p:cNvPr>
          <p:cNvSpPr/>
          <p:nvPr/>
        </p:nvSpPr>
        <p:spPr>
          <a:xfrm>
            <a:off x="409651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7" name="Rectangle 126">
            <a:extLst>
              <a:ext uri="{FF2B5EF4-FFF2-40B4-BE49-F238E27FC236}">
                <a16:creationId xmlns:a16="http://schemas.microsoft.com/office/drawing/2014/main" id="{4BCAC193-5DB6-F113-E1BB-7CCE32B5E67B}"/>
              </a:ext>
            </a:extLst>
          </p:cNvPr>
          <p:cNvSpPr/>
          <p:nvPr/>
        </p:nvSpPr>
        <p:spPr>
          <a:xfrm>
            <a:off x="422452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9" name="Rectangle 128">
            <a:extLst>
              <a:ext uri="{FF2B5EF4-FFF2-40B4-BE49-F238E27FC236}">
                <a16:creationId xmlns:a16="http://schemas.microsoft.com/office/drawing/2014/main" id="{73FA351C-74C2-518A-F881-12522D60D9D7}"/>
              </a:ext>
            </a:extLst>
          </p:cNvPr>
          <p:cNvSpPr/>
          <p:nvPr/>
        </p:nvSpPr>
        <p:spPr>
          <a:xfrm>
            <a:off x="435254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1" name="Rectangle 130">
            <a:extLst>
              <a:ext uri="{FF2B5EF4-FFF2-40B4-BE49-F238E27FC236}">
                <a16:creationId xmlns:a16="http://schemas.microsoft.com/office/drawing/2014/main" id="{17221F1A-4CFF-F7B2-49F4-C010DD76051A}"/>
              </a:ext>
            </a:extLst>
          </p:cNvPr>
          <p:cNvSpPr/>
          <p:nvPr/>
        </p:nvSpPr>
        <p:spPr>
          <a:xfrm>
            <a:off x="448056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3" name="Rectangle 132">
            <a:extLst>
              <a:ext uri="{FF2B5EF4-FFF2-40B4-BE49-F238E27FC236}">
                <a16:creationId xmlns:a16="http://schemas.microsoft.com/office/drawing/2014/main" id="{18C7F903-6220-A060-1598-A4F0022DB187}"/>
              </a:ext>
            </a:extLst>
          </p:cNvPr>
          <p:cNvSpPr/>
          <p:nvPr/>
        </p:nvSpPr>
        <p:spPr>
          <a:xfrm>
            <a:off x="460857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5" name="Rectangle 134">
            <a:extLst>
              <a:ext uri="{FF2B5EF4-FFF2-40B4-BE49-F238E27FC236}">
                <a16:creationId xmlns:a16="http://schemas.microsoft.com/office/drawing/2014/main" id="{39A256A2-A19F-8DF0-8118-7919383E3F11}"/>
              </a:ext>
            </a:extLst>
          </p:cNvPr>
          <p:cNvSpPr/>
          <p:nvPr/>
        </p:nvSpPr>
        <p:spPr>
          <a:xfrm>
            <a:off x="473659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7" name="Rectangle 136">
            <a:extLst>
              <a:ext uri="{FF2B5EF4-FFF2-40B4-BE49-F238E27FC236}">
                <a16:creationId xmlns:a16="http://schemas.microsoft.com/office/drawing/2014/main" id="{8CEE0237-B1B6-E9DB-F328-CEFE60038EC9}"/>
              </a:ext>
            </a:extLst>
          </p:cNvPr>
          <p:cNvSpPr/>
          <p:nvPr/>
        </p:nvSpPr>
        <p:spPr>
          <a:xfrm>
            <a:off x="76809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9" name="Rectangle 138">
            <a:extLst>
              <a:ext uri="{FF2B5EF4-FFF2-40B4-BE49-F238E27FC236}">
                <a16:creationId xmlns:a16="http://schemas.microsoft.com/office/drawing/2014/main" id="{255091F8-B630-BA4F-9A93-2D8E42ED8010}"/>
              </a:ext>
            </a:extLst>
          </p:cNvPr>
          <p:cNvSpPr/>
          <p:nvPr/>
        </p:nvSpPr>
        <p:spPr>
          <a:xfrm>
            <a:off x="89611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1" name="Rectangle 140">
            <a:extLst>
              <a:ext uri="{FF2B5EF4-FFF2-40B4-BE49-F238E27FC236}">
                <a16:creationId xmlns:a16="http://schemas.microsoft.com/office/drawing/2014/main" id="{9F31D28E-6092-35A0-FD95-E58E5457D6B8}"/>
              </a:ext>
            </a:extLst>
          </p:cNvPr>
          <p:cNvSpPr/>
          <p:nvPr/>
        </p:nvSpPr>
        <p:spPr>
          <a:xfrm>
            <a:off x="102412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3" name="Rectangle 142">
            <a:extLst>
              <a:ext uri="{FF2B5EF4-FFF2-40B4-BE49-F238E27FC236}">
                <a16:creationId xmlns:a16="http://schemas.microsoft.com/office/drawing/2014/main" id="{120AC715-D0BE-09D1-1174-27A1B505CF13}"/>
              </a:ext>
            </a:extLst>
          </p:cNvPr>
          <p:cNvSpPr/>
          <p:nvPr/>
        </p:nvSpPr>
        <p:spPr>
          <a:xfrm>
            <a:off x="115214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5" name="Rectangle 144">
            <a:extLst>
              <a:ext uri="{FF2B5EF4-FFF2-40B4-BE49-F238E27FC236}">
                <a16:creationId xmlns:a16="http://schemas.microsoft.com/office/drawing/2014/main" id="{FE6E2C05-1FFB-C877-76D4-DB529F1028DE}"/>
              </a:ext>
            </a:extLst>
          </p:cNvPr>
          <p:cNvSpPr/>
          <p:nvPr/>
        </p:nvSpPr>
        <p:spPr>
          <a:xfrm>
            <a:off x="128016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7" name="Rectangle 146">
            <a:extLst>
              <a:ext uri="{FF2B5EF4-FFF2-40B4-BE49-F238E27FC236}">
                <a16:creationId xmlns:a16="http://schemas.microsoft.com/office/drawing/2014/main" id="{DB3A6A17-471E-9866-E0BB-1014F240F423}"/>
              </a:ext>
            </a:extLst>
          </p:cNvPr>
          <p:cNvSpPr/>
          <p:nvPr/>
        </p:nvSpPr>
        <p:spPr>
          <a:xfrm>
            <a:off x="140817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9" name="Rectangle 148">
            <a:extLst>
              <a:ext uri="{FF2B5EF4-FFF2-40B4-BE49-F238E27FC236}">
                <a16:creationId xmlns:a16="http://schemas.microsoft.com/office/drawing/2014/main" id="{66B70FAF-2CD0-A5F3-7B1F-F4BC17A0C555}"/>
              </a:ext>
            </a:extLst>
          </p:cNvPr>
          <p:cNvSpPr/>
          <p:nvPr/>
        </p:nvSpPr>
        <p:spPr>
          <a:xfrm>
            <a:off x="153619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1" name="Rectangle 150">
            <a:extLst>
              <a:ext uri="{FF2B5EF4-FFF2-40B4-BE49-F238E27FC236}">
                <a16:creationId xmlns:a16="http://schemas.microsoft.com/office/drawing/2014/main" id="{28CC1839-A7E6-9861-D3A7-8BCBAA3B6F82}"/>
              </a:ext>
            </a:extLst>
          </p:cNvPr>
          <p:cNvSpPr/>
          <p:nvPr/>
        </p:nvSpPr>
        <p:spPr>
          <a:xfrm>
            <a:off x="166420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3" name="Rectangle 152">
            <a:extLst>
              <a:ext uri="{FF2B5EF4-FFF2-40B4-BE49-F238E27FC236}">
                <a16:creationId xmlns:a16="http://schemas.microsoft.com/office/drawing/2014/main" id="{A01DB88D-F479-AB6B-BEE1-195314303B04}"/>
              </a:ext>
            </a:extLst>
          </p:cNvPr>
          <p:cNvSpPr/>
          <p:nvPr/>
        </p:nvSpPr>
        <p:spPr>
          <a:xfrm>
            <a:off x="179222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5" name="Rectangle 154">
            <a:extLst>
              <a:ext uri="{FF2B5EF4-FFF2-40B4-BE49-F238E27FC236}">
                <a16:creationId xmlns:a16="http://schemas.microsoft.com/office/drawing/2014/main" id="{AAD64368-98EF-70DB-5328-ECEEA341AA19}"/>
              </a:ext>
            </a:extLst>
          </p:cNvPr>
          <p:cNvSpPr/>
          <p:nvPr/>
        </p:nvSpPr>
        <p:spPr>
          <a:xfrm>
            <a:off x="192024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7" name="Rectangle 156">
            <a:extLst>
              <a:ext uri="{FF2B5EF4-FFF2-40B4-BE49-F238E27FC236}">
                <a16:creationId xmlns:a16="http://schemas.microsoft.com/office/drawing/2014/main" id="{1866871C-CB81-B06F-889E-C5044A5C9094}"/>
              </a:ext>
            </a:extLst>
          </p:cNvPr>
          <p:cNvSpPr/>
          <p:nvPr/>
        </p:nvSpPr>
        <p:spPr>
          <a:xfrm>
            <a:off x="204825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9" name="Rectangle 158">
            <a:extLst>
              <a:ext uri="{FF2B5EF4-FFF2-40B4-BE49-F238E27FC236}">
                <a16:creationId xmlns:a16="http://schemas.microsoft.com/office/drawing/2014/main" id="{771793DF-1580-7EA7-4D86-715A32AE54C7}"/>
              </a:ext>
            </a:extLst>
          </p:cNvPr>
          <p:cNvSpPr/>
          <p:nvPr/>
        </p:nvSpPr>
        <p:spPr>
          <a:xfrm>
            <a:off x="217627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1" name="Rectangle 160">
            <a:extLst>
              <a:ext uri="{FF2B5EF4-FFF2-40B4-BE49-F238E27FC236}">
                <a16:creationId xmlns:a16="http://schemas.microsoft.com/office/drawing/2014/main" id="{06674D98-B04A-2B2A-8F7D-84F650CA9B3D}"/>
              </a:ext>
            </a:extLst>
          </p:cNvPr>
          <p:cNvSpPr/>
          <p:nvPr/>
        </p:nvSpPr>
        <p:spPr>
          <a:xfrm>
            <a:off x="230428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3" name="Rectangle 162">
            <a:extLst>
              <a:ext uri="{FF2B5EF4-FFF2-40B4-BE49-F238E27FC236}">
                <a16:creationId xmlns:a16="http://schemas.microsoft.com/office/drawing/2014/main" id="{D009A0F8-DE16-9220-870D-E2B337AD0AA0}"/>
              </a:ext>
            </a:extLst>
          </p:cNvPr>
          <p:cNvSpPr/>
          <p:nvPr/>
        </p:nvSpPr>
        <p:spPr>
          <a:xfrm>
            <a:off x="243230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5" name="Rectangle 164">
            <a:extLst>
              <a:ext uri="{FF2B5EF4-FFF2-40B4-BE49-F238E27FC236}">
                <a16:creationId xmlns:a16="http://schemas.microsoft.com/office/drawing/2014/main" id="{E92FD753-B258-4CE5-9B79-371F2F057CAB}"/>
              </a:ext>
            </a:extLst>
          </p:cNvPr>
          <p:cNvSpPr/>
          <p:nvPr/>
        </p:nvSpPr>
        <p:spPr>
          <a:xfrm>
            <a:off x="256032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7" name="Rectangle 166">
            <a:extLst>
              <a:ext uri="{FF2B5EF4-FFF2-40B4-BE49-F238E27FC236}">
                <a16:creationId xmlns:a16="http://schemas.microsoft.com/office/drawing/2014/main" id="{F7C6BB8A-164A-2ECC-152F-2BC973B7837A}"/>
              </a:ext>
            </a:extLst>
          </p:cNvPr>
          <p:cNvSpPr/>
          <p:nvPr/>
        </p:nvSpPr>
        <p:spPr>
          <a:xfrm>
            <a:off x="268833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9" name="Rectangle 168">
            <a:extLst>
              <a:ext uri="{FF2B5EF4-FFF2-40B4-BE49-F238E27FC236}">
                <a16:creationId xmlns:a16="http://schemas.microsoft.com/office/drawing/2014/main" id="{B034FDFC-EF4C-B215-E0BE-81E157E6F255}"/>
              </a:ext>
            </a:extLst>
          </p:cNvPr>
          <p:cNvSpPr/>
          <p:nvPr/>
        </p:nvSpPr>
        <p:spPr>
          <a:xfrm>
            <a:off x="281635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1" name="Rectangle 170">
            <a:extLst>
              <a:ext uri="{FF2B5EF4-FFF2-40B4-BE49-F238E27FC236}">
                <a16:creationId xmlns:a16="http://schemas.microsoft.com/office/drawing/2014/main" id="{56B67751-0389-218E-E83E-F472C78E39F0}"/>
              </a:ext>
            </a:extLst>
          </p:cNvPr>
          <p:cNvSpPr/>
          <p:nvPr/>
        </p:nvSpPr>
        <p:spPr>
          <a:xfrm>
            <a:off x="294436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3" name="Rectangle 172">
            <a:extLst>
              <a:ext uri="{FF2B5EF4-FFF2-40B4-BE49-F238E27FC236}">
                <a16:creationId xmlns:a16="http://schemas.microsoft.com/office/drawing/2014/main" id="{5F1273F6-5C81-D07A-0DB6-44DFF18E4F35}"/>
              </a:ext>
            </a:extLst>
          </p:cNvPr>
          <p:cNvSpPr/>
          <p:nvPr/>
        </p:nvSpPr>
        <p:spPr>
          <a:xfrm>
            <a:off x="307238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5" name="Rectangle 174">
            <a:extLst>
              <a:ext uri="{FF2B5EF4-FFF2-40B4-BE49-F238E27FC236}">
                <a16:creationId xmlns:a16="http://schemas.microsoft.com/office/drawing/2014/main" id="{D7FBF367-118A-C583-7C3C-CEBBB7630225}"/>
              </a:ext>
            </a:extLst>
          </p:cNvPr>
          <p:cNvSpPr/>
          <p:nvPr/>
        </p:nvSpPr>
        <p:spPr>
          <a:xfrm>
            <a:off x="320040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7" name="Rectangle 176">
            <a:extLst>
              <a:ext uri="{FF2B5EF4-FFF2-40B4-BE49-F238E27FC236}">
                <a16:creationId xmlns:a16="http://schemas.microsoft.com/office/drawing/2014/main" id="{30ED1626-3BF1-BF16-6D7A-D856A72E3F9B}"/>
              </a:ext>
            </a:extLst>
          </p:cNvPr>
          <p:cNvSpPr/>
          <p:nvPr/>
        </p:nvSpPr>
        <p:spPr>
          <a:xfrm>
            <a:off x="332841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9" name="Rectangle 178">
            <a:extLst>
              <a:ext uri="{FF2B5EF4-FFF2-40B4-BE49-F238E27FC236}">
                <a16:creationId xmlns:a16="http://schemas.microsoft.com/office/drawing/2014/main" id="{C4D61D16-7550-9E46-105A-9394A457A991}"/>
              </a:ext>
            </a:extLst>
          </p:cNvPr>
          <p:cNvSpPr/>
          <p:nvPr/>
        </p:nvSpPr>
        <p:spPr>
          <a:xfrm>
            <a:off x="345643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1" name="Rectangle 180">
            <a:extLst>
              <a:ext uri="{FF2B5EF4-FFF2-40B4-BE49-F238E27FC236}">
                <a16:creationId xmlns:a16="http://schemas.microsoft.com/office/drawing/2014/main" id="{90F7EE1B-26A3-3314-5CEF-52722CE03412}"/>
              </a:ext>
            </a:extLst>
          </p:cNvPr>
          <p:cNvSpPr/>
          <p:nvPr/>
        </p:nvSpPr>
        <p:spPr>
          <a:xfrm>
            <a:off x="358444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3" name="Rectangle 182">
            <a:extLst>
              <a:ext uri="{FF2B5EF4-FFF2-40B4-BE49-F238E27FC236}">
                <a16:creationId xmlns:a16="http://schemas.microsoft.com/office/drawing/2014/main" id="{78E0950A-42C5-A478-2096-9A45696211EE}"/>
              </a:ext>
            </a:extLst>
          </p:cNvPr>
          <p:cNvSpPr/>
          <p:nvPr/>
        </p:nvSpPr>
        <p:spPr>
          <a:xfrm>
            <a:off x="371246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5" name="Rectangle 184">
            <a:extLst>
              <a:ext uri="{FF2B5EF4-FFF2-40B4-BE49-F238E27FC236}">
                <a16:creationId xmlns:a16="http://schemas.microsoft.com/office/drawing/2014/main" id="{D292569F-2651-81D2-6654-A4D192C74075}"/>
              </a:ext>
            </a:extLst>
          </p:cNvPr>
          <p:cNvSpPr/>
          <p:nvPr/>
        </p:nvSpPr>
        <p:spPr>
          <a:xfrm>
            <a:off x="384048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7" name="Rectangle 186">
            <a:extLst>
              <a:ext uri="{FF2B5EF4-FFF2-40B4-BE49-F238E27FC236}">
                <a16:creationId xmlns:a16="http://schemas.microsoft.com/office/drawing/2014/main" id="{8D068809-38CF-316D-9D39-7BAB2033DF4D}"/>
              </a:ext>
            </a:extLst>
          </p:cNvPr>
          <p:cNvSpPr/>
          <p:nvPr/>
        </p:nvSpPr>
        <p:spPr>
          <a:xfrm>
            <a:off x="396849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9" name="Rectangle 188">
            <a:extLst>
              <a:ext uri="{FF2B5EF4-FFF2-40B4-BE49-F238E27FC236}">
                <a16:creationId xmlns:a16="http://schemas.microsoft.com/office/drawing/2014/main" id="{4FE2667D-0A7F-DB51-E853-D7A335F80260}"/>
              </a:ext>
            </a:extLst>
          </p:cNvPr>
          <p:cNvSpPr/>
          <p:nvPr/>
        </p:nvSpPr>
        <p:spPr>
          <a:xfrm>
            <a:off x="409651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1" name="Rectangle 190">
            <a:extLst>
              <a:ext uri="{FF2B5EF4-FFF2-40B4-BE49-F238E27FC236}">
                <a16:creationId xmlns:a16="http://schemas.microsoft.com/office/drawing/2014/main" id="{2DB34AE7-A0D4-B3DE-00EC-E2043E4DBA4B}"/>
              </a:ext>
            </a:extLst>
          </p:cNvPr>
          <p:cNvSpPr/>
          <p:nvPr/>
        </p:nvSpPr>
        <p:spPr>
          <a:xfrm>
            <a:off x="422452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3" name="Rectangle 192">
            <a:extLst>
              <a:ext uri="{FF2B5EF4-FFF2-40B4-BE49-F238E27FC236}">
                <a16:creationId xmlns:a16="http://schemas.microsoft.com/office/drawing/2014/main" id="{05B25221-BC4F-C954-C77D-64BAAE233914}"/>
              </a:ext>
            </a:extLst>
          </p:cNvPr>
          <p:cNvSpPr/>
          <p:nvPr/>
        </p:nvSpPr>
        <p:spPr>
          <a:xfrm>
            <a:off x="435254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5" name="Rectangle 194">
            <a:extLst>
              <a:ext uri="{FF2B5EF4-FFF2-40B4-BE49-F238E27FC236}">
                <a16:creationId xmlns:a16="http://schemas.microsoft.com/office/drawing/2014/main" id="{119561B8-CCA5-A2A1-EE04-3003DE271F8B}"/>
              </a:ext>
            </a:extLst>
          </p:cNvPr>
          <p:cNvSpPr/>
          <p:nvPr/>
        </p:nvSpPr>
        <p:spPr>
          <a:xfrm>
            <a:off x="448056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7" name="Rectangle 196">
            <a:extLst>
              <a:ext uri="{FF2B5EF4-FFF2-40B4-BE49-F238E27FC236}">
                <a16:creationId xmlns:a16="http://schemas.microsoft.com/office/drawing/2014/main" id="{D1188A91-0142-79A2-1B36-85C222D6C6E5}"/>
              </a:ext>
            </a:extLst>
          </p:cNvPr>
          <p:cNvSpPr/>
          <p:nvPr/>
        </p:nvSpPr>
        <p:spPr>
          <a:xfrm>
            <a:off x="460857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9" name="Rectangle 198">
            <a:extLst>
              <a:ext uri="{FF2B5EF4-FFF2-40B4-BE49-F238E27FC236}">
                <a16:creationId xmlns:a16="http://schemas.microsoft.com/office/drawing/2014/main" id="{7BF521FB-E3BA-F367-1054-224EEDCA2979}"/>
              </a:ext>
            </a:extLst>
          </p:cNvPr>
          <p:cNvSpPr/>
          <p:nvPr/>
        </p:nvSpPr>
        <p:spPr>
          <a:xfrm>
            <a:off x="473659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1" name="Rectangle 200">
            <a:extLst>
              <a:ext uri="{FF2B5EF4-FFF2-40B4-BE49-F238E27FC236}">
                <a16:creationId xmlns:a16="http://schemas.microsoft.com/office/drawing/2014/main" id="{842E861C-1B64-75B9-7B41-ED66516AF69C}"/>
              </a:ext>
            </a:extLst>
          </p:cNvPr>
          <p:cNvSpPr/>
          <p:nvPr/>
        </p:nvSpPr>
        <p:spPr>
          <a:xfrm>
            <a:off x="76809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3" name="Rectangle 202">
            <a:extLst>
              <a:ext uri="{FF2B5EF4-FFF2-40B4-BE49-F238E27FC236}">
                <a16:creationId xmlns:a16="http://schemas.microsoft.com/office/drawing/2014/main" id="{9D33DA41-FB06-0ED1-D6BC-F6B65227A087}"/>
              </a:ext>
            </a:extLst>
          </p:cNvPr>
          <p:cNvSpPr/>
          <p:nvPr/>
        </p:nvSpPr>
        <p:spPr>
          <a:xfrm>
            <a:off x="89611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5" name="Rectangle 204">
            <a:extLst>
              <a:ext uri="{FF2B5EF4-FFF2-40B4-BE49-F238E27FC236}">
                <a16:creationId xmlns:a16="http://schemas.microsoft.com/office/drawing/2014/main" id="{001724B8-5909-B9E2-7209-A03065FC9951}"/>
              </a:ext>
            </a:extLst>
          </p:cNvPr>
          <p:cNvSpPr/>
          <p:nvPr/>
        </p:nvSpPr>
        <p:spPr>
          <a:xfrm>
            <a:off x="102412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7" name="Rectangle 206">
            <a:extLst>
              <a:ext uri="{FF2B5EF4-FFF2-40B4-BE49-F238E27FC236}">
                <a16:creationId xmlns:a16="http://schemas.microsoft.com/office/drawing/2014/main" id="{65BFE586-EE66-EC36-CF4A-438A30EBF809}"/>
              </a:ext>
            </a:extLst>
          </p:cNvPr>
          <p:cNvSpPr/>
          <p:nvPr/>
        </p:nvSpPr>
        <p:spPr>
          <a:xfrm>
            <a:off x="115214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9" name="Rectangle 208">
            <a:extLst>
              <a:ext uri="{FF2B5EF4-FFF2-40B4-BE49-F238E27FC236}">
                <a16:creationId xmlns:a16="http://schemas.microsoft.com/office/drawing/2014/main" id="{D286F8A8-B951-0D5D-4838-C1065670C05C}"/>
              </a:ext>
            </a:extLst>
          </p:cNvPr>
          <p:cNvSpPr/>
          <p:nvPr/>
        </p:nvSpPr>
        <p:spPr>
          <a:xfrm>
            <a:off x="128016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1" name="Rectangle 210">
            <a:extLst>
              <a:ext uri="{FF2B5EF4-FFF2-40B4-BE49-F238E27FC236}">
                <a16:creationId xmlns:a16="http://schemas.microsoft.com/office/drawing/2014/main" id="{48231DC3-133F-CB69-3DBC-910DBF74D608}"/>
              </a:ext>
            </a:extLst>
          </p:cNvPr>
          <p:cNvSpPr/>
          <p:nvPr/>
        </p:nvSpPr>
        <p:spPr>
          <a:xfrm>
            <a:off x="140817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3" name="Rectangle 212">
            <a:extLst>
              <a:ext uri="{FF2B5EF4-FFF2-40B4-BE49-F238E27FC236}">
                <a16:creationId xmlns:a16="http://schemas.microsoft.com/office/drawing/2014/main" id="{57756B38-8F6F-41E3-5E10-467F85FAAD09}"/>
              </a:ext>
            </a:extLst>
          </p:cNvPr>
          <p:cNvSpPr/>
          <p:nvPr/>
        </p:nvSpPr>
        <p:spPr>
          <a:xfrm>
            <a:off x="153619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5" name="Rectangle 214">
            <a:extLst>
              <a:ext uri="{FF2B5EF4-FFF2-40B4-BE49-F238E27FC236}">
                <a16:creationId xmlns:a16="http://schemas.microsoft.com/office/drawing/2014/main" id="{B9FE9CD5-7150-E70A-1298-ECB30FC4AE4F}"/>
              </a:ext>
            </a:extLst>
          </p:cNvPr>
          <p:cNvSpPr/>
          <p:nvPr/>
        </p:nvSpPr>
        <p:spPr>
          <a:xfrm>
            <a:off x="166420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7" name="Rectangle 216">
            <a:extLst>
              <a:ext uri="{FF2B5EF4-FFF2-40B4-BE49-F238E27FC236}">
                <a16:creationId xmlns:a16="http://schemas.microsoft.com/office/drawing/2014/main" id="{791C88C1-ED1A-F08F-3968-E8459847A2B6}"/>
              </a:ext>
            </a:extLst>
          </p:cNvPr>
          <p:cNvSpPr/>
          <p:nvPr/>
        </p:nvSpPr>
        <p:spPr>
          <a:xfrm>
            <a:off x="179222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9" name="Rectangle 218">
            <a:extLst>
              <a:ext uri="{FF2B5EF4-FFF2-40B4-BE49-F238E27FC236}">
                <a16:creationId xmlns:a16="http://schemas.microsoft.com/office/drawing/2014/main" id="{E1E2632E-D544-F042-70FD-A6BD2E8C136B}"/>
              </a:ext>
            </a:extLst>
          </p:cNvPr>
          <p:cNvSpPr/>
          <p:nvPr/>
        </p:nvSpPr>
        <p:spPr>
          <a:xfrm>
            <a:off x="192024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1" name="Rectangle 220">
            <a:extLst>
              <a:ext uri="{FF2B5EF4-FFF2-40B4-BE49-F238E27FC236}">
                <a16:creationId xmlns:a16="http://schemas.microsoft.com/office/drawing/2014/main" id="{DC816B3F-DA22-9563-E7F5-70B8F32C4200}"/>
              </a:ext>
            </a:extLst>
          </p:cNvPr>
          <p:cNvSpPr/>
          <p:nvPr/>
        </p:nvSpPr>
        <p:spPr>
          <a:xfrm>
            <a:off x="204825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3" name="Rectangle 222">
            <a:extLst>
              <a:ext uri="{FF2B5EF4-FFF2-40B4-BE49-F238E27FC236}">
                <a16:creationId xmlns:a16="http://schemas.microsoft.com/office/drawing/2014/main" id="{4A57EC30-531D-6917-D0BB-55CBAECF858C}"/>
              </a:ext>
            </a:extLst>
          </p:cNvPr>
          <p:cNvSpPr/>
          <p:nvPr/>
        </p:nvSpPr>
        <p:spPr>
          <a:xfrm>
            <a:off x="217627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5" name="Rectangle 224">
            <a:extLst>
              <a:ext uri="{FF2B5EF4-FFF2-40B4-BE49-F238E27FC236}">
                <a16:creationId xmlns:a16="http://schemas.microsoft.com/office/drawing/2014/main" id="{DDF1062E-2DE3-61AC-F4DE-C624495C02E1}"/>
              </a:ext>
            </a:extLst>
          </p:cNvPr>
          <p:cNvSpPr/>
          <p:nvPr/>
        </p:nvSpPr>
        <p:spPr>
          <a:xfrm>
            <a:off x="230428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7" name="Rectangle 226">
            <a:extLst>
              <a:ext uri="{FF2B5EF4-FFF2-40B4-BE49-F238E27FC236}">
                <a16:creationId xmlns:a16="http://schemas.microsoft.com/office/drawing/2014/main" id="{DB3CC976-B7CD-E7F4-D3C2-F98C716D5EE1}"/>
              </a:ext>
            </a:extLst>
          </p:cNvPr>
          <p:cNvSpPr/>
          <p:nvPr/>
        </p:nvSpPr>
        <p:spPr>
          <a:xfrm>
            <a:off x="243230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9" name="Rectangle 228">
            <a:extLst>
              <a:ext uri="{FF2B5EF4-FFF2-40B4-BE49-F238E27FC236}">
                <a16:creationId xmlns:a16="http://schemas.microsoft.com/office/drawing/2014/main" id="{2465ADE9-E172-75C0-AE32-CD1AAC21D3BC}"/>
              </a:ext>
            </a:extLst>
          </p:cNvPr>
          <p:cNvSpPr/>
          <p:nvPr/>
        </p:nvSpPr>
        <p:spPr>
          <a:xfrm>
            <a:off x="256032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1" name="Rectangle 230">
            <a:extLst>
              <a:ext uri="{FF2B5EF4-FFF2-40B4-BE49-F238E27FC236}">
                <a16:creationId xmlns:a16="http://schemas.microsoft.com/office/drawing/2014/main" id="{CEB015E0-84C0-A5EE-BC75-12793A46D221}"/>
              </a:ext>
            </a:extLst>
          </p:cNvPr>
          <p:cNvSpPr/>
          <p:nvPr/>
        </p:nvSpPr>
        <p:spPr>
          <a:xfrm>
            <a:off x="268833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3" name="Rectangle 232">
            <a:extLst>
              <a:ext uri="{FF2B5EF4-FFF2-40B4-BE49-F238E27FC236}">
                <a16:creationId xmlns:a16="http://schemas.microsoft.com/office/drawing/2014/main" id="{2981BE54-E084-1002-C67C-5AFD53E28E24}"/>
              </a:ext>
            </a:extLst>
          </p:cNvPr>
          <p:cNvSpPr/>
          <p:nvPr/>
        </p:nvSpPr>
        <p:spPr>
          <a:xfrm>
            <a:off x="281635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5" name="Rectangle 234">
            <a:extLst>
              <a:ext uri="{FF2B5EF4-FFF2-40B4-BE49-F238E27FC236}">
                <a16:creationId xmlns:a16="http://schemas.microsoft.com/office/drawing/2014/main" id="{808A894F-5FA0-84BF-E4FC-B0D341104CDA}"/>
              </a:ext>
            </a:extLst>
          </p:cNvPr>
          <p:cNvSpPr/>
          <p:nvPr/>
        </p:nvSpPr>
        <p:spPr>
          <a:xfrm>
            <a:off x="294436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7" name="Rectangle 236">
            <a:extLst>
              <a:ext uri="{FF2B5EF4-FFF2-40B4-BE49-F238E27FC236}">
                <a16:creationId xmlns:a16="http://schemas.microsoft.com/office/drawing/2014/main" id="{4CC0AAAB-F379-D219-04BB-2AE2583D72B3}"/>
              </a:ext>
            </a:extLst>
          </p:cNvPr>
          <p:cNvSpPr/>
          <p:nvPr/>
        </p:nvSpPr>
        <p:spPr>
          <a:xfrm>
            <a:off x="307238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9" name="Rectangle 238">
            <a:extLst>
              <a:ext uri="{FF2B5EF4-FFF2-40B4-BE49-F238E27FC236}">
                <a16:creationId xmlns:a16="http://schemas.microsoft.com/office/drawing/2014/main" id="{0AF75D3D-AEA6-0E72-0829-23D54223D154}"/>
              </a:ext>
            </a:extLst>
          </p:cNvPr>
          <p:cNvSpPr/>
          <p:nvPr/>
        </p:nvSpPr>
        <p:spPr>
          <a:xfrm>
            <a:off x="320040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1" name="Rectangle 240">
            <a:extLst>
              <a:ext uri="{FF2B5EF4-FFF2-40B4-BE49-F238E27FC236}">
                <a16:creationId xmlns:a16="http://schemas.microsoft.com/office/drawing/2014/main" id="{E1E49131-F83B-3E24-2F5A-6B903E45144F}"/>
              </a:ext>
            </a:extLst>
          </p:cNvPr>
          <p:cNvSpPr/>
          <p:nvPr/>
        </p:nvSpPr>
        <p:spPr>
          <a:xfrm>
            <a:off x="332841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3" name="Rectangle 242">
            <a:extLst>
              <a:ext uri="{FF2B5EF4-FFF2-40B4-BE49-F238E27FC236}">
                <a16:creationId xmlns:a16="http://schemas.microsoft.com/office/drawing/2014/main" id="{28BCA0FA-B919-7C44-E6C2-6E493A3DC678}"/>
              </a:ext>
            </a:extLst>
          </p:cNvPr>
          <p:cNvSpPr/>
          <p:nvPr/>
        </p:nvSpPr>
        <p:spPr>
          <a:xfrm>
            <a:off x="345643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5" name="Rectangle 244">
            <a:extLst>
              <a:ext uri="{FF2B5EF4-FFF2-40B4-BE49-F238E27FC236}">
                <a16:creationId xmlns:a16="http://schemas.microsoft.com/office/drawing/2014/main" id="{DE23AAFF-F3D7-6791-D901-71CA509E225F}"/>
              </a:ext>
            </a:extLst>
          </p:cNvPr>
          <p:cNvSpPr/>
          <p:nvPr/>
        </p:nvSpPr>
        <p:spPr>
          <a:xfrm>
            <a:off x="358444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7" name="Rectangle 246">
            <a:extLst>
              <a:ext uri="{FF2B5EF4-FFF2-40B4-BE49-F238E27FC236}">
                <a16:creationId xmlns:a16="http://schemas.microsoft.com/office/drawing/2014/main" id="{94C107FF-BA59-1E3A-8F68-5FF7853A179A}"/>
              </a:ext>
            </a:extLst>
          </p:cNvPr>
          <p:cNvSpPr/>
          <p:nvPr/>
        </p:nvSpPr>
        <p:spPr>
          <a:xfrm>
            <a:off x="371246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9" name="Rectangle 248">
            <a:extLst>
              <a:ext uri="{FF2B5EF4-FFF2-40B4-BE49-F238E27FC236}">
                <a16:creationId xmlns:a16="http://schemas.microsoft.com/office/drawing/2014/main" id="{B1137A6E-C075-149B-F1C9-DA4F40C50E85}"/>
              </a:ext>
            </a:extLst>
          </p:cNvPr>
          <p:cNvSpPr/>
          <p:nvPr/>
        </p:nvSpPr>
        <p:spPr>
          <a:xfrm>
            <a:off x="384048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1" name="Rectangle 250">
            <a:extLst>
              <a:ext uri="{FF2B5EF4-FFF2-40B4-BE49-F238E27FC236}">
                <a16:creationId xmlns:a16="http://schemas.microsoft.com/office/drawing/2014/main" id="{990637E4-D621-278E-E716-5085C9B1DBF7}"/>
              </a:ext>
            </a:extLst>
          </p:cNvPr>
          <p:cNvSpPr/>
          <p:nvPr/>
        </p:nvSpPr>
        <p:spPr>
          <a:xfrm>
            <a:off x="396849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3" name="Rectangle 252">
            <a:extLst>
              <a:ext uri="{FF2B5EF4-FFF2-40B4-BE49-F238E27FC236}">
                <a16:creationId xmlns:a16="http://schemas.microsoft.com/office/drawing/2014/main" id="{FF10EDC9-5036-31E4-652C-A0839C8F22E1}"/>
              </a:ext>
            </a:extLst>
          </p:cNvPr>
          <p:cNvSpPr/>
          <p:nvPr/>
        </p:nvSpPr>
        <p:spPr>
          <a:xfrm>
            <a:off x="409651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5" name="Rectangle 254">
            <a:extLst>
              <a:ext uri="{FF2B5EF4-FFF2-40B4-BE49-F238E27FC236}">
                <a16:creationId xmlns:a16="http://schemas.microsoft.com/office/drawing/2014/main" id="{0E187682-0B6F-949E-7256-6ABE94426843}"/>
              </a:ext>
            </a:extLst>
          </p:cNvPr>
          <p:cNvSpPr/>
          <p:nvPr/>
        </p:nvSpPr>
        <p:spPr>
          <a:xfrm>
            <a:off x="422452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7" name="Rectangle 256">
            <a:extLst>
              <a:ext uri="{FF2B5EF4-FFF2-40B4-BE49-F238E27FC236}">
                <a16:creationId xmlns:a16="http://schemas.microsoft.com/office/drawing/2014/main" id="{E64B2ACF-F9AF-F858-D0D4-701E0D0F7831}"/>
              </a:ext>
            </a:extLst>
          </p:cNvPr>
          <p:cNvSpPr/>
          <p:nvPr/>
        </p:nvSpPr>
        <p:spPr>
          <a:xfrm>
            <a:off x="435254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9" name="Rectangle 258">
            <a:extLst>
              <a:ext uri="{FF2B5EF4-FFF2-40B4-BE49-F238E27FC236}">
                <a16:creationId xmlns:a16="http://schemas.microsoft.com/office/drawing/2014/main" id="{0084C763-AB8A-38E4-CD04-50A4980E45F5}"/>
              </a:ext>
            </a:extLst>
          </p:cNvPr>
          <p:cNvSpPr/>
          <p:nvPr/>
        </p:nvSpPr>
        <p:spPr>
          <a:xfrm>
            <a:off x="448056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1" name="Rectangle 260">
            <a:extLst>
              <a:ext uri="{FF2B5EF4-FFF2-40B4-BE49-F238E27FC236}">
                <a16:creationId xmlns:a16="http://schemas.microsoft.com/office/drawing/2014/main" id="{5D1135DA-3B07-B394-6AC2-02A5EEED19EE}"/>
              </a:ext>
            </a:extLst>
          </p:cNvPr>
          <p:cNvSpPr/>
          <p:nvPr/>
        </p:nvSpPr>
        <p:spPr>
          <a:xfrm>
            <a:off x="460857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3" name="Rectangle 262">
            <a:extLst>
              <a:ext uri="{FF2B5EF4-FFF2-40B4-BE49-F238E27FC236}">
                <a16:creationId xmlns:a16="http://schemas.microsoft.com/office/drawing/2014/main" id="{35D42B5E-EE5D-63B0-CB07-9B6E82173E14}"/>
              </a:ext>
            </a:extLst>
          </p:cNvPr>
          <p:cNvSpPr/>
          <p:nvPr/>
        </p:nvSpPr>
        <p:spPr>
          <a:xfrm>
            <a:off x="473659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5" name="Rectangle 264">
            <a:extLst>
              <a:ext uri="{FF2B5EF4-FFF2-40B4-BE49-F238E27FC236}">
                <a16:creationId xmlns:a16="http://schemas.microsoft.com/office/drawing/2014/main" id="{FC7DA273-DD2E-6050-8511-2B66FC0D2E36}"/>
              </a:ext>
            </a:extLst>
          </p:cNvPr>
          <p:cNvSpPr/>
          <p:nvPr/>
        </p:nvSpPr>
        <p:spPr>
          <a:xfrm>
            <a:off x="76809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7" name="Rectangle 266">
            <a:extLst>
              <a:ext uri="{FF2B5EF4-FFF2-40B4-BE49-F238E27FC236}">
                <a16:creationId xmlns:a16="http://schemas.microsoft.com/office/drawing/2014/main" id="{D2CAA028-494D-F91D-D761-E743FCBC830F}"/>
              </a:ext>
            </a:extLst>
          </p:cNvPr>
          <p:cNvSpPr/>
          <p:nvPr/>
        </p:nvSpPr>
        <p:spPr>
          <a:xfrm>
            <a:off x="89611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9" name="Rectangle 268">
            <a:extLst>
              <a:ext uri="{FF2B5EF4-FFF2-40B4-BE49-F238E27FC236}">
                <a16:creationId xmlns:a16="http://schemas.microsoft.com/office/drawing/2014/main" id="{DE5BD873-6DA4-5700-BF9B-A5ECC069236D}"/>
              </a:ext>
            </a:extLst>
          </p:cNvPr>
          <p:cNvSpPr/>
          <p:nvPr/>
        </p:nvSpPr>
        <p:spPr>
          <a:xfrm>
            <a:off x="102412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1" name="Rectangle 270">
            <a:extLst>
              <a:ext uri="{FF2B5EF4-FFF2-40B4-BE49-F238E27FC236}">
                <a16:creationId xmlns:a16="http://schemas.microsoft.com/office/drawing/2014/main" id="{1A1DA649-7191-010C-68CD-DB06AFF4EB3C}"/>
              </a:ext>
            </a:extLst>
          </p:cNvPr>
          <p:cNvSpPr/>
          <p:nvPr/>
        </p:nvSpPr>
        <p:spPr>
          <a:xfrm>
            <a:off x="115214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3" name="Rectangle 272">
            <a:extLst>
              <a:ext uri="{FF2B5EF4-FFF2-40B4-BE49-F238E27FC236}">
                <a16:creationId xmlns:a16="http://schemas.microsoft.com/office/drawing/2014/main" id="{6EB0D9CB-0623-E12D-B120-4CF8B084DD6F}"/>
              </a:ext>
            </a:extLst>
          </p:cNvPr>
          <p:cNvSpPr/>
          <p:nvPr/>
        </p:nvSpPr>
        <p:spPr>
          <a:xfrm>
            <a:off x="128016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5" name="Rectangle 274">
            <a:extLst>
              <a:ext uri="{FF2B5EF4-FFF2-40B4-BE49-F238E27FC236}">
                <a16:creationId xmlns:a16="http://schemas.microsoft.com/office/drawing/2014/main" id="{22797740-A9A6-C07D-6894-BB7889575D0E}"/>
              </a:ext>
            </a:extLst>
          </p:cNvPr>
          <p:cNvSpPr/>
          <p:nvPr/>
        </p:nvSpPr>
        <p:spPr>
          <a:xfrm>
            <a:off x="140817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7" name="Rectangle 276">
            <a:extLst>
              <a:ext uri="{FF2B5EF4-FFF2-40B4-BE49-F238E27FC236}">
                <a16:creationId xmlns:a16="http://schemas.microsoft.com/office/drawing/2014/main" id="{C2F9A2DA-8457-59EA-B88D-03725473D00E}"/>
              </a:ext>
            </a:extLst>
          </p:cNvPr>
          <p:cNvSpPr/>
          <p:nvPr/>
        </p:nvSpPr>
        <p:spPr>
          <a:xfrm>
            <a:off x="153619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9" name="Rectangle 278">
            <a:extLst>
              <a:ext uri="{FF2B5EF4-FFF2-40B4-BE49-F238E27FC236}">
                <a16:creationId xmlns:a16="http://schemas.microsoft.com/office/drawing/2014/main" id="{9C276126-F04A-CFFA-90A6-9973064BD993}"/>
              </a:ext>
            </a:extLst>
          </p:cNvPr>
          <p:cNvSpPr/>
          <p:nvPr/>
        </p:nvSpPr>
        <p:spPr>
          <a:xfrm>
            <a:off x="166420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1" name="Rectangle 280">
            <a:extLst>
              <a:ext uri="{FF2B5EF4-FFF2-40B4-BE49-F238E27FC236}">
                <a16:creationId xmlns:a16="http://schemas.microsoft.com/office/drawing/2014/main" id="{43014013-B9AC-BF0E-01F8-2D54304F5D0F}"/>
              </a:ext>
            </a:extLst>
          </p:cNvPr>
          <p:cNvSpPr/>
          <p:nvPr/>
        </p:nvSpPr>
        <p:spPr>
          <a:xfrm>
            <a:off x="179222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3" name="Rectangle 282">
            <a:extLst>
              <a:ext uri="{FF2B5EF4-FFF2-40B4-BE49-F238E27FC236}">
                <a16:creationId xmlns:a16="http://schemas.microsoft.com/office/drawing/2014/main" id="{6B8A1ABD-7EDA-BCCE-0554-23D9C362FDF4}"/>
              </a:ext>
            </a:extLst>
          </p:cNvPr>
          <p:cNvSpPr/>
          <p:nvPr/>
        </p:nvSpPr>
        <p:spPr>
          <a:xfrm>
            <a:off x="192024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5" name="Rectangle 284">
            <a:extLst>
              <a:ext uri="{FF2B5EF4-FFF2-40B4-BE49-F238E27FC236}">
                <a16:creationId xmlns:a16="http://schemas.microsoft.com/office/drawing/2014/main" id="{67846764-78E3-7FEA-6B40-0C718DEB3AC7}"/>
              </a:ext>
            </a:extLst>
          </p:cNvPr>
          <p:cNvSpPr/>
          <p:nvPr/>
        </p:nvSpPr>
        <p:spPr>
          <a:xfrm>
            <a:off x="204825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7" name="Rectangle 286">
            <a:extLst>
              <a:ext uri="{FF2B5EF4-FFF2-40B4-BE49-F238E27FC236}">
                <a16:creationId xmlns:a16="http://schemas.microsoft.com/office/drawing/2014/main" id="{9E477F46-2352-4FF9-AC7B-ABBE54E34E12}"/>
              </a:ext>
            </a:extLst>
          </p:cNvPr>
          <p:cNvSpPr/>
          <p:nvPr/>
        </p:nvSpPr>
        <p:spPr>
          <a:xfrm>
            <a:off x="217627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9" name="Rectangle 288">
            <a:extLst>
              <a:ext uri="{FF2B5EF4-FFF2-40B4-BE49-F238E27FC236}">
                <a16:creationId xmlns:a16="http://schemas.microsoft.com/office/drawing/2014/main" id="{6A6A7AEE-E773-D571-9931-865E82051C17}"/>
              </a:ext>
            </a:extLst>
          </p:cNvPr>
          <p:cNvSpPr/>
          <p:nvPr/>
        </p:nvSpPr>
        <p:spPr>
          <a:xfrm>
            <a:off x="230428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1" name="Rectangle 290">
            <a:extLst>
              <a:ext uri="{FF2B5EF4-FFF2-40B4-BE49-F238E27FC236}">
                <a16:creationId xmlns:a16="http://schemas.microsoft.com/office/drawing/2014/main" id="{61E3188B-CAD6-D2B3-EBBC-018B48BA34BF}"/>
              </a:ext>
            </a:extLst>
          </p:cNvPr>
          <p:cNvSpPr/>
          <p:nvPr/>
        </p:nvSpPr>
        <p:spPr>
          <a:xfrm>
            <a:off x="243230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3" name="Rectangle 292">
            <a:extLst>
              <a:ext uri="{FF2B5EF4-FFF2-40B4-BE49-F238E27FC236}">
                <a16:creationId xmlns:a16="http://schemas.microsoft.com/office/drawing/2014/main" id="{E7870546-44F5-7C1A-E111-C7C9D9D8C7ED}"/>
              </a:ext>
            </a:extLst>
          </p:cNvPr>
          <p:cNvSpPr/>
          <p:nvPr/>
        </p:nvSpPr>
        <p:spPr>
          <a:xfrm>
            <a:off x="256032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5" name="Rectangle 294">
            <a:extLst>
              <a:ext uri="{FF2B5EF4-FFF2-40B4-BE49-F238E27FC236}">
                <a16:creationId xmlns:a16="http://schemas.microsoft.com/office/drawing/2014/main" id="{1ADECD0C-677A-459E-7FE0-1BC22C857A67}"/>
              </a:ext>
            </a:extLst>
          </p:cNvPr>
          <p:cNvSpPr/>
          <p:nvPr/>
        </p:nvSpPr>
        <p:spPr>
          <a:xfrm>
            <a:off x="268833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7" name="Rectangle 296">
            <a:extLst>
              <a:ext uri="{FF2B5EF4-FFF2-40B4-BE49-F238E27FC236}">
                <a16:creationId xmlns:a16="http://schemas.microsoft.com/office/drawing/2014/main" id="{96DDD753-5088-9379-16F7-E40038915780}"/>
              </a:ext>
            </a:extLst>
          </p:cNvPr>
          <p:cNvSpPr/>
          <p:nvPr/>
        </p:nvSpPr>
        <p:spPr>
          <a:xfrm>
            <a:off x="281635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9" name="Rectangle 298">
            <a:extLst>
              <a:ext uri="{FF2B5EF4-FFF2-40B4-BE49-F238E27FC236}">
                <a16:creationId xmlns:a16="http://schemas.microsoft.com/office/drawing/2014/main" id="{39332A7A-9374-322B-3AEF-9C8FE2E7ECEE}"/>
              </a:ext>
            </a:extLst>
          </p:cNvPr>
          <p:cNvSpPr/>
          <p:nvPr/>
        </p:nvSpPr>
        <p:spPr>
          <a:xfrm>
            <a:off x="294436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1" name="Rectangle 300">
            <a:extLst>
              <a:ext uri="{FF2B5EF4-FFF2-40B4-BE49-F238E27FC236}">
                <a16:creationId xmlns:a16="http://schemas.microsoft.com/office/drawing/2014/main" id="{7F175D68-D0F0-22A7-5400-6820027E28F9}"/>
              </a:ext>
            </a:extLst>
          </p:cNvPr>
          <p:cNvSpPr/>
          <p:nvPr/>
        </p:nvSpPr>
        <p:spPr>
          <a:xfrm>
            <a:off x="307238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3" name="Rectangle 302">
            <a:extLst>
              <a:ext uri="{FF2B5EF4-FFF2-40B4-BE49-F238E27FC236}">
                <a16:creationId xmlns:a16="http://schemas.microsoft.com/office/drawing/2014/main" id="{CF4A4110-1F0A-D107-2F30-3C0F133E47B9}"/>
              </a:ext>
            </a:extLst>
          </p:cNvPr>
          <p:cNvSpPr/>
          <p:nvPr/>
        </p:nvSpPr>
        <p:spPr>
          <a:xfrm>
            <a:off x="320040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5" name="Rectangle 304">
            <a:extLst>
              <a:ext uri="{FF2B5EF4-FFF2-40B4-BE49-F238E27FC236}">
                <a16:creationId xmlns:a16="http://schemas.microsoft.com/office/drawing/2014/main" id="{E7986C62-B39A-0D59-963B-CBD98BE311C9}"/>
              </a:ext>
            </a:extLst>
          </p:cNvPr>
          <p:cNvSpPr/>
          <p:nvPr/>
        </p:nvSpPr>
        <p:spPr>
          <a:xfrm>
            <a:off x="332841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7" name="Rectangle 306">
            <a:extLst>
              <a:ext uri="{FF2B5EF4-FFF2-40B4-BE49-F238E27FC236}">
                <a16:creationId xmlns:a16="http://schemas.microsoft.com/office/drawing/2014/main" id="{A7C86654-CD8B-D4B4-CF6C-23FF89D33E54}"/>
              </a:ext>
            </a:extLst>
          </p:cNvPr>
          <p:cNvSpPr/>
          <p:nvPr/>
        </p:nvSpPr>
        <p:spPr>
          <a:xfrm>
            <a:off x="345643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9" name="Rectangle 308">
            <a:extLst>
              <a:ext uri="{FF2B5EF4-FFF2-40B4-BE49-F238E27FC236}">
                <a16:creationId xmlns:a16="http://schemas.microsoft.com/office/drawing/2014/main" id="{DD731721-DC34-E05A-3280-F21A850A6522}"/>
              </a:ext>
            </a:extLst>
          </p:cNvPr>
          <p:cNvSpPr/>
          <p:nvPr/>
        </p:nvSpPr>
        <p:spPr>
          <a:xfrm>
            <a:off x="358444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1" name="Rectangle 310">
            <a:extLst>
              <a:ext uri="{FF2B5EF4-FFF2-40B4-BE49-F238E27FC236}">
                <a16:creationId xmlns:a16="http://schemas.microsoft.com/office/drawing/2014/main" id="{13CA328C-082A-C542-5EB9-30FD15151419}"/>
              </a:ext>
            </a:extLst>
          </p:cNvPr>
          <p:cNvSpPr/>
          <p:nvPr/>
        </p:nvSpPr>
        <p:spPr>
          <a:xfrm>
            <a:off x="371246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3" name="Rectangle 312">
            <a:extLst>
              <a:ext uri="{FF2B5EF4-FFF2-40B4-BE49-F238E27FC236}">
                <a16:creationId xmlns:a16="http://schemas.microsoft.com/office/drawing/2014/main" id="{E0B74159-8818-A9E5-6BC5-DFA8C125D853}"/>
              </a:ext>
            </a:extLst>
          </p:cNvPr>
          <p:cNvSpPr/>
          <p:nvPr/>
        </p:nvSpPr>
        <p:spPr>
          <a:xfrm>
            <a:off x="384048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5" name="Rectangle 314">
            <a:extLst>
              <a:ext uri="{FF2B5EF4-FFF2-40B4-BE49-F238E27FC236}">
                <a16:creationId xmlns:a16="http://schemas.microsoft.com/office/drawing/2014/main" id="{2FC5D549-A9EC-7B48-3761-FAA263EBDB99}"/>
              </a:ext>
            </a:extLst>
          </p:cNvPr>
          <p:cNvSpPr/>
          <p:nvPr/>
        </p:nvSpPr>
        <p:spPr>
          <a:xfrm>
            <a:off x="396849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7" name="Rectangle 316">
            <a:extLst>
              <a:ext uri="{FF2B5EF4-FFF2-40B4-BE49-F238E27FC236}">
                <a16:creationId xmlns:a16="http://schemas.microsoft.com/office/drawing/2014/main" id="{1A03BC0B-5B37-C409-E1FB-00A215FE7367}"/>
              </a:ext>
            </a:extLst>
          </p:cNvPr>
          <p:cNvSpPr/>
          <p:nvPr/>
        </p:nvSpPr>
        <p:spPr>
          <a:xfrm>
            <a:off x="409651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9" name="Rectangle 318">
            <a:extLst>
              <a:ext uri="{FF2B5EF4-FFF2-40B4-BE49-F238E27FC236}">
                <a16:creationId xmlns:a16="http://schemas.microsoft.com/office/drawing/2014/main" id="{09331E72-12C1-9D3B-017F-F8BD60ED8ABC}"/>
              </a:ext>
            </a:extLst>
          </p:cNvPr>
          <p:cNvSpPr/>
          <p:nvPr/>
        </p:nvSpPr>
        <p:spPr>
          <a:xfrm>
            <a:off x="422452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1" name="Rectangle 320">
            <a:extLst>
              <a:ext uri="{FF2B5EF4-FFF2-40B4-BE49-F238E27FC236}">
                <a16:creationId xmlns:a16="http://schemas.microsoft.com/office/drawing/2014/main" id="{ACB250D3-3A5D-881A-CEF9-260F7A500E04}"/>
              </a:ext>
            </a:extLst>
          </p:cNvPr>
          <p:cNvSpPr/>
          <p:nvPr/>
        </p:nvSpPr>
        <p:spPr>
          <a:xfrm>
            <a:off x="435254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3" name="Rectangle 322">
            <a:extLst>
              <a:ext uri="{FF2B5EF4-FFF2-40B4-BE49-F238E27FC236}">
                <a16:creationId xmlns:a16="http://schemas.microsoft.com/office/drawing/2014/main" id="{FAB9BFF5-B314-C25A-294B-B50491C1E93C}"/>
              </a:ext>
            </a:extLst>
          </p:cNvPr>
          <p:cNvSpPr/>
          <p:nvPr/>
        </p:nvSpPr>
        <p:spPr>
          <a:xfrm>
            <a:off x="448056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5" name="Rectangle 324">
            <a:extLst>
              <a:ext uri="{FF2B5EF4-FFF2-40B4-BE49-F238E27FC236}">
                <a16:creationId xmlns:a16="http://schemas.microsoft.com/office/drawing/2014/main" id="{1CBE7CF5-D5A5-2FB4-6633-0193869C18E9}"/>
              </a:ext>
            </a:extLst>
          </p:cNvPr>
          <p:cNvSpPr/>
          <p:nvPr/>
        </p:nvSpPr>
        <p:spPr>
          <a:xfrm>
            <a:off x="460857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7" name="Rectangle 326">
            <a:extLst>
              <a:ext uri="{FF2B5EF4-FFF2-40B4-BE49-F238E27FC236}">
                <a16:creationId xmlns:a16="http://schemas.microsoft.com/office/drawing/2014/main" id="{CC684E6F-237B-E63A-8A50-2977D9CAA792}"/>
              </a:ext>
            </a:extLst>
          </p:cNvPr>
          <p:cNvSpPr/>
          <p:nvPr/>
        </p:nvSpPr>
        <p:spPr>
          <a:xfrm>
            <a:off x="473659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9" name="Rectangle 328">
            <a:extLst>
              <a:ext uri="{FF2B5EF4-FFF2-40B4-BE49-F238E27FC236}">
                <a16:creationId xmlns:a16="http://schemas.microsoft.com/office/drawing/2014/main" id="{20968581-25FF-A92A-4474-C11040417048}"/>
              </a:ext>
            </a:extLst>
          </p:cNvPr>
          <p:cNvSpPr/>
          <p:nvPr/>
        </p:nvSpPr>
        <p:spPr>
          <a:xfrm>
            <a:off x="76809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1" name="Rectangle 330">
            <a:extLst>
              <a:ext uri="{FF2B5EF4-FFF2-40B4-BE49-F238E27FC236}">
                <a16:creationId xmlns:a16="http://schemas.microsoft.com/office/drawing/2014/main" id="{199C2B09-A3D8-C7BB-D743-E3FC16499FF4}"/>
              </a:ext>
            </a:extLst>
          </p:cNvPr>
          <p:cNvSpPr/>
          <p:nvPr/>
        </p:nvSpPr>
        <p:spPr>
          <a:xfrm>
            <a:off x="89611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3" name="Rectangle 332">
            <a:extLst>
              <a:ext uri="{FF2B5EF4-FFF2-40B4-BE49-F238E27FC236}">
                <a16:creationId xmlns:a16="http://schemas.microsoft.com/office/drawing/2014/main" id="{D7EA2C3B-2F18-CDF8-C52E-5E00DDDF7190}"/>
              </a:ext>
            </a:extLst>
          </p:cNvPr>
          <p:cNvSpPr/>
          <p:nvPr/>
        </p:nvSpPr>
        <p:spPr>
          <a:xfrm>
            <a:off x="102412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5" name="Rectangle 334">
            <a:extLst>
              <a:ext uri="{FF2B5EF4-FFF2-40B4-BE49-F238E27FC236}">
                <a16:creationId xmlns:a16="http://schemas.microsoft.com/office/drawing/2014/main" id="{5F9C848D-7F6A-3B97-EF1E-286909AC02CC}"/>
              </a:ext>
            </a:extLst>
          </p:cNvPr>
          <p:cNvSpPr/>
          <p:nvPr/>
        </p:nvSpPr>
        <p:spPr>
          <a:xfrm>
            <a:off x="115214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7" name="Rectangle 336">
            <a:extLst>
              <a:ext uri="{FF2B5EF4-FFF2-40B4-BE49-F238E27FC236}">
                <a16:creationId xmlns:a16="http://schemas.microsoft.com/office/drawing/2014/main" id="{B934F8FC-7A81-2D8B-2BBC-37E6CAA45BC1}"/>
              </a:ext>
            </a:extLst>
          </p:cNvPr>
          <p:cNvSpPr/>
          <p:nvPr/>
        </p:nvSpPr>
        <p:spPr>
          <a:xfrm>
            <a:off x="128016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9" name="Rectangle 338">
            <a:extLst>
              <a:ext uri="{FF2B5EF4-FFF2-40B4-BE49-F238E27FC236}">
                <a16:creationId xmlns:a16="http://schemas.microsoft.com/office/drawing/2014/main" id="{B134198F-E254-A92A-4489-269BBDDD0A57}"/>
              </a:ext>
            </a:extLst>
          </p:cNvPr>
          <p:cNvSpPr/>
          <p:nvPr/>
        </p:nvSpPr>
        <p:spPr>
          <a:xfrm>
            <a:off x="140817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1" name="Rectangle 340">
            <a:extLst>
              <a:ext uri="{FF2B5EF4-FFF2-40B4-BE49-F238E27FC236}">
                <a16:creationId xmlns:a16="http://schemas.microsoft.com/office/drawing/2014/main" id="{44E052C6-DBAD-C7E6-894E-9C00CF13EACA}"/>
              </a:ext>
            </a:extLst>
          </p:cNvPr>
          <p:cNvSpPr/>
          <p:nvPr/>
        </p:nvSpPr>
        <p:spPr>
          <a:xfrm>
            <a:off x="153619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3" name="Rectangle 342">
            <a:extLst>
              <a:ext uri="{FF2B5EF4-FFF2-40B4-BE49-F238E27FC236}">
                <a16:creationId xmlns:a16="http://schemas.microsoft.com/office/drawing/2014/main" id="{DCF98185-041A-89DF-0EA1-A3A2445F96EE}"/>
              </a:ext>
            </a:extLst>
          </p:cNvPr>
          <p:cNvSpPr/>
          <p:nvPr/>
        </p:nvSpPr>
        <p:spPr>
          <a:xfrm>
            <a:off x="166420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5" name="Rectangle 344">
            <a:extLst>
              <a:ext uri="{FF2B5EF4-FFF2-40B4-BE49-F238E27FC236}">
                <a16:creationId xmlns:a16="http://schemas.microsoft.com/office/drawing/2014/main" id="{2C459362-25CB-B5C5-1743-A38C266ACCBA}"/>
              </a:ext>
            </a:extLst>
          </p:cNvPr>
          <p:cNvSpPr/>
          <p:nvPr/>
        </p:nvSpPr>
        <p:spPr>
          <a:xfrm>
            <a:off x="179222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7" name="Rectangle 346">
            <a:extLst>
              <a:ext uri="{FF2B5EF4-FFF2-40B4-BE49-F238E27FC236}">
                <a16:creationId xmlns:a16="http://schemas.microsoft.com/office/drawing/2014/main" id="{F443B4F0-CA43-5F4A-009C-34B2AFBAC11A}"/>
              </a:ext>
            </a:extLst>
          </p:cNvPr>
          <p:cNvSpPr/>
          <p:nvPr/>
        </p:nvSpPr>
        <p:spPr>
          <a:xfrm>
            <a:off x="192024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9" name="Rectangle 348">
            <a:extLst>
              <a:ext uri="{FF2B5EF4-FFF2-40B4-BE49-F238E27FC236}">
                <a16:creationId xmlns:a16="http://schemas.microsoft.com/office/drawing/2014/main" id="{0878798C-94DF-E954-0221-3DD352A58D11}"/>
              </a:ext>
            </a:extLst>
          </p:cNvPr>
          <p:cNvSpPr/>
          <p:nvPr/>
        </p:nvSpPr>
        <p:spPr>
          <a:xfrm>
            <a:off x="204825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1" name="Rectangle 350">
            <a:extLst>
              <a:ext uri="{FF2B5EF4-FFF2-40B4-BE49-F238E27FC236}">
                <a16:creationId xmlns:a16="http://schemas.microsoft.com/office/drawing/2014/main" id="{F0AD2FB2-44D0-2478-C6CA-655B41FC2104}"/>
              </a:ext>
            </a:extLst>
          </p:cNvPr>
          <p:cNvSpPr/>
          <p:nvPr/>
        </p:nvSpPr>
        <p:spPr>
          <a:xfrm>
            <a:off x="217627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3" name="Rectangle 352">
            <a:extLst>
              <a:ext uri="{FF2B5EF4-FFF2-40B4-BE49-F238E27FC236}">
                <a16:creationId xmlns:a16="http://schemas.microsoft.com/office/drawing/2014/main" id="{18BC8023-6DB4-3ADD-7B3B-C594E61A2501}"/>
              </a:ext>
            </a:extLst>
          </p:cNvPr>
          <p:cNvSpPr/>
          <p:nvPr/>
        </p:nvSpPr>
        <p:spPr>
          <a:xfrm>
            <a:off x="230428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5" name="Rectangle 354">
            <a:extLst>
              <a:ext uri="{FF2B5EF4-FFF2-40B4-BE49-F238E27FC236}">
                <a16:creationId xmlns:a16="http://schemas.microsoft.com/office/drawing/2014/main" id="{B92692B4-D251-D787-A126-69E9220F6F39}"/>
              </a:ext>
            </a:extLst>
          </p:cNvPr>
          <p:cNvSpPr/>
          <p:nvPr/>
        </p:nvSpPr>
        <p:spPr>
          <a:xfrm>
            <a:off x="243230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7" name="Rectangle 356">
            <a:extLst>
              <a:ext uri="{FF2B5EF4-FFF2-40B4-BE49-F238E27FC236}">
                <a16:creationId xmlns:a16="http://schemas.microsoft.com/office/drawing/2014/main" id="{0A16D36C-F806-2578-FABE-C32A0D48060D}"/>
              </a:ext>
            </a:extLst>
          </p:cNvPr>
          <p:cNvSpPr/>
          <p:nvPr/>
        </p:nvSpPr>
        <p:spPr>
          <a:xfrm>
            <a:off x="256032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9" name="Rectangle 358">
            <a:extLst>
              <a:ext uri="{FF2B5EF4-FFF2-40B4-BE49-F238E27FC236}">
                <a16:creationId xmlns:a16="http://schemas.microsoft.com/office/drawing/2014/main" id="{D1864523-C95E-5627-B27A-AA57FD47EBB1}"/>
              </a:ext>
            </a:extLst>
          </p:cNvPr>
          <p:cNvSpPr/>
          <p:nvPr/>
        </p:nvSpPr>
        <p:spPr>
          <a:xfrm>
            <a:off x="268833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1" name="Rectangle 360">
            <a:extLst>
              <a:ext uri="{FF2B5EF4-FFF2-40B4-BE49-F238E27FC236}">
                <a16:creationId xmlns:a16="http://schemas.microsoft.com/office/drawing/2014/main" id="{BFFB6EB4-634B-11BF-19AD-C2CEF160129A}"/>
              </a:ext>
            </a:extLst>
          </p:cNvPr>
          <p:cNvSpPr/>
          <p:nvPr/>
        </p:nvSpPr>
        <p:spPr>
          <a:xfrm>
            <a:off x="281635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3" name="Rectangle 362">
            <a:extLst>
              <a:ext uri="{FF2B5EF4-FFF2-40B4-BE49-F238E27FC236}">
                <a16:creationId xmlns:a16="http://schemas.microsoft.com/office/drawing/2014/main" id="{68EFAF1D-59A5-2A38-8073-1CAD13BDB051}"/>
              </a:ext>
            </a:extLst>
          </p:cNvPr>
          <p:cNvSpPr/>
          <p:nvPr/>
        </p:nvSpPr>
        <p:spPr>
          <a:xfrm>
            <a:off x="294436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5" name="Rectangle 364">
            <a:extLst>
              <a:ext uri="{FF2B5EF4-FFF2-40B4-BE49-F238E27FC236}">
                <a16:creationId xmlns:a16="http://schemas.microsoft.com/office/drawing/2014/main" id="{22CD812F-D04A-519F-BB62-88B9A599988B}"/>
              </a:ext>
            </a:extLst>
          </p:cNvPr>
          <p:cNvSpPr/>
          <p:nvPr/>
        </p:nvSpPr>
        <p:spPr>
          <a:xfrm>
            <a:off x="307238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7" name="Rectangle 366">
            <a:extLst>
              <a:ext uri="{FF2B5EF4-FFF2-40B4-BE49-F238E27FC236}">
                <a16:creationId xmlns:a16="http://schemas.microsoft.com/office/drawing/2014/main" id="{17804C8A-FAB0-0CAB-491B-846AC83BFB09}"/>
              </a:ext>
            </a:extLst>
          </p:cNvPr>
          <p:cNvSpPr/>
          <p:nvPr/>
        </p:nvSpPr>
        <p:spPr>
          <a:xfrm>
            <a:off x="320040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9" name="Rectangle 368">
            <a:extLst>
              <a:ext uri="{FF2B5EF4-FFF2-40B4-BE49-F238E27FC236}">
                <a16:creationId xmlns:a16="http://schemas.microsoft.com/office/drawing/2014/main" id="{C8CA8617-AFC1-E19F-4EE9-5414E289B7AC}"/>
              </a:ext>
            </a:extLst>
          </p:cNvPr>
          <p:cNvSpPr/>
          <p:nvPr/>
        </p:nvSpPr>
        <p:spPr>
          <a:xfrm>
            <a:off x="332841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1" name="Rectangle 370">
            <a:extLst>
              <a:ext uri="{FF2B5EF4-FFF2-40B4-BE49-F238E27FC236}">
                <a16:creationId xmlns:a16="http://schemas.microsoft.com/office/drawing/2014/main" id="{49BAB150-2878-7E7F-BBB9-3EE318F5C976}"/>
              </a:ext>
            </a:extLst>
          </p:cNvPr>
          <p:cNvSpPr/>
          <p:nvPr/>
        </p:nvSpPr>
        <p:spPr>
          <a:xfrm>
            <a:off x="345643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3" name="Rectangle 372">
            <a:extLst>
              <a:ext uri="{FF2B5EF4-FFF2-40B4-BE49-F238E27FC236}">
                <a16:creationId xmlns:a16="http://schemas.microsoft.com/office/drawing/2014/main" id="{594D10C6-C439-D560-417F-5F348CF72019}"/>
              </a:ext>
            </a:extLst>
          </p:cNvPr>
          <p:cNvSpPr/>
          <p:nvPr/>
        </p:nvSpPr>
        <p:spPr>
          <a:xfrm>
            <a:off x="358444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5" name="Rectangle 374">
            <a:extLst>
              <a:ext uri="{FF2B5EF4-FFF2-40B4-BE49-F238E27FC236}">
                <a16:creationId xmlns:a16="http://schemas.microsoft.com/office/drawing/2014/main" id="{8A187637-3F5F-790A-07BE-C35C600DC13E}"/>
              </a:ext>
            </a:extLst>
          </p:cNvPr>
          <p:cNvSpPr/>
          <p:nvPr/>
        </p:nvSpPr>
        <p:spPr>
          <a:xfrm>
            <a:off x="371246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7" name="Rectangle 376">
            <a:extLst>
              <a:ext uri="{FF2B5EF4-FFF2-40B4-BE49-F238E27FC236}">
                <a16:creationId xmlns:a16="http://schemas.microsoft.com/office/drawing/2014/main" id="{DC0A1A48-A962-4526-8E8E-7024A56B13EA}"/>
              </a:ext>
            </a:extLst>
          </p:cNvPr>
          <p:cNvSpPr/>
          <p:nvPr/>
        </p:nvSpPr>
        <p:spPr>
          <a:xfrm>
            <a:off x="384048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9" name="Rectangle 378">
            <a:extLst>
              <a:ext uri="{FF2B5EF4-FFF2-40B4-BE49-F238E27FC236}">
                <a16:creationId xmlns:a16="http://schemas.microsoft.com/office/drawing/2014/main" id="{1C0E5E23-14DA-96E7-EF5D-AAC1F8FEEDB9}"/>
              </a:ext>
            </a:extLst>
          </p:cNvPr>
          <p:cNvSpPr/>
          <p:nvPr/>
        </p:nvSpPr>
        <p:spPr>
          <a:xfrm>
            <a:off x="396849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1" name="Rectangle 380">
            <a:extLst>
              <a:ext uri="{FF2B5EF4-FFF2-40B4-BE49-F238E27FC236}">
                <a16:creationId xmlns:a16="http://schemas.microsoft.com/office/drawing/2014/main" id="{FD39EA71-0C4F-5E1B-E174-96884C98D833}"/>
              </a:ext>
            </a:extLst>
          </p:cNvPr>
          <p:cNvSpPr/>
          <p:nvPr/>
        </p:nvSpPr>
        <p:spPr>
          <a:xfrm>
            <a:off x="409651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3" name="Rectangle 382">
            <a:extLst>
              <a:ext uri="{FF2B5EF4-FFF2-40B4-BE49-F238E27FC236}">
                <a16:creationId xmlns:a16="http://schemas.microsoft.com/office/drawing/2014/main" id="{10E99BCC-CA9D-A33F-EBF6-D3D82BEC7FBA}"/>
              </a:ext>
            </a:extLst>
          </p:cNvPr>
          <p:cNvSpPr/>
          <p:nvPr/>
        </p:nvSpPr>
        <p:spPr>
          <a:xfrm>
            <a:off x="422452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5" name="Rectangle 384">
            <a:extLst>
              <a:ext uri="{FF2B5EF4-FFF2-40B4-BE49-F238E27FC236}">
                <a16:creationId xmlns:a16="http://schemas.microsoft.com/office/drawing/2014/main" id="{4A974337-7985-21ED-68BD-EE2CA8CDF8CC}"/>
              </a:ext>
            </a:extLst>
          </p:cNvPr>
          <p:cNvSpPr/>
          <p:nvPr/>
        </p:nvSpPr>
        <p:spPr>
          <a:xfrm>
            <a:off x="435254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7" name="Rectangle 386">
            <a:extLst>
              <a:ext uri="{FF2B5EF4-FFF2-40B4-BE49-F238E27FC236}">
                <a16:creationId xmlns:a16="http://schemas.microsoft.com/office/drawing/2014/main" id="{CBD92391-A692-4A70-5B02-460D4E17BCF2}"/>
              </a:ext>
            </a:extLst>
          </p:cNvPr>
          <p:cNvSpPr/>
          <p:nvPr/>
        </p:nvSpPr>
        <p:spPr>
          <a:xfrm>
            <a:off x="448056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9" name="Rectangle 388">
            <a:extLst>
              <a:ext uri="{FF2B5EF4-FFF2-40B4-BE49-F238E27FC236}">
                <a16:creationId xmlns:a16="http://schemas.microsoft.com/office/drawing/2014/main" id="{E81DC6D5-CD16-8211-5FF4-B4A1B3167AE4}"/>
              </a:ext>
            </a:extLst>
          </p:cNvPr>
          <p:cNvSpPr/>
          <p:nvPr/>
        </p:nvSpPr>
        <p:spPr>
          <a:xfrm>
            <a:off x="460857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1" name="Rectangle 390">
            <a:extLst>
              <a:ext uri="{FF2B5EF4-FFF2-40B4-BE49-F238E27FC236}">
                <a16:creationId xmlns:a16="http://schemas.microsoft.com/office/drawing/2014/main" id="{10D573B5-7280-3C2E-9529-E10473B44ADE}"/>
              </a:ext>
            </a:extLst>
          </p:cNvPr>
          <p:cNvSpPr/>
          <p:nvPr/>
        </p:nvSpPr>
        <p:spPr>
          <a:xfrm>
            <a:off x="473659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3" name="Rectangle 392">
            <a:extLst>
              <a:ext uri="{FF2B5EF4-FFF2-40B4-BE49-F238E27FC236}">
                <a16:creationId xmlns:a16="http://schemas.microsoft.com/office/drawing/2014/main" id="{802C3182-40DE-4E15-051D-38C30CE9819B}"/>
              </a:ext>
            </a:extLst>
          </p:cNvPr>
          <p:cNvSpPr/>
          <p:nvPr/>
        </p:nvSpPr>
        <p:spPr>
          <a:xfrm>
            <a:off x="76809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5" name="Rectangle 394">
            <a:extLst>
              <a:ext uri="{FF2B5EF4-FFF2-40B4-BE49-F238E27FC236}">
                <a16:creationId xmlns:a16="http://schemas.microsoft.com/office/drawing/2014/main" id="{81DD4776-E3A8-C53E-A333-D47D2A5D7A98}"/>
              </a:ext>
            </a:extLst>
          </p:cNvPr>
          <p:cNvSpPr/>
          <p:nvPr/>
        </p:nvSpPr>
        <p:spPr>
          <a:xfrm>
            <a:off x="89611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7" name="Rectangle 396">
            <a:extLst>
              <a:ext uri="{FF2B5EF4-FFF2-40B4-BE49-F238E27FC236}">
                <a16:creationId xmlns:a16="http://schemas.microsoft.com/office/drawing/2014/main" id="{E16D1D4E-00FE-514E-758D-B8A2D78FD607}"/>
              </a:ext>
            </a:extLst>
          </p:cNvPr>
          <p:cNvSpPr/>
          <p:nvPr/>
        </p:nvSpPr>
        <p:spPr>
          <a:xfrm>
            <a:off x="102412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9" name="Rectangle 398">
            <a:extLst>
              <a:ext uri="{FF2B5EF4-FFF2-40B4-BE49-F238E27FC236}">
                <a16:creationId xmlns:a16="http://schemas.microsoft.com/office/drawing/2014/main" id="{79882CD0-5083-ED35-0FE1-0A3F6DD2D2D5}"/>
              </a:ext>
            </a:extLst>
          </p:cNvPr>
          <p:cNvSpPr/>
          <p:nvPr/>
        </p:nvSpPr>
        <p:spPr>
          <a:xfrm>
            <a:off x="115214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1" name="Rectangle 400">
            <a:extLst>
              <a:ext uri="{FF2B5EF4-FFF2-40B4-BE49-F238E27FC236}">
                <a16:creationId xmlns:a16="http://schemas.microsoft.com/office/drawing/2014/main" id="{597F3F00-72D1-0A0B-4DA9-1DE8C929056B}"/>
              </a:ext>
            </a:extLst>
          </p:cNvPr>
          <p:cNvSpPr/>
          <p:nvPr/>
        </p:nvSpPr>
        <p:spPr>
          <a:xfrm>
            <a:off x="128016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3" name="Rectangle 402">
            <a:extLst>
              <a:ext uri="{FF2B5EF4-FFF2-40B4-BE49-F238E27FC236}">
                <a16:creationId xmlns:a16="http://schemas.microsoft.com/office/drawing/2014/main" id="{85465E03-7B1A-5F18-B154-1969D837E28E}"/>
              </a:ext>
            </a:extLst>
          </p:cNvPr>
          <p:cNvSpPr/>
          <p:nvPr/>
        </p:nvSpPr>
        <p:spPr>
          <a:xfrm>
            <a:off x="140817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5" name="Rectangle 404">
            <a:extLst>
              <a:ext uri="{FF2B5EF4-FFF2-40B4-BE49-F238E27FC236}">
                <a16:creationId xmlns:a16="http://schemas.microsoft.com/office/drawing/2014/main" id="{7395E57A-F636-5226-977B-7B8E8A23257D}"/>
              </a:ext>
            </a:extLst>
          </p:cNvPr>
          <p:cNvSpPr/>
          <p:nvPr/>
        </p:nvSpPr>
        <p:spPr>
          <a:xfrm>
            <a:off x="153619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7" name="Rectangle 406">
            <a:extLst>
              <a:ext uri="{FF2B5EF4-FFF2-40B4-BE49-F238E27FC236}">
                <a16:creationId xmlns:a16="http://schemas.microsoft.com/office/drawing/2014/main" id="{36FAF4C0-FC20-37CB-4E7D-A7D64693D9F3}"/>
              </a:ext>
            </a:extLst>
          </p:cNvPr>
          <p:cNvSpPr/>
          <p:nvPr/>
        </p:nvSpPr>
        <p:spPr>
          <a:xfrm>
            <a:off x="166420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9" name="Rectangle 408">
            <a:extLst>
              <a:ext uri="{FF2B5EF4-FFF2-40B4-BE49-F238E27FC236}">
                <a16:creationId xmlns:a16="http://schemas.microsoft.com/office/drawing/2014/main" id="{35B936DF-55A3-2BB0-9499-30E72E8FC880}"/>
              </a:ext>
            </a:extLst>
          </p:cNvPr>
          <p:cNvSpPr/>
          <p:nvPr/>
        </p:nvSpPr>
        <p:spPr>
          <a:xfrm>
            <a:off x="179222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1" name="Rectangle 410">
            <a:extLst>
              <a:ext uri="{FF2B5EF4-FFF2-40B4-BE49-F238E27FC236}">
                <a16:creationId xmlns:a16="http://schemas.microsoft.com/office/drawing/2014/main" id="{678E23D4-84B6-8D5E-056D-B36454D23E23}"/>
              </a:ext>
            </a:extLst>
          </p:cNvPr>
          <p:cNvSpPr/>
          <p:nvPr/>
        </p:nvSpPr>
        <p:spPr>
          <a:xfrm>
            <a:off x="192024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3" name="Rectangle 412">
            <a:extLst>
              <a:ext uri="{FF2B5EF4-FFF2-40B4-BE49-F238E27FC236}">
                <a16:creationId xmlns:a16="http://schemas.microsoft.com/office/drawing/2014/main" id="{B0C599E1-3E47-50AF-D94B-E29078E51B1E}"/>
              </a:ext>
            </a:extLst>
          </p:cNvPr>
          <p:cNvSpPr/>
          <p:nvPr/>
        </p:nvSpPr>
        <p:spPr>
          <a:xfrm>
            <a:off x="204825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5" name="Rectangle 414">
            <a:extLst>
              <a:ext uri="{FF2B5EF4-FFF2-40B4-BE49-F238E27FC236}">
                <a16:creationId xmlns:a16="http://schemas.microsoft.com/office/drawing/2014/main" id="{4DA1CBED-BF25-4014-05B3-B3E4D39989DB}"/>
              </a:ext>
            </a:extLst>
          </p:cNvPr>
          <p:cNvSpPr/>
          <p:nvPr/>
        </p:nvSpPr>
        <p:spPr>
          <a:xfrm>
            <a:off x="217627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7" name="Rectangle 416">
            <a:extLst>
              <a:ext uri="{FF2B5EF4-FFF2-40B4-BE49-F238E27FC236}">
                <a16:creationId xmlns:a16="http://schemas.microsoft.com/office/drawing/2014/main" id="{6DE4DBE1-58DD-8E87-96D0-4D9784833394}"/>
              </a:ext>
            </a:extLst>
          </p:cNvPr>
          <p:cNvSpPr/>
          <p:nvPr/>
        </p:nvSpPr>
        <p:spPr>
          <a:xfrm>
            <a:off x="230428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9" name="Rectangle 418">
            <a:extLst>
              <a:ext uri="{FF2B5EF4-FFF2-40B4-BE49-F238E27FC236}">
                <a16:creationId xmlns:a16="http://schemas.microsoft.com/office/drawing/2014/main" id="{DADDCB11-1FF0-BA8A-FF5B-DA8D304567C7}"/>
              </a:ext>
            </a:extLst>
          </p:cNvPr>
          <p:cNvSpPr/>
          <p:nvPr/>
        </p:nvSpPr>
        <p:spPr>
          <a:xfrm>
            <a:off x="243230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1" name="Rectangle 420">
            <a:extLst>
              <a:ext uri="{FF2B5EF4-FFF2-40B4-BE49-F238E27FC236}">
                <a16:creationId xmlns:a16="http://schemas.microsoft.com/office/drawing/2014/main" id="{F660A190-C483-6B9E-C1A9-0416888D2EAB}"/>
              </a:ext>
            </a:extLst>
          </p:cNvPr>
          <p:cNvSpPr/>
          <p:nvPr/>
        </p:nvSpPr>
        <p:spPr>
          <a:xfrm>
            <a:off x="256032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3" name="Rectangle 422">
            <a:extLst>
              <a:ext uri="{FF2B5EF4-FFF2-40B4-BE49-F238E27FC236}">
                <a16:creationId xmlns:a16="http://schemas.microsoft.com/office/drawing/2014/main" id="{404B00B3-A925-C51E-53C6-04B469590DFA}"/>
              </a:ext>
            </a:extLst>
          </p:cNvPr>
          <p:cNvSpPr/>
          <p:nvPr/>
        </p:nvSpPr>
        <p:spPr>
          <a:xfrm>
            <a:off x="268833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5" name="Rectangle 424">
            <a:extLst>
              <a:ext uri="{FF2B5EF4-FFF2-40B4-BE49-F238E27FC236}">
                <a16:creationId xmlns:a16="http://schemas.microsoft.com/office/drawing/2014/main" id="{492B2DE5-9DC1-A346-C425-32DBE3B73D0E}"/>
              </a:ext>
            </a:extLst>
          </p:cNvPr>
          <p:cNvSpPr/>
          <p:nvPr/>
        </p:nvSpPr>
        <p:spPr>
          <a:xfrm>
            <a:off x="281635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7" name="Rectangle 426">
            <a:extLst>
              <a:ext uri="{FF2B5EF4-FFF2-40B4-BE49-F238E27FC236}">
                <a16:creationId xmlns:a16="http://schemas.microsoft.com/office/drawing/2014/main" id="{1F9028E8-E87A-3BBB-181A-5E40F8BA9648}"/>
              </a:ext>
            </a:extLst>
          </p:cNvPr>
          <p:cNvSpPr/>
          <p:nvPr/>
        </p:nvSpPr>
        <p:spPr>
          <a:xfrm>
            <a:off x="294436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9" name="Rectangle 428">
            <a:extLst>
              <a:ext uri="{FF2B5EF4-FFF2-40B4-BE49-F238E27FC236}">
                <a16:creationId xmlns:a16="http://schemas.microsoft.com/office/drawing/2014/main" id="{911D314A-9FBE-1C02-EBF4-FDA2BD4A85E6}"/>
              </a:ext>
            </a:extLst>
          </p:cNvPr>
          <p:cNvSpPr/>
          <p:nvPr/>
        </p:nvSpPr>
        <p:spPr>
          <a:xfrm>
            <a:off x="307238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1" name="Rectangle 430">
            <a:extLst>
              <a:ext uri="{FF2B5EF4-FFF2-40B4-BE49-F238E27FC236}">
                <a16:creationId xmlns:a16="http://schemas.microsoft.com/office/drawing/2014/main" id="{6DFC53E8-1CE4-F011-A53C-21811C3A7E0F}"/>
              </a:ext>
            </a:extLst>
          </p:cNvPr>
          <p:cNvSpPr/>
          <p:nvPr/>
        </p:nvSpPr>
        <p:spPr>
          <a:xfrm>
            <a:off x="320040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3" name="Rectangle 432">
            <a:extLst>
              <a:ext uri="{FF2B5EF4-FFF2-40B4-BE49-F238E27FC236}">
                <a16:creationId xmlns:a16="http://schemas.microsoft.com/office/drawing/2014/main" id="{D25B99CD-AE42-ED21-9ECD-05A7F8870E61}"/>
              </a:ext>
            </a:extLst>
          </p:cNvPr>
          <p:cNvSpPr/>
          <p:nvPr/>
        </p:nvSpPr>
        <p:spPr>
          <a:xfrm>
            <a:off x="332841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5" name="Rectangle 434">
            <a:extLst>
              <a:ext uri="{FF2B5EF4-FFF2-40B4-BE49-F238E27FC236}">
                <a16:creationId xmlns:a16="http://schemas.microsoft.com/office/drawing/2014/main" id="{7E6220B1-B205-9563-17F8-724C908A705C}"/>
              </a:ext>
            </a:extLst>
          </p:cNvPr>
          <p:cNvSpPr/>
          <p:nvPr/>
        </p:nvSpPr>
        <p:spPr>
          <a:xfrm>
            <a:off x="345643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7" name="Rectangle 436">
            <a:extLst>
              <a:ext uri="{FF2B5EF4-FFF2-40B4-BE49-F238E27FC236}">
                <a16:creationId xmlns:a16="http://schemas.microsoft.com/office/drawing/2014/main" id="{81C0023D-6699-40FA-58EB-A5D28ED9B215}"/>
              </a:ext>
            </a:extLst>
          </p:cNvPr>
          <p:cNvSpPr/>
          <p:nvPr/>
        </p:nvSpPr>
        <p:spPr>
          <a:xfrm>
            <a:off x="358444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9" name="Rectangle 438">
            <a:extLst>
              <a:ext uri="{FF2B5EF4-FFF2-40B4-BE49-F238E27FC236}">
                <a16:creationId xmlns:a16="http://schemas.microsoft.com/office/drawing/2014/main" id="{3E5A5453-1096-483D-D110-45DC560454B2}"/>
              </a:ext>
            </a:extLst>
          </p:cNvPr>
          <p:cNvSpPr/>
          <p:nvPr/>
        </p:nvSpPr>
        <p:spPr>
          <a:xfrm>
            <a:off x="371246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1" name="Rectangle 440">
            <a:extLst>
              <a:ext uri="{FF2B5EF4-FFF2-40B4-BE49-F238E27FC236}">
                <a16:creationId xmlns:a16="http://schemas.microsoft.com/office/drawing/2014/main" id="{8B37CF69-400B-472F-AEF3-4777A7FFDD60}"/>
              </a:ext>
            </a:extLst>
          </p:cNvPr>
          <p:cNvSpPr/>
          <p:nvPr/>
        </p:nvSpPr>
        <p:spPr>
          <a:xfrm>
            <a:off x="384048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3" name="Rectangle 442">
            <a:extLst>
              <a:ext uri="{FF2B5EF4-FFF2-40B4-BE49-F238E27FC236}">
                <a16:creationId xmlns:a16="http://schemas.microsoft.com/office/drawing/2014/main" id="{115FABEB-073F-8836-9B25-816ED2EBB684}"/>
              </a:ext>
            </a:extLst>
          </p:cNvPr>
          <p:cNvSpPr/>
          <p:nvPr/>
        </p:nvSpPr>
        <p:spPr>
          <a:xfrm>
            <a:off x="396849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5" name="Rectangle 444">
            <a:extLst>
              <a:ext uri="{FF2B5EF4-FFF2-40B4-BE49-F238E27FC236}">
                <a16:creationId xmlns:a16="http://schemas.microsoft.com/office/drawing/2014/main" id="{84E6151B-E961-A07A-1D96-8C0EE0637451}"/>
              </a:ext>
            </a:extLst>
          </p:cNvPr>
          <p:cNvSpPr/>
          <p:nvPr/>
        </p:nvSpPr>
        <p:spPr>
          <a:xfrm>
            <a:off x="409651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7" name="Rectangle 446">
            <a:extLst>
              <a:ext uri="{FF2B5EF4-FFF2-40B4-BE49-F238E27FC236}">
                <a16:creationId xmlns:a16="http://schemas.microsoft.com/office/drawing/2014/main" id="{C9405CD3-5989-E627-7D6D-6965D86F1B5A}"/>
              </a:ext>
            </a:extLst>
          </p:cNvPr>
          <p:cNvSpPr/>
          <p:nvPr/>
        </p:nvSpPr>
        <p:spPr>
          <a:xfrm>
            <a:off x="422452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9" name="Rectangle 448">
            <a:extLst>
              <a:ext uri="{FF2B5EF4-FFF2-40B4-BE49-F238E27FC236}">
                <a16:creationId xmlns:a16="http://schemas.microsoft.com/office/drawing/2014/main" id="{817B6104-C70E-94F5-4F67-00EA63D06CDD}"/>
              </a:ext>
            </a:extLst>
          </p:cNvPr>
          <p:cNvSpPr/>
          <p:nvPr/>
        </p:nvSpPr>
        <p:spPr>
          <a:xfrm>
            <a:off x="435254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1" name="Rectangle 450">
            <a:extLst>
              <a:ext uri="{FF2B5EF4-FFF2-40B4-BE49-F238E27FC236}">
                <a16:creationId xmlns:a16="http://schemas.microsoft.com/office/drawing/2014/main" id="{8FD39CD9-DEA8-1A80-861E-FDD293F264CB}"/>
              </a:ext>
            </a:extLst>
          </p:cNvPr>
          <p:cNvSpPr/>
          <p:nvPr/>
        </p:nvSpPr>
        <p:spPr>
          <a:xfrm>
            <a:off x="448056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3" name="Rectangle 452">
            <a:extLst>
              <a:ext uri="{FF2B5EF4-FFF2-40B4-BE49-F238E27FC236}">
                <a16:creationId xmlns:a16="http://schemas.microsoft.com/office/drawing/2014/main" id="{2009DF29-5460-50DC-6618-F8C779B0EBFF}"/>
              </a:ext>
            </a:extLst>
          </p:cNvPr>
          <p:cNvSpPr/>
          <p:nvPr/>
        </p:nvSpPr>
        <p:spPr>
          <a:xfrm>
            <a:off x="460857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5" name="Rectangle 454">
            <a:extLst>
              <a:ext uri="{FF2B5EF4-FFF2-40B4-BE49-F238E27FC236}">
                <a16:creationId xmlns:a16="http://schemas.microsoft.com/office/drawing/2014/main" id="{E7417606-51D6-865B-1D9B-98892A236A06}"/>
              </a:ext>
            </a:extLst>
          </p:cNvPr>
          <p:cNvSpPr/>
          <p:nvPr/>
        </p:nvSpPr>
        <p:spPr>
          <a:xfrm>
            <a:off x="473659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7" name="Rectangle 456">
            <a:extLst>
              <a:ext uri="{FF2B5EF4-FFF2-40B4-BE49-F238E27FC236}">
                <a16:creationId xmlns:a16="http://schemas.microsoft.com/office/drawing/2014/main" id="{EE620A15-70FE-D548-0942-1ADAB92C0937}"/>
              </a:ext>
            </a:extLst>
          </p:cNvPr>
          <p:cNvSpPr/>
          <p:nvPr/>
        </p:nvSpPr>
        <p:spPr>
          <a:xfrm>
            <a:off x="76809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9" name="Rectangle 458">
            <a:extLst>
              <a:ext uri="{FF2B5EF4-FFF2-40B4-BE49-F238E27FC236}">
                <a16:creationId xmlns:a16="http://schemas.microsoft.com/office/drawing/2014/main" id="{437BD18B-D2F1-C0F0-18FF-3AA006B2284F}"/>
              </a:ext>
            </a:extLst>
          </p:cNvPr>
          <p:cNvSpPr/>
          <p:nvPr/>
        </p:nvSpPr>
        <p:spPr>
          <a:xfrm>
            <a:off x="89611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1" name="Rectangle 460">
            <a:extLst>
              <a:ext uri="{FF2B5EF4-FFF2-40B4-BE49-F238E27FC236}">
                <a16:creationId xmlns:a16="http://schemas.microsoft.com/office/drawing/2014/main" id="{43C3DD18-EFFF-B9F2-B386-454F5CAF8B6A}"/>
              </a:ext>
            </a:extLst>
          </p:cNvPr>
          <p:cNvSpPr/>
          <p:nvPr/>
        </p:nvSpPr>
        <p:spPr>
          <a:xfrm>
            <a:off x="102412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3" name="Rectangle 462">
            <a:extLst>
              <a:ext uri="{FF2B5EF4-FFF2-40B4-BE49-F238E27FC236}">
                <a16:creationId xmlns:a16="http://schemas.microsoft.com/office/drawing/2014/main" id="{FCF70182-2B0D-D587-C397-8E58EE22DB71}"/>
              </a:ext>
            </a:extLst>
          </p:cNvPr>
          <p:cNvSpPr/>
          <p:nvPr/>
        </p:nvSpPr>
        <p:spPr>
          <a:xfrm>
            <a:off x="115214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5" name="Rectangle 464">
            <a:extLst>
              <a:ext uri="{FF2B5EF4-FFF2-40B4-BE49-F238E27FC236}">
                <a16:creationId xmlns:a16="http://schemas.microsoft.com/office/drawing/2014/main" id="{8A8F1DEE-CF6E-8FA8-0706-430EAC3B2169}"/>
              </a:ext>
            </a:extLst>
          </p:cNvPr>
          <p:cNvSpPr/>
          <p:nvPr/>
        </p:nvSpPr>
        <p:spPr>
          <a:xfrm>
            <a:off x="128016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7" name="Rectangle 466">
            <a:extLst>
              <a:ext uri="{FF2B5EF4-FFF2-40B4-BE49-F238E27FC236}">
                <a16:creationId xmlns:a16="http://schemas.microsoft.com/office/drawing/2014/main" id="{01CA0F65-46EF-FF45-61D9-B7518A8A33AC}"/>
              </a:ext>
            </a:extLst>
          </p:cNvPr>
          <p:cNvSpPr/>
          <p:nvPr/>
        </p:nvSpPr>
        <p:spPr>
          <a:xfrm>
            <a:off x="140817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9" name="Rectangle 468">
            <a:extLst>
              <a:ext uri="{FF2B5EF4-FFF2-40B4-BE49-F238E27FC236}">
                <a16:creationId xmlns:a16="http://schemas.microsoft.com/office/drawing/2014/main" id="{97857D35-D0A0-CF00-9EB5-E6077137C4E9}"/>
              </a:ext>
            </a:extLst>
          </p:cNvPr>
          <p:cNvSpPr/>
          <p:nvPr/>
        </p:nvSpPr>
        <p:spPr>
          <a:xfrm>
            <a:off x="153619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1" name="Rectangle 470">
            <a:extLst>
              <a:ext uri="{FF2B5EF4-FFF2-40B4-BE49-F238E27FC236}">
                <a16:creationId xmlns:a16="http://schemas.microsoft.com/office/drawing/2014/main" id="{54DE5463-9E67-B79C-D13A-3E19BC5E4FB3}"/>
              </a:ext>
            </a:extLst>
          </p:cNvPr>
          <p:cNvSpPr/>
          <p:nvPr/>
        </p:nvSpPr>
        <p:spPr>
          <a:xfrm>
            <a:off x="166420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3" name="Rectangle 472">
            <a:extLst>
              <a:ext uri="{FF2B5EF4-FFF2-40B4-BE49-F238E27FC236}">
                <a16:creationId xmlns:a16="http://schemas.microsoft.com/office/drawing/2014/main" id="{AC839FFF-2A67-1DA4-9B43-DA1CBF14F933}"/>
              </a:ext>
            </a:extLst>
          </p:cNvPr>
          <p:cNvSpPr/>
          <p:nvPr/>
        </p:nvSpPr>
        <p:spPr>
          <a:xfrm>
            <a:off x="179222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5" name="Rectangle 474">
            <a:extLst>
              <a:ext uri="{FF2B5EF4-FFF2-40B4-BE49-F238E27FC236}">
                <a16:creationId xmlns:a16="http://schemas.microsoft.com/office/drawing/2014/main" id="{BFBAC382-8C4B-2E1B-4B3B-98C80C5DF253}"/>
              </a:ext>
            </a:extLst>
          </p:cNvPr>
          <p:cNvSpPr/>
          <p:nvPr/>
        </p:nvSpPr>
        <p:spPr>
          <a:xfrm>
            <a:off x="192024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7" name="Rectangle 476">
            <a:extLst>
              <a:ext uri="{FF2B5EF4-FFF2-40B4-BE49-F238E27FC236}">
                <a16:creationId xmlns:a16="http://schemas.microsoft.com/office/drawing/2014/main" id="{626A9647-11D3-31F9-7E28-D7305660DCD9}"/>
              </a:ext>
            </a:extLst>
          </p:cNvPr>
          <p:cNvSpPr/>
          <p:nvPr/>
        </p:nvSpPr>
        <p:spPr>
          <a:xfrm>
            <a:off x="204825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9" name="Rectangle 478">
            <a:extLst>
              <a:ext uri="{FF2B5EF4-FFF2-40B4-BE49-F238E27FC236}">
                <a16:creationId xmlns:a16="http://schemas.microsoft.com/office/drawing/2014/main" id="{F2F8C2E4-1723-856C-1767-6021921AF1F0}"/>
              </a:ext>
            </a:extLst>
          </p:cNvPr>
          <p:cNvSpPr/>
          <p:nvPr/>
        </p:nvSpPr>
        <p:spPr>
          <a:xfrm>
            <a:off x="217627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1" name="Rectangle 480">
            <a:extLst>
              <a:ext uri="{FF2B5EF4-FFF2-40B4-BE49-F238E27FC236}">
                <a16:creationId xmlns:a16="http://schemas.microsoft.com/office/drawing/2014/main" id="{15C8BE5E-41D0-C93D-E3D4-01F60902B1CF}"/>
              </a:ext>
            </a:extLst>
          </p:cNvPr>
          <p:cNvSpPr/>
          <p:nvPr/>
        </p:nvSpPr>
        <p:spPr>
          <a:xfrm>
            <a:off x="230428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3" name="Rectangle 482">
            <a:extLst>
              <a:ext uri="{FF2B5EF4-FFF2-40B4-BE49-F238E27FC236}">
                <a16:creationId xmlns:a16="http://schemas.microsoft.com/office/drawing/2014/main" id="{1987F5CC-5437-0EB5-41AB-E1FEF1158E59}"/>
              </a:ext>
            </a:extLst>
          </p:cNvPr>
          <p:cNvSpPr/>
          <p:nvPr/>
        </p:nvSpPr>
        <p:spPr>
          <a:xfrm>
            <a:off x="243230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5" name="Rectangle 484">
            <a:extLst>
              <a:ext uri="{FF2B5EF4-FFF2-40B4-BE49-F238E27FC236}">
                <a16:creationId xmlns:a16="http://schemas.microsoft.com/office/drawing/2014/main" id="{63542B15-CAFF-5E0F-B721-FB0613E6C7AE}"/>
              </a:ext>
            </a:extLst>
          </p:cNvPr>
          <p:cNvSpPr/>
          <p:nvPr/>
        </p:nvSpPr>
        <p:spPr>
          <a:xfrm>
            <a:off x="256032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7" name="Rectangle 486">
            <a:extLst>
              <a:ext uri="{FF2B5EF4-FFF2-40B4-BE49-F238E27FC236}">
                <a16:creationId xmlns:a16="http://schemas.microsoft.com/office/drawing/2014/main" id="{60CBA6D0-2554-D92F-5745-0518387E85BE}"/>
              </a:ext>
            </a:extLst>
          </p:cNvPr>
          <p:cNvSpPr/>
          <p:nvPr/>
        </p:nvSpPr>
        <p:spPr>
          <a:xfrm>
            <a:off x="268833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9" name="Rectangle 488">
            <a:extLst>
              <a:ext uri="{FF2B5EF4-FFF2-40B4-BE49-F238E27FC236}">
                <a16:creationId xmlns:a16="http://schemas.microsoft.com/office/drawing/2014/main" id="{169A1F44-7093-09D6-6810-9CE409B67AF7}"/>
              </a:ext>
            </a:extLst>
          </p:cNvPr>
          <p:cNvSpPr/>
          <p:nvPr/>
        </p:nvSpPr>
        <p:spPr>
          <a:xfrm>
            <a:off x="281635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1" name="Rectangle 490">
            <a:extLst>
              <a:ext uri="{FF2B5EF4-FFF2-40B4-BE49-F238E27FC236}">
                <a16:creationId xmlns:a16="http://schemas.microsoft.com/office/drawing/2014/main" id="{1D178E3B-D750-332C-D058-AE7964FECD02}"/>
              </a:ext>
            </a:extLst>
          </p:cNvPr>
          <p:cNvSpPr/>
          <p:nvPr/>
        </p:nvSpPr>
        <p:spPr>
          <a:xfrm>
            <a:off x="294436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3" name="Rectangle 492">
            <a:extLst>
              <a:ext uri="{FF2B5EF4-FFF2-40B4-BE49-F238E27FC236}">
                <a16:creationId xmlns:a16="http://schemas.microsoft.com/office/drawing/2014/main" id="{EF861DA5-E563-127C-1CD4-85F0600C5EF6}"/>
              </a:ext>
            </a:extLst>
          </p:cNvPr>
          <p:cNvSpPr/>
          <p:nvPr/>
        </p:nvSpPr>
        <p:spPr>
          <a:xfrm>
            <a:off x="307238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5" name="Rectangle 494">
            <a:extLst>
              <a:ext uri="{FF2B5EF4-FFF2-40B4-BE49-F238E27FC236}">
                <a16:creationId xmlns:a16="http://schemas.microsoft.com/office/drawing/2014/main" id="{174731B5-2886-D73C-8112-F3633C829213}"/>
              </a:ext>
            </a:extLst>
          </p:cNvPr>
          <p:cNvSpPr/>
          <p:nvPr/>
        </p:nvSpPr>
        <p:spPr>
          <a:xfrm>
            <a:off x="320040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7" name="Rectangle 496">
            <a:extLst>
              <a:ext uri="{FF2B5EF4-FFF2-40B4-BE49-F238E27FC236}">
                <a16:creationId xmlns:a16="http://schemas.microsoft.com/office/drawing/2014/main" id="{4145C483-2FDB-B45C-1363-DE3CFB104B5A}"/>
              </a:ext>
            </a:extLst>
          </p:cNvPr>
          <p:cNvSpPr/>
          <p:nvPr/>
        </p:nvSpPr>
        <p:spPr>
          <a:xfrm>
            <a:off x="332841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9" name="Rectangle 498">
            <a:extLst>
              <a:ext uri="{FF2B5EF4-FFF2-40B4-BE49-F238E27FC236}">
                <a16:creationId xmlns:a16="http://schemas.microsoft.com/office/drawing/2014/main" id="{2D6B5397-D9BF-6820-1D08-395CC68DD7FB}"/>
              </a:ext>
            </a:extLst>
          </p:cNvPr>
          <p:cNvSpPr/>
          <p:nvPr/>
        </p:nvSpPr>
        <p:spPr>
          <a:xfrm>
            <a:off x="345643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1" name="Rectangle 500">
            <a:extLst>
              <a:ext uri="{FF2B5EF4-FFF2-40B4-BE49-F238E27FC236}">
                <a16:creationId xmlns:a16="http://schemas.microsoft.com/office/drawing/2014/main" id="{59F461B6-BDED-2B2F-AA81-4F69B6D7DEBB}"/>
              </a:ext>
            </a:extLst>
          </p:cNvPr>
          <p:cNvSpPr/>
          <p:nvPr/>
        </p:nvSpPr>
        <p:spPr>
          <a:xfrm>
            <a:off x="358444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3" name="Rectangle 502">
            <a:extLst>
              <a:ext uri="{FF2B5EF4-FFF2-40B4-BE49-F238E27FC236}">
                <a16:creationId xmlns:a16="http://schemas.microsoft.com/office/drawing/2014/main" id="{23AC30F9-190D-2913-EC8B-10647C20F1D5}"/>
              </a:ext>
            </a:extLst>
          </p:cNvPr>
          <p:cNvSpPr/>
          <p:nvPr/>
        </p:nvSpPr>
        <p:spPr>
          <a:xfrm>
            <a:off x="371246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5" name="Rectangle 504">
            <a:extLst>
              <a:ext uri="{FF2B5EF4-FFF2-40B4-BE49-F238E27FC236}">
                <a16:creationId xmlns:a16="http://schemas.microsoft.com/office/drawing/2014/main" id="{367B26C1-8FC3-AA1B-74E4-668BFF8A209F}"/>
              </a:ext>
            </a:extLst>
          </p:cNvPr>
          <p:cNvSpPr/>
          <p:nvPr/>
        </p:nvSpPr>
        <p:spPr>
          <a:xfrm>
            <a:off x="384048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7" name="Rectangle 506">
            <a:extLst>
              <a:ext uri="{FF2B5EF4-FFF2-40B4-BE49-F238E27FC236}">
                <a16:creationId xmlns:a16="http://schemas.microsoft.com/office/drawing/2014/main" id="{63E9A140-09E5-BB5C-89AB-44AAF6B01400}"/>
              </a:ext>
            </a:extLst>
          </p:cNvPr>
          <p:cNvSpPr/>
          <p:nvPr/>
        </p:nvSpPr>
        <p:spPr>
          <a:xfrm>
            <a:off x="396849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9" name="Rectangle 508">
            <a:extLst>
              <a:ext uri="{FF2B5EF4-FFF2-40B4-BE49-F238E27FC236}">
                <a16:creationId xmlns:a16="http://schemas.microsoft.com/office/drawing/2014/main" id="{91535690-AA2C-8717-F183-55731B4AC52B}"/>
              </a:ext>
            </a:extLst>
          </p:cNvPr>
          <p:cNvSpPr/>
          <p:nvPr/>
        </p:nvSpPr>
        <p:spPr>
          <a:xfrm>
            <a:off x="409651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1" name="Rectangle 510">
            <a:extLst>
              <a:ext uri="{FF2B5EF4-FFF2-40B4-BE49-F238E27FC236}">
                <a16:creationId xmlns:a16="http://schemas.microsoft.com/office/drawing/2014/main" id="{A5D26D44-3E77-86E6-FA0A-9D8CE560720F}"/>
              </a:ext>
            </a:extLst>
          </p:cNvPr>
          <p:cNvSpPr/>
          <p:nvPr/>
        </p:nvSpPr>
        <p:spPr>
          <a:xfrm>
            <a:off x="422452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3" name="Rectangle 512">
            <a:extLst>
              <a:ext uri="{FF2B5EF4-FFF2-40B4-BE49-F238E27FC236}">
                <a16:creationId xmlns:a16="http://schemas.microsoft.com/office/drawing/2014/main" id="{4E1D90C7-47DA-DBCD-FDA2-AFF9835802DC}"/>
              </a:ext>
            </a:extLst>
          </p:cNvPr>
          <p:cNvSpPr/>
          <p:nvPr/>
        </p:nvSpPr>
        <p:spPr>
          <a:xfrm>
            <a:off x="435254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5" name="Rectangle 514">
            <a:extLst>
              <a:ext uri="{FF2B5EF4-FFF2-40B4-BE49-F238E27FC236}">
                <a16:creationId xmlns:a16="http://schemas.microsoft.com/office/drawing/2014/main" id="{92D3974E-E5D9-79B0-C02D-0528A186DB81}"/>
              </a:ext>
            </a:extLst>
          </p:cNvPr>
          <p:cNvSpPr/>
          <p:nvPr/>
        </p:nvSpPr>
        <p:spPr>
          <a:xfrm>
            <a:off x="448056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7" name="Rectangle 516">
            <a:extLst>
              <a:ext uri="{FF2B5EF4-FFF2-40B4-BE49-F238E27FC236}">
                <a16:creationId xmlns:a16="http://schemas.microsoft.com/office/drawing/2014/main" id="{5C4C8DCD-9325-EC3E-62FA-8DDC29416F3A}"/>
              </a:ext>
            </a:extLst>
          </p:cNvPr>
          <p:cNvSpPr/>
          <p:nvPr/>
        </p:nvSpPr>
        <p:spPr>
          <a:xfrm>
            <a:off x="460857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9" name="Rectangle 518">
            <a:extLst>
              <a:ext uri="{FF2B5EF4-FFF2-40B4-BE49-F238E27FC236}">
                <a16:creationId xmlns:a16="http://schemas.microsoft.com/office/drawing/2014/main" id="{227198F2-25F1-D39C-3DF6-9912F474A192}"/>
              </a:ext>
            </a:extLst>
          </p:cNvPr>
          <p:cNvSpPr/>
          <p:nvPr/>
        </p:nvSpPr>
        <p:spPr>
          <a:xfrm>
            <a:off x="473659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1" name="Rectangle 520">
            <a:extLst>
              <a:ext uri="{FF2B5EF4-FFF2-40B4-BE49-F238E27FC236}">
                <a16:creationId xmlns:a16="http://schemas.microsoft.com/office/drawing/2014/main" id="{8393A95F-377E-6FC2-CA0D-8DF9E88ACC4D}"/>
              </a:ext>
            </a:extLst>
          </p:cNvPr>
          <p:cNvSpPr/>
          <p:nvPr/>
        </p:nvSpPr>
        <p:spPr>
          <a:xfrm>
            <a:off x="76809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3" name="Rectangle 522">
            <a:extLst>
              <a:ext uri="{FF2B5EF4-FFF2-40B4-BE49-F238E27FC236}">
                <a16:creationId xmlns:a16="http://schemas.microsoft.com/office/drawing/2014/main" id="{8DA89FBD-F085-FF2F-272D-C75BDFEE25D7}"/>
              </a:ext>
            </a:extLst>
          </p:cNvPr>
          <p:cNvSpPr/>
          <p:nvPr/>
        </p:nvSpPr>
        <p:spPr>
          <a:xfrm>
            <a:off x="89611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5" name="Rectangle 524">
            <a:extLst>
              <a:ext uri="{FF2B5EF4-FFF2-40B4-BE49-F238E27FC236}">
                <a16:creationId xmlns:a16="http://schemas.microsoft.com/office/drawing/2014/main" id="{3284BE1B-F10C-8604-E5D0-835D44B87647}"/>
              </a:ext>
            </a:extLst>
          </p:cNvPr>
          <p:cNvSpPr/>
          <p:nvPr/>
        </p:nvSpPr>
        <p:spPr>
          <a:xfrm>
            <a:off x="102412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7" name="Rectangle 526">
            <a:extLst>
              <a:ext uri="{FF2B5EF4-FFF2-40B4-BE49-F238E27FC236}">
                <a16:creationId xmlns:a16="http://schemas.microsoft.com/office/drawing/2014/main" id="{9CD84131-DA84-1502-AD11-BB582DD245F8}"/>
              </a:ext>
            </a:extLst>
          </p:cNvPr>
          <p:cNvSpPr/>
          <p:nvPr/>
        </p:nvSpPr>
        <p:spPr>
          <a:xfrm>
            <a:off x="115214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9" name="Rectangle 528">
            <a:extLst>
              <a:ext uri="{FF2B5EF4-FFF2-40B4-BE49-F238E27FC236}">
                <a16:creationId xmlns:a16="http://schemas.microsoft.com/office/drawing/2014/main" id="{B8643E62-A249-50E1-89FE-5038C8ED4828}"/>
              </a:ext>
            </a:extLst>
          </p:cNvPr>
          <p:cNvSpPr/>
          <p:nvPr/>
        </p:nvSpPr>
        <p:spPr>
          <a:xfrm>
            <a:off x="128016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1" name="Rectangle 530">
            <a:extLst>
              <a:ext uri="{FF2B5EF4-FFF2-40B4-BE49-F238E27FC236}">
                <a16:creationId xmlns:a16="http://schemas.microsoft.com/office/drawing/2014/main" id="{476904F0-0319-4A53-6D90-76A445AA5E3D}"/>
              </a:ext>
            </a:extLst>
          </p:cNvPr>
          <p:cNvSpPr/>
          <p:nvPr/>
        </p:nvSpPr>
        <p:spPr>
          <a:xfrm>
            <a:off x="140817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3" name="Rectangle 532">
            <a:extLst>
              <a:ext uri="{FF2B5EF4-FFF2-40B4-BE49-F238E27FC236}">
                <a16:creationId xmlns:a16="http://schemas.microsoft.com/office/drawing/2014/main" id="{53273DEF-C1C7-416A-64CB-DBE2E774DB0A}"/>
              </a:ext>
            </a:extLst>
          </p:cNvPr>
          <p:cNvSpPr/>
          <p:nvPr/>
        </p:nvSpPr>
        <p:spPr>
          <a:xfrm>
            <a:off x="153619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5" name="Rectangle 534">
            <a:extLst>
              <a:ext uri="{FF2B5EF4-FFF2-40B4-BE49-F238E27FC236}">
                <a16:creationId xmlns:a16="http://schemas.microsoft.com/office/drawing/2014/main" id="{3E269D44-6459-CE52-DBE5-4008B4590A37}"/>
              </a:ext>
            </a:extLst>
          </p:cNvPr>
          <p:cNvSpPr/>
          <p:nvPr/>
        </p:nvSpPr>
        <p:spPr>
          <a:xfrm>
            <a:off x="166420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7" name="Rectangle 536">
            <a:extLst>
              <a:ext uri="{FF2B5EF4-FFF2-40B4-BE49-F238E27FC236}">
                <a16:creationId xmlns:a16="http://schemas.microsoft.com/office/drawing/2014/main" id="{75650B2A-0D7B-F951-D105-2BBF728E4B5F}"/>
              </a:ext>
            </a:extLst>
          </p:cNvPr>
          <p:cNvSpPr/>
          <p:nvPr/>
        </p:nvSpPr>
        <p:spPr>
          <a:xfrm>
            <a:off x="179222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9" name="Rectangle 538">
            <a:extLst>
              <a:ext uri="{FF2B5EF4-FFF2-40B4-BE49-F238E27FC236}">
                <a16:creationId xmlns:a16="http://schemas.microsoft.com/office/drawing/2014/main" id="{1504B8B1-4529-CBCF-D74C-DC12E5D3DC13}"/>
              </a:ext>
            </a:extLst>
          </p:cNvPr>
          <p:cNvSpPr/>
          <p:nvPr/>
        </p:nvSpPr>
        <p:spPr>
          <a:xfrm>
            <a:off x="192024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1" name="Rectangle 540">
            <a:extLst>
              <a:ext uri="{FF2B5EF4-FFF2-40B4-BE49-F238E27FC236}">
                <a16:creationId xmlns:a16="http://schemas.microsoft.com/office/drawing/2014/main" id="{FFE86DB0-5A58-765B-2A57-73AF735143AF}"/>
              </a:ext>
            </a:extLst>
          </p:cNvPr>
          <p:cNvSpPr/>
          <p:nvPr/>
        </p:nvSpPr>
        <p:spPr>
          <a:xfrm>
            <a:off x="204825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3" name="Rectangle 542">
            <a:extLst>
              <a:ext uri="{FF2B5EF4-FFF2-40B4-BE49-F238E27FC236}">
                <a16:creationId xmlns:a16="http://schemas.microsoft.com/office/drawing/2014/main" id="{5031A4D9-8DFE-4E42-42B3-169F597A6AA9}"/>
              </a:ext>
            </a:extLst>
          </p:cNvPr>
          <p:cNvSpPr/>
          <p:nvPr/>
        </p:nvSpPr>
        <p:spPr>
          <a:xfrm>
            <a:off x="217627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5" name="Rectangle 544">
            <a:extLst>
              <a:ext uri="{FF2B5EF4-FFF2-40B4-BE49-F238E27FC236}">
                <a16:creationId xmlns:a16="http://schemas.microsoft.com/office/drawing/2014/main" id="{9CF32261-14A2-B779-D7CF-305EF906514A}"/>
              </a:ext>
            </a:extLst>
          </p:cNvPr>
          <p:cNvSpPr/>
          <p:nvPr/>
        </p:nvSpPr>
        <p:spPr>
          <a:xfrm>
            <a:off x="230428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7" name="Rectangle 546">
            <a:extLst>
              <a:ext uri="{FF2B5EF4-FFF2-40B4-BE49-F238E27FC236}">
                <a16:creationId xmlns:a16="http://schemas.microsoft.com/office/drawing/2014/main" id="{60261681-8301-7AC0-54C7-C30462FB22B5}"/>
              </a:ext>
            </a:extLst>
          </p:cNvPr>
          <p:cNvSpPr/>
          <p:nvPr/>
        </p:nvSpPr>
        <p:spPr>
          <a:xfrm>
            <a:off x="243230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9" name="Rectangle 548">
            <a:extLst>
              <a:ext uri="{FF2B5EF4-FFF2-40B4-BE49-F238E27FC236}">
                <a16:creationId xmlns:a16="http://schemas.microsoft.com/office/drawing/2014/main" id="{9F3E86AE-F1FA-00BA-70CE-A361C50D0C81}"/>
              </a:ext>
            </a:extLst>
          </p:cNvPr>
          <p:cNvSpPr/>
          <p:nvPr/>
        </p:nvSpPr>
        <p:spPr>
          <a:xfrm>
            <a:off x="256032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1" name="Rectangle 550">
            <a:extLst>
              <a:ext uri="{FF2B5EF4-FFF2-40B4-BE49-F238E27FC236}">
                <a16:creationId xmlns:a16="http://schemas.microsoft.com/office/drawing/2014/main" id="{EC95C0AE-0C18-8319-B9E0-33EE5FE46641}"/>
              </a:ext>
            </a:extLst>
          </p:cNvPr>
          <p:cNvSpPr/>
          <p:nvPr/>
        </p:nvSpPr>
        <p:spPr>
          <a:xfrm>
            <a:off x="268833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3" name="Rectangle 552">
            <a:extLst>
              <a:ext uri="{FF2B5EF4-FFF2-40B4-BE49-F238E27FC236}">
                <a16:creationId xmlns:a16="http://schemas.microsoft.com/office/drawing/2014/main" id="{CF923195-6C26-4DF0-6410-7939ECEA1A7F}"/>
              </a:ext>
            </a:extLst>
          </p:cNvPr>
          <p:cNvSpPr/>
          <p:nvPr/>
        </p:nvSpPr>
        <p:spPr>
          <a:xfrm>
            <a:off x="281635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5" name="Rectangle 554">
            <a:extLst>
              <a:ext uri="{FF2B5EF4-FFF2-40B4-BE49-F238E27FC236}">
                <a16:creationId xmlns:a16="http://schemas.microsoft.com/office/drawing/2014/main" id="{3A629654-012F-8CDF-DBB4-7F983E0A0EA9}"/>
              </a:ext>
            </a:extLst>
          </p:cNvPr>
          <p:cNvSpPr/>
          <p:nvPr/>
        </p:nvSpPr>
        <p:spPr>
          <a:xfrm>
            <a:off x="294436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7" name="Rectangle 556">
            <a:extLst>
              <a:ext uri="{FF2B5EF4-FFF2-40B4-BE49-F238E27FC236}">
                <a16:creationId xmlns:a16="http://schemas.microsoft.com/office/drawing/2014/main" id="{38ABB8F9-E31F-4DB8-8B3D-47C6CA25A031}"/>
              </a:ext>
            </a:extLst>
          </p:cNvPr>
          <p:cNvSpPr/>
          <p:nvPr/>
        </p:nvSpPr>
        <p:spPr>
          <a:xfrm>
            <a:off x="307238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9" name="Rectangle 558">
            <a:extLst>
              <a:ext uri="{FF2B5EF4-FFF2-40B4-BE49-F238E27FC236}">
                <a16:creationId xmlns:a16="http://schemas.microsoft.com/office/drawing/2014/main" id="{29F361AF-642A-07E9-C769-F4BAD0C309A5}"/>
              </a:ext>
            </a:extLst>
          </p:cNvPr>
          <p:cNvSpPr/>
          <p:nvPr/>
        </p:nvSpPr>
        <p:spPr>
          <a:xfrm>
            <a:off x="320040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1" name="Rectangle 560">
            <a:extLst>
              <a:ext uri="{FF2B5EF4-FFF2-40B4-BE49-F238E27FC236}">
                <a16:creationId xmlns:a16="http://schemas.microsoft.com/office/drawing/2014/main" id="{8F1E60CC-AEC6-A0E4-1B80-F20A2BFB4936}"/>
              </a:ext>
            </a:extLst>
          </p:cNvPr>
          <p:cNvSpPr/>
          <p:nvPr/>
        </p:nvSpPr>
        <p:spPr>
          <a:xfrm>
            <a:off x="332841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3" name="Rectangle 562">
            <a:extLst>
              <a:ext uri="{FF2B5EF4-FFF2-40B4-BE49-F238E27FC236}">
                <a16:creationId xmlns:a16="http://schemas.microsoft.com/office/drawing/2014/main" id="{CA7AAB50-0558-7447-F8BC-4185EE38232B}"/>
              </a:ext>
            </a:extLst>
          </p:cNvPr>
          <p:cNvSpPr/>
          <p:nvPr/>
        </p:nvSpPr>
        <p:spPr>
          <a:xfrm>
            <a:off x="345643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5" name="Rectangle 564">
            <a:extLst>
              <a:ext uri="{FF2B5EF4-FFF2-40B4-BE49-F238E27FC236}">
                <a16:creationId xmlns:a16="http://schemas.microsoft.com/office/drawing/2014/main" id="{20F42A9C-0ADC-AFE6-5241-DD3FD8D8D9CF}"/>
              </a:ext>
            </a:extLst>
          </p:cNvPr>
          <p:cNvSpPr/>
          <p:nvPr/>
        </p:nvSpPr>
        <p:spPr>
          <a:xfrm>
            <a:off x="358444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7" name="Rectangle 566">
            <a:extLst>
              <a:ext uri="{FF2B5EF4-FFF2-40B4-BE49-F238E27FC236}">
                <a16:creationId xmlns:a16="http://schemas.microsoft.com/office/drawing/2014/main" id="{B7FC39BA-27A0-3C0C-3246-58FD15BFFFD2}"/>
              </a:ext>
            </a:extLst>
          </p:cNvPr>
          <p:cNvSpPr/>
          <p:nvPr/>
        </p:nvSpPr>
        <p:spPr>
          <a:xfrm>
            <a:off x="371246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9" name="Rectangle 568">
            <a:extLst>
              <a:ext uri="{FF2B5EF4-FFF2-40B4-BE49-F238E27FC236}">
                <a16:creationId xmlns:a16="http://schemas.microsoft.com/office/drawing/2014/main" id="{F74915D4-A425-E7E2-0F33-23A3CFC66BCC}"/>
              </a:ext>
            </a:extLst>
          </p:cNvPr>
          <p:cNvSpPr/>
          <p:nvPr/>
        </p:nvSpPr>
        <p:spPr>
          <a:xfrm>
            <a:off x="384048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1" name="Rectangle 570">
            <a:extLst>
              <a:ext uri="{FF2B5EF4-FFF2-40B4-BE49-F238E27FC236}">
                <a16:creationId xmlns:a16="http://schemas.microsoft.com/office/drawing/2014/main" id="{72BDC9A2-ECF4-0561-A336-EAAA674C8E54}"/>
              </a:ext>
            </a:extLst>
          </p:cNvPr>
          <p:cNvSpPr/>
          <p:nvPr/>
        </p:nvSpPr>
        <p:spPr>
          <a:xfrm>
            <a:off x="396849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3" name="Rectangle 572">
            <a:extLst>
              <a:ext uri="{FF2B5EF4-FFF2-40B4-BE49-F238E27FC236}">
                <a16:creationId xmlns:a16="http://schemas.microsoft.com/office/drawing/2014/main" id="{7BBB2E7F-6DA0-8D67-820F-433440B87B04}"/>
              </a:ext>
            </a:extLst>
          </p:cNvPr>
          <p:cNvSpPr/>
          <p:nvPr/>
        </p:nvSpPr>
        <p:spPr>
          <a:xfrm>
            <a:off x="409651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5" name="Rectangle 574">
            <a:extLst>
              <a:ext uri="{FF2B5EF4-FFF2-40B4-BE49-F238E27FC236}">
                <a16:creationId xmlns:a16="http://schemas.microsoft.com/office/drawing/2014/main" id="{E73A8C13-4F1D-AD49-DF5C-B5588973CBE0}"/>
              </a:ext>
            </a:extLst>
          </p:cNvPr>
          <p:cNvSpPr/>
          <p:nvPr/>
        </p:nvSpPr>
        <p:spPr>
          <a:xfrm>
            <a:off x="422452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7" name="Rectangle 576">
            <a:extLst>
              <a:ext uri="{FF2B5EF4-FFF2-40B4-BE49-F238E27FC236}">
                <a16:creationId xmlns:a16="http://schemas.microsoft.com/office/drawing/2014/main" id="{F9CCF8DC-B623-7F4D-FE2E-6144CBC60274}"/>
              </a:ext>
            </a:extLst>
          </p:cNvPr>
          <p:cNvSpPr/>
          <p:nvPr/>
        </p:nvSpPr>
        <p:spPr>
          <a:xfrm>
            <a:off x="435254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9" name="Rectangle 578">
            <a:extLst>
              <a:ext uri="{FF2B5EF4-FFF2-40B4-BE49-F238E27FC236}">
                <a16:creationId xmlns:a16="http://schemas.microsoft.com/office/drawing/2014/main" id="{A6BD515F-4AAD-E988-7382-5C8778965C8D}"/>
              </a:ext>
            </a:extLst>
          </p:cNvPr>
          <p:cNvSpPr/>
          <p:nvPr/>
        </p:nvSpPr>
        <p:spPr>
          <a:xfrm>
            <a:off x="448056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1" name="Rectangle 580">
            <a:extLst>
              <a:ext uri="{FF2B5EF4-FFF2-40B4-BE49-F238E27FC236}">
                <a16:creationId xmlns:a16="http://schemas.microsoft.com/office/drawing/2014/main" id="{F43133C3-9427-5D52-3BE3-32249A8F1CB3}"/>
              </a:ext>
            </a:extLst>
          </p:cNvPr>
          <p:cNvSpPr/>
          <p:nvPr/>
        </p:nvSpPr>
        <p:spPr>
          <a:xfrm>
            <a:off x="460857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3" name="Rectangle 582">
            <a:extLst>
              <a:ext uri="{FF2B5EF4-FFF2-40B4-BE49-F238E27FC236}">
                <a16:creationId xmlns:a16="http://schemas.microsoft.com/office/drawing/2014/main" id="{E7C48550-85D0-902D-A336-4180271D4B20}"/>
              </a:ext>
            </a:extLst>
          </p:cNvPr>
          <p:cNvSpPr/>
          <p:nvPr/>
        </p:nvSpPr>
        <p:spPr>
          <a:xfrm>
            <a:off x="473659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5" name="TextBox 584">
            <a:extLst>
              <a:ext uri="{FF2B5EF4-FFF2-40B4-BE49-F238E27FC236}">
                <a16:creationId xmlns:a16="http://schemas.microsoft.com/office/drawing/2014/main" id="{16A8843F-5426-8EB2-8577-CAC60CC50C78}"/>
              </a:ext>
            </a:extLst>
          </p:cNvPr>
          <p:cNvSpPr txBox="1"/>
          <p:nvPr/>
        </p:nvSpPr>
        <p:spPr>
          <a:xfrm>
            <a:off x="749808" y="4828032"/>
            <a:ext cx="4160520" cy="525785"/>
          </a:xfrm>
          <a:prstGeom prst="rect">
            <a:avLst/>
          </a:prstGeom>
          <a:noFill/>
        </p:spPr>
        <p:txBody>
          <a:bodyPr wrap="square" lIns="13716" tIns="0" rIns="13716" bIns="0">
            <a:spAutoFit/>
          </a:bodyPr>
          <a:lstStyle/>
          <a:p>
            <a:pPr>
              <a:spcAft>
                <a:spcPts val="500"/>
              </a:spcAft>
              <a:defRPr sz="1500" b="0">
                <a:solidFill>
                  <a:srgbClr val="A8B7CF"/>
                </a:solidFill>
                <a:latin typeface="Aptos"/>
              </a:defRPr>
            </a:pPr>
            <a:r>
              <a:rPr>
                <a:solidFill>
                  <a:schemeClr val="bg1"/>
                </a:solidFill>
              </a:rPr>
              <a:t>Horizontal / vertical forwarding</a:t>
            </a:r>
          </a:p>
          <a:p>
            <a:pPr>
              <a:spcAft>
                <a:spcPts val="500"/>
              </a:spcAft>
              <a:defRPr sz="1500" b="0">
                <a:solidFill>
                  <a:srgbClr val="A8B7CF"/>
                </a:solidFill>
                <a:latin typeface="Aptos"/>
              </a:defRPr>
            </a:pPr>
            <a:r>
              <a:rPr>
                <a:solidFill>
                  <a:schemeClr val="bg1"/>
                </a:solidFill>
              </a:rPr>
              <a:t>Local accumulation + bias injection</a:t>
            </a:r>
          </a:p>
        </p:txBody>
      </p:sp>
      <p:sp>
        <p:nvSpPr>
          <p:cNvPr id="587" name="Rounded Rectangle 267">
            <a:extLst>
              <a:ext uri="{FF2B5EF4-FFF2-40B4-BE49-F238E27FC236}">
                <a16:creationId xmlns:a16="http://schemas.microsoft.com/office/drawing/2014/main" id="{74E1F8FD-2360-D4BB-B97C-648A74955482}"/>
              </a:ext>
            </a:extLst>
          </p:cNvPr>
          <p:cNvSpPr/>
          <p:nvPr/>
        </p:nvSpPr>
        <p:spPr>
          <a:xfrm>
            <a:off x="5532120" y="2112264"/>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9" name="TextBox 588">
            <a:extLst>
              <a:ext uri="{FF2B5EF4-FFF2-40B4-BE49-F238E27FC236}">
                <a16:creationId xmlns:a16="http://schemas.microsoft.com/office/drawing/2014/main" id="{BDB68727-0151-7964-4E75-3C1F096797EB}"/>
              </a:ext>
            </a:extLst>
          </p:cNvPr>
          <p:cNvSpPr txBox="1"/>
          <p:nvPr/>
        </p:nvSpPr>
        <p:spPr>
          <a:xfrm>
            <a:off x="5623559" y="2148840"/>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01</a:t>
            </a:r>
          </a:p>
        </p:txBody>
      </p:sp>
      <p:sp>
        <p:nvSpPr>
          <p:cNvPr id="591" name="TextBox 590">
            <a:extLst>
              <a:ext uri="{FF2B5EF4-FFF2-40B4-BE49-F238E27FC236}">
                <a16:creationId xmlns:a16="http://schemas.microsoft.com/office/drawing/2014/main" id="{3FD02F78-C98D-ED7B-6972-537EA3CB9A1A}"/>
              </a:ext>
            </a:extLst>
          </p:cNvPr>
          <p:cNvSpPr txBox="1"/>
          <p:nvPr/>
        </p:nvSpPr>
        <p:spPr>
          <a:xfrm>
            <a:off x="6144768" y="2112264"/>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Accumulate</a:t>
            </a:r>
          </a:p>
        </p:txBody>
      </p:sp>
      <p:sp>
        <p:nvSpPr>
          <p:cNvPr id="593" name="TextBox 592">
            <a:extLst>
              <a:ext uri="{FF2B5EF4-FFF2-40B4-BE49-F238E27FC236}">
                <a16:creationId xmlns:a16="http://schemas.microsoft.com/office/drawing/2014/main" id="{2D16937C-E9E0-264B-76CE-5333F86188A2}"/>
              </a:ext>
            </a:extLst>
          </p:cNvPr>
          <p:cNvSpPr txBox="1"/>
          <p:nvPr/>
        </p:nvSpPr>
        <p:spPr>
          <a:xfrm>
            <a:off x="6144768" y="2505456"/>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solidFill>
                  <a:schemeClr val="bg1"/>
                </a:solidFill>
              </a:rPr>
              <a:t>INT8 → INT32; INT16 → INT48</a:t>
            </a:r>
          </a:p>
        </p:txBody>
      </p:sp>
      <p:sp>
        <p:nvSpPr>
          <p:cNvPr id="595" name="Rounded Rectangle 271">
            <a:extLst>
              <a:ext uri="{FF2B5EF4-FFF2-40B4-BE49-F238E27FC236}">
                <a16:creationId xmlns:a16="http://schemas.microsoft.com/office/drawing/2014/main" id="{1F02AD29-75D0-F98B-0D1D-7D66B99E0426}"/>
              </a:ext>
            </a:extLst>
          </p:cNvPr>
          <p:cNvSpPr/>
          <p:nvPr/>
        </p:nvSpPr>
        <p:spPr>
          <a:xfrm>
            <a:off x="5532120" y="2962656"/>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97" name="TextBox 596">
            <a:extLst>
              <a:ext uri="{FF2B5EF4-FFF2-40B4-BE49-F238E27FC236}">
                <a16:creationId xmlns:a16="http://schemas.microsoft.com/office/drawing/2014/main" id="{42047E6D-67D8-44AF-AE86-A3100CED8A8A}"/>
              </a:ext>
            </a:extLst>
          </p:cNvPr>
          <p:cNvSpPr txBox="1"/>
          <p:nvPr/>
        </p:nvSpPr>
        <p:spPr>
          <a:xfrm>
            <a:off x="5623559" y="2999232"/>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02</a:t>
            </a:r>
          </a:p>
        </p:txBody>
      </p:sp>
      <p:sp>
        <p:nvSpPr>
          <p:cNvPr id="599" name="TextBox 598">
            <a:extLst>
              <a:ext uri="{FF2B5EF4-FFF2-40B4-BE49-F238E27FC236}">
                <a16:creationId xmlns:a16="http://schemas.microsoft.com/office/drawing/2014/main" id="{0DBE77BB-6495-22FE-BD99-2AB0339C3E65}"/>
              </a:ext>
            </a:extLst>
          </p:cNvPr>
          <p:cNvSpPr txBox="1"/>
          <p:nvPr/>
        </p:nvSpPr>
        <p:spPr>
          <a:xfrm>
            <a:off x="6144768" y="2962656"/>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err="1">
                <a:solidFill>
                  <a:schemeClr val="bg1"/>
                </a:solidFill>
              </a:rPr>
              <a:t>Requantize</a:t>
            </a:r>
            <a:endParaRPr dirty="0">
              <a:solidFill>
                <a:schemeClr val="bg1"/>
              </a:solidFill>
            </a:endParaRPr>
          </a:p>
        </p:txBody>
      </p:sp>
      <p:sp>
        <p:nvSpPr>
          <p:cNvPr id="601" name="TextBox 600">
            <a:extLst>
              <a:ext uri="{FF2B5EF4-FFF2-40B4-BE49-F238E27FC236}">
                <a16:creationId xmlns:a16="http://schemas.microsoft.com/office/drawing/2014/main" id="{D8E004B4-98B1-2F68-CA8E-0B7669F79624}"/>
              </a:ext>
            </a:extLst>
          </p:cNvPr>
          <p:cNvSpPr txBox="1"/>
          <p:nvPr/>
        </p:nvSpPr>
        <p:spPr>
          <a:xfrm>
            <a:off x="6144768" y="3355848"/>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a:solidFill>
                  <a:schemeClr val="bg1"/>
                </a:solidFill>
              </a:rPr>
              <a:t>Arithmetic shift and saturation</a:t>
            </a:r>
          </a:p>
        </p:txBody>
      </p:sp>
      <p:sp>
        <p:nvSpPr>
          <p:cNvPr id="603" name="Rounded Rectangle 275">
            <a:extLst>
              <a:ext uri="{FF2B5EF4-FFF2-40B4-BE49-F238E27FC236}">
                <a16:creationId xmlns:a16="http://schemas.microsoft.com/office/drawing/2014/main" id="{797A7B01-0B2C-A16E-C5A5-1D8A8EF57E4F}"/>
              </a:ext>
            </a:extLst>
          </p:cNvPr>
          <p:cNvSpPr/>
          <p:nvPr/>
        </p:nvSpPr>
        <p:spPr>
          <a:xfrm>
            <a:off x="5532120" y="3813048"/>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605" name="TextBox 604">
            <a:extLst>
              <a:ext uri="{FF2B5EF4-FFF2-40B4-BE49-F238E27FC236}">
                <a16:creationId xmlns:a16="http://schemas.microsoft.com/office/drawing/2014/main" id="{E8861747-DAC6-1992-39AE-80ADED3FD231}"/>
              </a:ext>
            </a:extLst>
          </p:cNvPr>
          <p:cNvSpPr txBox="1"/>
          <p:nvPr/>
        </p:nvSpPr>
        <p:spPr>
          <a:xfrm>
            <a:off x="5623559" y="3849624"/>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03</a:t>
            </a:r>
          </a:p>
        </p:txBody>
      </p:sp>
      <p:sp>
        <p:nvSpPr>
          <p:cNvPr id="607" name="TextBox 606">
            <a:extLst>
              <a:ext uri="{FF2B5EF4-FFF2-40B4-BE49-F238E27FC236}">
                <a16:creationId xmlns:a16="http://schemas.microsoft.com/office/drawing/2014/main" id="{BFEC929D-3CC4-F384-5BB0-1F5BA0980936}"/>
              </a:ext>
            </a:extLst>
          </p:cNvPr>
          <p:cNvSpPr txBox="1"/>
          <p:nvPr/>
        </p:nvSpPr>
        <p:spPr>
          <a:xfrm>
            <a:off x="6144768" y="3813048"/>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Fuse</a:t>
            </a:r>
          </a:p>
        </p:txBody>
      </p:sp>
      <p:sp>
        <p:nvSpPr>
          <p:cNvPr id="609" name="TextBox 608">
            <a:extLst>
              <a:ext uri="{FF2B5EF4-FFF2-40B4-BE49-F238E27FC236}">
                <a16:creationId xmlns:a16="http://schemas.microsoft.com/office/drawing/2014/main" id="{9833EECB-B6C2-BE90-EB36-8C2C263C418F}"/>
              </a:ext>
            </a:extLst>
          </p:cNvPr>
          <p:cNvSpPr txBox="1"/>
          <p:nvPr/>
        </p:nvSpPr>
        <p:spPr>
          <a:xfrm>
            <a:off x="6144768" y="4206240"/>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solidFill>
                  <a:schemeClr val="bg1"/>
                </a:solidFill>
              </a:rPr>
              <a:t>Residual add + </a:t>
            </a:r>
            <a:r>
              <a:rPr dirty="0" err="1">
                <a:solidFill>
                  <a:schemeClr val="bg1"/>
                </a:solidFill>
              </a:rPr>
              <a:t>ReLU</a:t>
            </a:r>
            <a:r>
              <a:rPr dirty="0">
                <a:solidFill>
                  <a:schemeClr val="bg1"/>
                </a:solidFill>
              </a:rPr>
              <a:t> / Leaky </a:t>
            </a:r>
            <a:r>
              <a:rPr dirty="0" err="1">
                <a:solidFill>
                  <a:schemeClr val="bg1"/>
                </a:solidFill>
              </a:rPr>
              <a:t>ReLU</a:t>
            </a:r>
            <a:r>
              <a:rPr dirty="0">
                <a:solidFill>
                  <a:schemeClr val="bg1"/>
                </a:solidFill>
              </a:rPr>
              <a:t> / LUT</a:t>
            </a:r>
          </a:p>
        </p:txBody>
      </p:sp>
      <p:sp>
        <p:nvSpPr>
          <p:cNvPr id="611" name="Rounded Rectangle 279">
            <a:extLst>
              <a:ext uri="{FF2B5EF4-FFF2-40B4-BE49-F238E27FC236}">
                <a16:creationId xmlns:a16="http://schemas.microsoft.com/office/drawing/2014/main" id="{BB3A0449-0D83-EF31-05D5-A2601C1D80A0}"/>
              </a:ext>
            </a:extLst>
          </p:cNvPr>
          <p:cNvSpPr/>
          <p:nvPr/>
        </p:nvSpPr>
        <p:spPr>
          <a:xfrm>
            <a:off x="5532120" y="4663440"/>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613" name="TextBox 612">
            <a:extLst>
              <a:ext uri="{FF2B5EF4-FFF2-40B4-BE49-F238E27FC236}">
                <a16:creationId xmlns:a16="http://schemas.microsoft.com/office/drawing/2014/main" id="{403FA894-3934-AE5D-05E1-0B88A8B30D7D}"/>
              </a:ext>
            </a:extLst>
          </p:cNvPr>
          <p:cNvSpPr txBox="1"/>
          <p:nvPr/>
        </p:nvSpPr>
        <p:spPr>
          <a:xfrm>
            <a:off x="5623559" y="4700016"/>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04</a:t>
            </a:r>
          </a:p>
        </p:txBody>
      </p:sp>
      <p:sp>
        <p:nvSpPr>
          <p:cNvPr id="615" name="TextBox 614">
            <a:extLst>
              <a:ext uri="{FF2B5EF4-FFF2-40B4-BE49-F238E27FC236}">
                <a16:creationId xmlns:a16="http://schemas.microsoft.com/office/drawing/2014/main" id="{BE9B40D8-6E8B-A32D-9AAC-9C024D5F0BD5}"/>
              </a:ext>
            </a:extLst>
          </p:cNvPr>
          <p:cNvSpPr txBox="1"/>
          <p:nvPr/>
        </p:nvSpPr>
        <p:spPr>
          <a:xfrm>
            <a:off x="6144768" y="4663440"/>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Write back</a:t>
            </a:r>
          </a:p>
        </p:txBody>
      </p:sp>
      <p:sp>
        <p:nvSpPr>
          <p:cNvPr id="617" name="TextBox 616">
            <a:extLst>
              <a:ext uri="{FF2B5EF4-FFF2-40B4-BE49-F238E27FC236}">
                <a16:creationId xmlns:a16="http://schemas.microsoft.com/office/drawing/2014/main" id="{BE857AED-9415-F876-42EF-F70FC51B37C8}"/>
              </a:ext>
            </a:extLst>
          </p:cNvPr>
          <p:cNvSpPr txBox="1"/>
          <p:nvPr/>
        </p:nvSpPr>
        <p:spPr>
          <a:xfrm>
            <a:off x="6144768" y="5056631"/>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solidFill>
                  <a:schemeClr val="bg1"/>
                </a:solidFill>
              </a:rPr>
              <a:t>Stride, pooling and registered SRAM output</a:t>
            </a:r>
          </a:p>
        </p:txBody>
      </p:sp>
      <p:sp>
        <p:nvSpPr>
          <p:cNvPr id="619" name="TextBox 618">
            <a:extLst>
              <a:ext uri="{FF2B5EF4-FFF2-40B4-BE49-F238E27FC236}">
                <a16:creationId xmlns:a16="http://schemas.microsoft.com/office/drawing/2014/main" id="{EFCEA9C7-80D6-8225-F4D7-D12AA0C93562}"/>
              </a:ext>
            </a:extLst>
          </p:cNvPr>
          <p:cNvSpPr txBox="1"/>
          <p:nvPr/>
        </p:nvSpPr>
        <p:spPr>
          <a:xfrm>
            <a:off x="685800" y="5925312"/>
            <a:ext cx="10698480" cy="307777"/>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38.4 GOP/s theoretical INT8 peak at 75 MHz</a:t>
            </a:r>
          </a:p>
        </p:txBody>
      </p:sp>
      <p:sp>
        <p:nvSpPr>
          <p:cNvPr id="621" name="TextBox 620">
            <a:extLst>
              <a:ext uri="{FF2B5EF4-FFF2-40B4-BE49-F238E27FC236}">
                <a16:creationId xmlns:a16="http://schemas.microsoft.com/office/drawing/2014/main" id="{3228CA21-D47A-FF65-055E-BC44B4687AAC}"/>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4103560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A67E53A9-7774-F4B5-4A48-28FA2B9F06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AE6B9E-2CF3-A65E-27A6-1661D3A247B5}"/>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lang="en-US" dirty="0">
                <a:solidFill>
                  <a:srgbClr val="35DFC3"/>
                </a:solidFill>
              </a:rPr>
              <a:t>Overall </a:t>
            </a:r>
            <a:r>
              <a:rPr dirty="0">
                <a:solidFill>
                  <a:srgbClr val="35DFC3"/>
                </a:solidFill>
              </a:rPr>
              <a:t>MEMORY HIERARCHY</a:t>
            </a:r>
          </a:p>
        </p:txBody>
      </p:sp>
      <p:sp>
        <p:nvSpPr>
          <p:cNvPr id="3" name="TextBox 2">
            <a:extLst>
              <a:ext uri="{FF2B5EF4-FFF2-40B4-BE49-F238E27FC236}">
                <a16:creationId xmlns:a16="http://schemas.microsoft.com/office/drawing/2014/main" id="{96BC295B-7CA7-7B1C-7740-8B352DC08CCD}"/>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a:solidFill>
                  <a:schemeClr val="bg1"/>
                </a:solidFill>
              </a:rPr>
              <a:t>Memory hierarchy: DDR capacity to PE-local reuse</a:t>
            </a:r>
          </a:p>
        </p:txBody>
      </p:sp>
      <p:sp>
        <p:nvSpPr>
          <p:cNvPr id="4" name="TextBox 3">
            <a:extLst>
              <a:ext uri="{FF2B5EF4-FFF2-40B4-BE49-F238E27FC236}">
                <a16:creationId xmlns:a16="http://schemas.microsoft.com/office/drawing/2014/main" id="{36E01A5B-B013-4632-B1BD-49C0E16C5246}"/>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solidFill>
              </a:rPr>
              <a:t>Explicitly managed storage keeps bulk model data off chip and active compute data close to the array.</a:t>
            </a:r>
          </a:p>
        </p:txBody>
      </p:sp>
      <p:sp>
        <p:nvSpPr>
          <p:cNvPr id="5" name="Rectangle 4">
            <a:extLst>
              <a:ext uri="{FF2B5EF4-FFF2-40B4-BE49-F238E27FC236}">
                <a16:creationId xmlns:a16="http://schemas.microsoft.com/office/drawing/2014/main" id="{7F203D78-2E57-BB49-7965-28E9D6C90F0E}"/>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BAD9295-15DE-B8D3-E659-D38E7277DF31}"/>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7</a:t>
            </a:r>
            <a:r>
              <a:rPr dirty="0">
                <a:solidFill>
                  <a:srgbClr val="35DFC3"/>
                </a:solidFill>
              </a:rPr>
              <a:t> / 1</a:t>
            </a:r>
            <a:r>
              <a:rPr lang="en-US" dirty="0">
                <a:solidFill>
                  <a:srgbClr val="35DFC3"/>
                </a:solidFill>
              </a:rPr>
              <a:t>1</a:t>
            </a:r>
            <a:endParaRPr dirty="0">
              <a:solidFill>
                <a:srgbClr val="35DFC3"/>
              </a:solidFill>
            </a:endParaRPr>
          </a:p>
        </p:txBody>
      </p:sp>
      <p:sp>
        <p:nvSpPr>
          <p:cNvPr id="8" name="Rounded Rectangle 8">
            <a:extLst>
              <a:ext uri="{FF2B5EF4-FFF2-40B4-BE49-F238E27FC236}">
                <a16:creationId xmlns:a16="http://schemas.microsoft.com/office/drawing/2014/main" id="{6AF73CDB-BA99-ABC8-890F-D9C6081A7886}"/>
              </a:ext>
            </a:extLst>
          </p:cNvPr>
          <p:cNvSpPr/>
          <p:nvPr/>
        </p:nvSpPr>
        <p:spPr>
          <a:xfrm>
            <a:off x="548640" y="2039112"/>
            <a:ext cx="6629400" cy="795528"/>
          </a:xfrm>
          <a:prstGeom prst="roundRect">
            <a:avLst>
              <a:gd name="adj" fmla="val 12000"/>
            </a:avLst>
          </a:prstGeom>
          <a:solidFill>
            <a:srgbClr val="FFFFFF"/>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41D3EDB8-4ABD-597F-E981-11C998153485}"/>
              </a:ext>
            </a:extLst>
          </p:cNvPr>
          <p:cNvSpPr txBox="1"/>
          <p:nvPr/>
        </p:nvSpPr>
        <p:spPr>
          <a:xfrm>
            <a:off x="658368" y="2130552"/>
            <a:ext cx="6409944" cy="292608"/>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dirty="0"/>
              <a:t>PS DDR4 — images, weights and output logits</a:t>
            </a:r>
          </a:p>
        </p:txBody>
      </p:sp>
      <p:sp>
        <p:nvSpPr>
          <p:cNvPr id="10" name="TextBox 9">
            <a:extLst>
              <a:ext uri="{FF2B5EF4-FFF2-40B4-BE49-F238E27FC236}">
                <a16:creationId xmlns:a16="http://schemas.microsoft.com/office/drawing/2014/main" id="{3C1B399E-941D-B6B0-0AC7-7C8B66C74913}"/>
              </a:ext>
            </a:extLst>
          </p:cNvPr>
          <p:cNvSpPr txBox="1"/>
          <p:nvPr/>
        </p:nvSpPr>
        <p:spPr>
          <a:xfrm>
            <a:off x="658368" y="2459736"/>
            <a:ext cx="6409944" cy="347472"/>
          </a:xfrm>
          <a:prstGeom prst="rect">
            <a:avLst/>
          </a:prstGeom>
          <a:noFill/>
        </p:spPr>
        <p:txBody>
          <a:bodyPr wrap="square" lIns="13716" tIns="0" rIns="13716" bIns="0">
            <a:spAutoFit/>
          </a:bodyPr>
          <a:lstStyle/>
          <a:p>
            <a:pPr>
              <a:spcAft>
                <a:spcPts val="500"/>
              </a:spcAft>
              <a:defRPr sz="1150" b="0">
                <a:solidFill>
                  <a:srgbClr val="586980"/>
                </a:solidFill>
                <a:latin typeface="Aptos"/>
              </a:defRPr>
            </a:pPr>
            <a:r>
              <a:t>Large external store; DMA sees the mapped 2 GiB DDR-low aperture</a:t>
            </a:r>
          </a:p>
        </p:txBody>
      </p:sp>
      <p:cxnSp>
        <p:nvCxnSpPr>
          <p:cNvPr id="11" name="Connector 11">
            <a:extLst>
              <a:ext uri="{FF2B5EF4-FFF2-40B4-BE49-F238E27FC236}">
                <a16:creationId xmlns:a16="http://schemas.microsoft.com/office/drawing/2014/main" id="{0AF6F9DF-C051-7C93-0277-74395E202E38}"/>
              </a:ext>
            </a:extLst>
          </p:cNvPr>
          <p:cNvCxnSpPr/>
          <p:nvPr/>
        </p:nvCxnSpPr>
        <p:spPr>
          <a:xfrm>
            <a:off x="3858768" y="2834640"/>
            <a:ext cx="0" cy="502920"/>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B13C223-1DC8-3078-7E45-977C85BC7DA9}"/>
              </a:ext>
            </a:extLst>
          </p:cNvPr>
          <p:cNvSpPr txBox="1"/>
          <p:nvPr/>
        </p:nvSpPr>
        <p:spPr>
          <a:xfrm>
            <a:off x="4050791" y="2953512"/>
            <a:ext cx="3108960" cy="184666"/>
          </a:xfrm>
          <a:prstGeom prst="rect">
            <a:avLst/>
          </a:prstGeom>
          <a:noFill/>
        </p:spPr>
        <p:txBody>
          <a:bodyPr wrap="square" lIns="13716" tIns="0" rIns="13716" bIns="0">
            <a:spAutoFit/>
          </a:bodyPr>
          <a:lstStyle/>
          <a:p>
            <a:pPr>
              <a:spcAft>
                <a:spcPts val="500"/>
              </a:spcAft>
              <a:defRPr sz="1200" b="0">
                <a:solidFill>
                  <a:srgbClr val="586980"/>
                </a:solidFill>
                <a:latin typeface="Aptos"/>
              </a:defRPr>
            </a:pPr>
            <a:r>
              <a:rPr>
                <a:solidFill>
                  <a:schemeClr val="bg1"/>
                </a:solidFill>
              </a:rPr>
              <a:t>128-bit AXI bursts  /  16 bytes per beat</a:t>
            </a:r>
          </a:p>
        </p:txBody>
      </p:sp>
      <p:sp>
        <p:nvSpPr>
          <p:cNvPr id="13" name="Rounded Rectangle 13">
            <a:extLst>
              <a:ext uri="{FF2B5EF4-FFF2-40B4-BE49-F238E27FC236}">
                <a16:creationId xmlns:a16="http://schemas.microsoft.com/office/drawing/2014/main" id="{8ADF88DA-6466-7862-7773-0199EE40DD41}"/>
              </a:ext>
            </a:extLst>
          </p:cNvPr>
          <p:cNvSpPr/>
          <p:nvPr/>
        </p:nvSpPr>
        <p:spPr>
          <a:xfrm>
            <a:off x="548640" y="3337560"/>
            <a:ext cx="6629400" cy="877824"/>
          </a:xfrm>
          <a:prstGeom prst="roundRect">
            <a:avLst>
              <a:gd name="adj" fmla="val 12000"/>
            </a:avLst>
          </a:prstGeom>
          <a:solidFill>
            <a:srgbClr val="FFFFFF"/>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E00748D-EA7E-E306-E9D5-C012CFBF492E}"/>
              </a:ext>
            </a:extLst>
          </p:cNvPr>
          <p:cNvSpPr txBox="1"/>
          <p:nvPr/>
        </p:nvSpPr>
        <p:spPr>
          <a:xfrm>
            <a:off x="658368" y="3429000"/>
            <a:ext cx="6409944" cy="292608"/>
          </a:xfrm>
          <a:prstGeom prst="rect">
            <a:avLst/>
          </a:prstGeom>
          <a:noFill/>
        </p:spPr>
        <p:txBody>
          <a:bodyPr wrap="square" lIns="13716" tIns="0" rIns="13716" bIns="0">
            <a:spAutoFit/>
          </a:bodyPr>
          <a:lstStyle/>
          <a:p>
            <a:pPr>
              <a:spcAft>
                <a:spcPts val="500"/>
              </a:spcAft>
              <a:defRPr sz="1700" b="1">
                <a:solidFill>
                  <a:srgbClr val="15233B"/>
                </a:solidFill>
                <a:latin typeface="Aptos"/>
              </a:defRPr>
            </a:pPr>
            <a:r>
              <a:rPr dirty="0"/>
              <a:t>Banked on-chip SRAM — active tensors and weights</a:t>
            </a:r>
          </a:p>
        </p:txBody>
      </p:sp>
      <p:sp>
        <p:nvSpPr>
          <p:cNvPr id="15" name="TextBox 14">
            <a:extLst>
              <a:ext uri="{FF2B5EF4-FFF2-40B4-BE49-F238E27FC236}">
                <a16:creationId xmlns:a16="http://schemas.microsoft.com/office/drawing/2014/main" id="{0E14465A-C3ED-6CDB-AD13-E16451DF3930}"/>
              </a:ext>
            </a:extLst>
          </p:cNvPr>
          <p:cNvSpPr txBox="1"/>
          <p:nvPr/>
        </p:nvSpPr>
        <p:spPr>
          <a:xfrm>
            <a:off x="658368" y="3758184"/>
            <a:ext cx="6409944" cy="429768"/>
          </a:xfrm>
          <a:prstGeom prst="rect">
            <a:avLst/>
          </a:prstGeom>
          <a:noFill/>
        </p:spPr>
        <p:txBody>
          <a:bodyPr wrap="square" lIns="13716" tIns="0" rIns="13716" bIns="0">
            <a:spAutoFit/>
          </a:bodyPr>
          <a:lstStyle/>
          <a:p>
            <a:pPr>
              <a:spcAft>
                <a:spcPts val="500"/>
              </a:spcAft>
              <a:defRPr sz="1150" b="0">
                <a:solidFill>
                  <a:srgbClr val="586980"/>
                </a:solidFill>
                <a:latin typeface="Aptos"/>
              </a:defRPr>
            </a:pPr>
            <a:r>
              <a:rPr dirty="0"/>
              <a:t>INT8: 3.93 MB, 256 B/row   |   INT16: 2.10 MB, 512 B/row</a:t>
            </a:r>
          </a:p>
        </p:txBody>
      </p:sp>
      <p:cxnSp>
        <p:nvCxnSpPr>
          <p:cNvPr id="16" name="Connector 16">
            <a:extLst>
              <a:ext uri="{FF2B5EF4-FFF2-40B4-BE49-F238E27FC236}">
                <a16:creationId xmlns:a16="http://schemas.microsoft.com/office/drawing/2014/main" id="{DDBE5687-E1A9-DA1E-E68C-9FAC67D6053F}"/>
              </a:ext>
            </a:extLst>
          </p:cNvPr>
          <p:cNvCxnSpPr/>
          <p:nvPr/>
        </p:nvCxnSpPr>
        <p:spPr>
          <a:xfrm>
            <a:off x="3858768" y="4215384"/>
            <a:ext cx="0" cy="411480"/>
          </a:xfrm>
          <a:prstGeom prst="line">
            <a:avLst/>
          </a:prstGeom>
          <a:ln w="20320">
            <a:solidFill>
              <a:srgbClr val="35DF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54EFD39-FF6C-1B6F-2DD6-A46968209165}"/>
              </a:ext>
            </a:extLst>
          </p:cNvPr>
          <p:cNvSpPr txBox="1"/>
          <p:nvPr/>
        </p:nvSpPr>
        <p:spPr>
          <a:xfrm>
            <a:off x="4050791" y="4315968"/>
            <a:ext cx="3099816" cy="169277"/>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rPr>
                <a:solidFill>
                  <a:schemeClr val="bg1"/>
                </a:solidFill>
              </a:rPr>
              <a:t>Controller selects rows, banks and operands</a:t>
            </a:r>
          </a:p>
        </p:txBody>
      </p:sp>
      <p:sp>
        <p:nvSpPr>
          <p:cNvPr id="18" name="Rounded Rectangle 18">
            <a:extLst>
              <a:ext uri="{FF2B5EF4-FFF2-40B4-BE49-F238E27FC236}">
                <a16:creationId xmlns:a16="http://schemas.microsoft.com/office/drawing/2014/main" id="{CCA064A8-3A18-56DE-D8F4-36ACF0738FF9}"/>
              </a:ext>
            </a:extLst>
          </p:cNvPr>
          <p:cNvSpPr/>
          <p:nvPr/>
        </p:nvSpPr>
        <p:spPr>
          <a:xfrm>
            <a:off x="1033271" y="4626864"/>
            <a:ext cx="5650992" cy="630936"/>
          </a:xfrm>
          <a:prstGeom prst="roundRect">
            <a:avLst>
              <a:gd name="adj" fmla="val 12000"/>
            </a:avLst>
          </a:prstGeom>
          <a:solidFill>
            <a:srgbClr val="FFFFFF"/>
          </a:solidFill>
          <a:ln>
            <a:solidFill>
              <a:srgbClr val="A6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D3CDF150-2C36-7B7E-B442-3D43A3249A3A}"/>
              </a:ext>
            </a:extLst>
          </p:cNvPr>
          <p:cNvSpPr txBox="1"/>
          <p:nvPr/>
        </p:nvSpPr>
        <p:spPr>
          <a:xfrm>
            <a:off x="1143000" y="4718303"/>
            <a:ext cx="5431536" cy="292608"/>
          </a:xfrm>
          <a:prstGeom prst="rect">
            <a:avLst/>
          </a:prstGeom>
          <a:noFill/>
        </p:spPr>
        <p:txBody>
          <a:bodyPr wrap="square" lIns="13716" tIns="0" rIns="13716" bIns="0">
            <a:spAutoFit/>
          </a:bodyPr>
          <a:lstStyle/>
          <a:p>
            <a:pPr>
              <a:spcAft>
                <a:spcPts val="500"/>
              </a:spcAft>
              <a:defRPr sz="1600" b="1">
                <a:solidFill>
                  <a:srgbClr val="15233B"/>
                </a:solidFill>
                <a:latin typeface="Aptos"/>
              </a:defRPr>
            </a:pPr>
            <a:r>
              <a:rPr dirty="0"/>
              <a:t>Weight staging + GAP / output registers</a:t>
            </a:r>
          </a:p>
        </p:txBody>
      </p:sp>
      <p:cxnSp>
        <p:nvCxnSpPr>
          <p:cNvPr id="20" name="Connector 20">
            <a:extLst>
              <a:ext uri="{FF2B5EF4-FFF2-40B4-BE49-F238E27FC236}">
                <a16:creationId xmlns:a16="http://schemas.microsoft.com/office/drawing/2014/main" id="{9158DB68-9EBD-C43A-B10F-5A4090370442}"/>
              </a:ext>
            </a:extLst>
          </p:cNvPr>
          <p:cNvCxnSpPr/>
          <p:nvPr/>
        </p:nvCxnSpPr>
        <p:spPr>
          <a:xfrm>
            <a:off x="3858768" y="5257800"/>
            <a:ext cx="0" cy="338328"/>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1">
            <a:extLst>
              <a:ext uri="{FF2B5EF4-FFF2-40B4-BE49-F238E27FC236}">
                <a16:creationId xmlns:a16="http://schemas.microsoft.com/office/drawing/2014/main" id="{AEDA0581-A08E-3F37-81D1-91E8F1BED0BC}"/>
              </a:ext>
            </a:extLst>
          </p:cNvPr>
          <p:cNvSpPr/>
          <p:nvPr/>
        </p:nvSpPr>
        <p:spPr>
          <a:xfrm>
            <a:off x="1536192" y="5596128"/>
            <a:ext cx="4645152" cy="594360"/>
          </a:xfrm>
          <a:prstGeom prst="roundRect">
            <a:avLst>
              <a:gd name="adj" fmla="val 12000"/>
            </a:avLst>
          </a:prstGeom>
          <a:solidFill>
            <a:srgbClr val="FFFFFF"/>
          </a:solidFill>
          <a:ln>
            <a:solidFill>
              <a:srgbClr val="FFC6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328C8AB-47AE-9371-7FA0-A680FAC2A96C}"/>
              </a:ext>
            </a:extLst>
          </p:cNvPr>
          <p:cNvSpPr txBox="1"/>
          <p:nvPr/>
        </p:nvSpPr>
        <p:spPr>
          <a:xfrm>
            <a:off x="1645919" y="5687568"/>
            <a:ext cx="4425696" cy="292608"/>
          </a:xfrm>
          <a:prstGeom prst="rect">
            <a:avLst/>
          </a:prstGeom>
          <a:noFill/>
        </p:spPr>
        <p:txBody>
          <a:bodyPr wrap="square" lIns="13716" tIns="0" rIns="13716" bIns="0">
            <a:spAutoFit/>
          </a:bodyPr>
          <a:lstStyle/>
          <a:p>
            <a:pPr>
              <a:spcAft>
                <a:spcPts val="500"/>
              </a:spcAft>
              <a:defRPr sz="1400" b="1">
                <a:solidFill>
                  <a:srgbClr val="15233B"/>
                </a:solidFill>
                <a:latin typeface="Aptos"/>
              </a:defRPr>
            </a:pPr>
            <a:r>
              <a:t>PE registers: HOR / VERT / ENG / Outf_map</a:t>
            </a:r>
          </a:p>
        </p:txBody>
      </p:sp>
      <p:sp>
        <p:nvSpPr>
          <p:cNvPr id="23" name="Rounded Rectangle 23">
            <a:extLst>
              <a:ext uri="{FF2B5EF4-FFF2-40B4-BE49-F238E27FC236}">
                <a16:creationId xmlns:a16="http://schemas.microsoft.com/office/drawing/2014/main" id="{366BF5BC-C64E-30D3-1F4D-99368A2505D4}"/>
              </a:ext>
            </a:extLst>
          </p:cNvPr>
          <p:cNvSpPr/>
          <p:nvPr/>
        </p:nvSpPr>
        <p:spPr>
          <a:xfrm>
            <a:off x="7607808" y="2039112"/>
            <a:ext cx="4069080" cy="41513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6D9B1C66-DFE7-902F-7731-51F34A063A4A}"/>
              </a:ext>
            </a:extLst>
          </p:cNvPr>
          <p:cNvSpPr txBox="1"/>
          <p:nvPr/>
        </p:nvSpPr>
        <p:spPr>
          <a:xfrm>
            <a:off x="7799831" y="2231136"/>
            <a:ext cx="3657600" cy="246888"/>
          </a:xfrm>
          <a:prstGeom prst="rect">
            <a:avLst/>
          </a:prstGeom>
          <a:noFill/>
        </p:spPr>
        <p:txBody>
          <a:bodyPr wrap="square" lIns="13716" tIns="0" rIns="13716" bIns="0">
            <a:spAutoFit/>
          </a:bodyPr>
          <a:lstStyle/>
          <a:p>
            <a:pPr>
              <a:spcAft>
                <a:spcPts val="500"/>
              </a:spcAft>
              <a:defRPr sz="1200" b="1">
                <a:solidFill>
                  <a:srgbClr val="586980"/>
                </a:solidFill>
                <a:latin typeface="Aptos"/>
              </a:defRPr>
            </a:pPr>
            <a:r>
              <a:rPr dirty="0"/>
              <a:t>CONTROL STORAGE</a:t>
            </a:r>
          </a:p>
        </p:txBody>
      </p:sp>
      <p:sp>
        <p:nvSpPr>
          <p:cNvPr id="25" name="Rounded Rectangle 25">
            <a:extLst>
              <a:ext uri="{FF2B5EF4-FFF2-40B4-BE49-F238E27FC236}">
                <a16:creationId xmlns:a16="http://schemas.microsoft.com/office/drawing/2014/main" id="{1FC5E93E-AF8B-38A3-056A-3BD67E5E09F6}"/>
              </a:ext>
            </a:extLst>
          </p:cNvPr>
          <p:cNvSpPr/>
          <p:nvPr/>
        </p:nvSpPr>
        <p:spPr>
          <a:xfrm>
            <a:off x="7799831" y="2724912"/>
            <a:ext cx="3666744" cy="841248"/>
          </a:xfrm>
          <a:prstGeom prst="roundRect">
            <a:avLst>
              <a:gd name="adj" fmla="val 12000"/>
            </a:avLst>
          </a:prstGeom>
          <a:solidFill>
            <a:srgbClr val="FFFFFF"/>
          </a:solidFill>
          <a:ln>
            <a:solidFill>
              <a:srgbClr val="A6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A655A884-A0DE-D0C8-AE35-066E5868C19B}"/>
              </a:ext>
            </a:extLst>
          </p:cNvPr>
          <p:cNvSpPr txBox="1"/>
          <p:nvPr/>
        </p:nvSpPr>
        <p:spPr>
          <a:xfrm>
            <a:off x="7909559" y="2816352"/>
            <a:ext cx="3447287" cy="292608"/>
          </a:xfrm>
          <a:prstGeom prst="rect">
            <a:avLst/>
          </a:prstGeom>
          <a:noFill/>
        </p:spPr>
        <p:txBody>
          <a:bodyPr wrap="square" lIns="13716" tIns="0" rIns="13716" bIns="0">
            <a:spAutoFit/>
          </a:bodyPr>
          <a:lstStyle/>
          <a:p>
            <a:pPr>
              <a:spcAft>
                <a:spcPts val="500"/>
              </a:spcAft>
              <a:defRPr sz="1700" b="1">
                <a:solidFill>
                  <a:srgbClr val="15233B"/>
                </a:solidFill>
                <a:latin typeface="Aptos"/>
              </a:defRPr>
            </a:pPr>
            <a:r>
              <a:t>config_mem: 4 KiB</a:t>
            </a:r>
          </a:p>
        </p:txBody>
      </p:sp>
      <p:sp>
        <p:nvSpPr>
          <p:cNvPr id="27" name="TextBox 26">
            <a:extLst>
              <a:ext uri="{FF2B5EF4-FFF2-40B4-BE49-F238E27FC236}">
                <a16:creationId xmlns:a16="http://schemas.microsoft.com/office/drawing/2014/main" id="{F1CB7D23-D0F7-3B59-6C49-29C97A8E6C79}"/>
              </a:ext>
            </a:extLst>
          </p:cNvPr>
          <p:cNvSpPr txBox="1"/>
          <p:nvPr/>
        </p:nvSpPr>
        <p:spPr>
          <a:xfrm>
            <a:off x="7909559" y="3145536"/>
            <a:ext cx="3447287" cy="393192"/>
          </a:xfrm>
          <a:prstGeom prst="rect">
            <a:avLst/>
          </a:prstGeom>
          <a:noFill/>
        </p:spPr>
        <p:txBody>
          <a:bodyPr wrap="square" lIns="13716" tIns="0" rIns="13716" bIns="0">
            <a:spAutoFit/>
          </a:bodyPr>
          <a:lstStyle/>
          <a:p>
            <a:pPr>
              <a:spcAft>
                <a:spcPts val="500"/>
              </a:spcAft>
              <a:defRPr sz="1150" b="0">
                <a:solidFill>
                  <a:srgbClr val="586980"/>
                </a:solidFill>
                <a:latin typeface="Aptos"/>
              </a:defRPr>
            </a:pPr>
            <a:r>
              <a:t>256 instructions × 128 bits</a:t>
            </a:r>
          </a:p>
          <a:p>
            <a:pPr>
              <a:spcAft>
                <a:spcPts val="500"/>
              </a:spcAft>
              <a:defRPr sz="1150" b="0">
                <a:solidFill>
                  <a:srgbClr val="586980"/>
                </a:solidFill>
                <a:latin typeface="Aptos"/>
              </a:defRPr>
            </a:pPr>
            <a:r>
              <a:t>AXI-Lite programming → sequencer</a:t>
            </a:r>
          </a:p>
        </p:txBody>
      </p:sp>
      <p:sp>
        <p:nvSpPr>
          <p:cNvPr id="28" name="TextBox 27">
            <a:extLst>
              <a:ext uri="{FF2B5EF4-FFF2-40B4-BE49-F238E27FC236}">
                <a16:creationId xmlns:a16="http://schemas.microsoft.com/office/drawing/2014/main" id="{6613D937-3FBC-B08D-E894-061F294F104C}"/>
              </a:ext>
            </a:extLst>
          </p:cNvPr>
          <p:cNvSpPr txBox="1"/>
          <p:nvPr/>
        </p:nvSpPr>
        <p:spPr>
          <a:xfrm>
            <a:off x="7799831" y="3858768"/>
            <a:ext cx="3657600" cy="184666"/>
          </a:xfrm>
          <a:prstGeom prst="rect">
            <a:avLst/>
          </a:prstGeom>
          <a:noFill/>
        </p:spPr>
        <p:txBody>
          <a:bodyPr wrap="square" lIns="13716" tIns="0" rIns="13716" bIns="0">
            <a:spAutoFit/>
          </a:bodyPr>
          <a:lstStyle/>
          <a:p>
            <a:pPr>
              <a:spcAft>
                <a:spcPts val="500"/>
              </a:spcAft>
              <a:defRPr sz="1200" b="1">
                <a:solidFill>
                  <a:srgbClr val="586980"/>
                </a:solidFill>
                <a:latin typeface="Aptos"/>
              </a:defRPr>
            </a:pPr>
            <a:r>
              <a:rPr dirty="0"/>
              <a:t>DDR ADDRESS EXAMPLE</a:t>
            </a:r>
          </a:p>
        </p:txBody>
      </p:sp>
      <p:sp>
        <p:nvSpPr>
          <p:cNvPr id="29" name="TextBox 28">
            <a:extLst>
              <a:ext uri="{FF2B5EF4-FFF2-40B4-BE49-F238E27FC236}">
                <a16:creationId xmlns:a16="http://schemas.microsoft.com/office/drawing/2014/main" id="{EBE64E1F-D576-E11F-08CF-674C2BB0F639}"/>
              </a:ext>
            </a:extLst>
          </p:cNvPr>
          <p:cNvSpPr txBox="1"/>
          <p:nvPr/>
        </p:nvSpPr>
        <p:spPr>
          <a:xfrm>
            <a:off x="7799831" y="4315968"/>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0x20100000   ImageNet input</a:t>
            </a:r>
          </a:p>
        </p:txBody>
      </p:sp>
      <p:sp>
        <p:nvSpPr>
          <p:cNvPr id="30" name="TextBox 29">
            <a:extLst>
              <a:ext uri="{FF2B5EF4-FFF2-40B4-BE49-F238E27FC236}">
                <a16:creationId xmlns:a16="http://schemas.microsoft.com/office/drawing/2014/main" id="{C8165548-C111-1524-40A1-21FA4F018490}"/>
              </a:ext>
            </a:extLst>
          </p:cNvPr>
          <p:cNvSpPr txBox="1"/>
          <p:nvPr/>
        </p:nvSpPr>
        <p:spPr>
          <a:xfrm>
            <a:off x="7799831" y="4645152"/>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0x21000000   Microcode assets</a:t>
            </a:r>
          </a:p>
        </p:txBody>
      </p:sp>
      <p:sp>
        <p:nvSpPr>
          <p:cNvPr id="31" name="TextBox 30">
            <a:extLst>
              <a:ext uri="{FF2B5EF4-FFF2-40B4-BE49-F238E27FC236}">
                <a16:creationId xmlns:a16="http://schemas.microsoft.com/office/drawing/2014/main" id="{FAE035C0-3569-D3BA-9589-6EB3DAE22F24}"/>
              </a:ext>
            </a:extLst>
          </p:cNvPr>
          <p:cNvSpPr txBox="1"/>
          <p:nvPr/>
        </p:nvSpPr>
        <p:spPr>
          <a:xfrm>
            <a:off x="7799831" y="4974336"/>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0x31000000   ResNet-50 weights</a:t>
            </a:r>
          </a:p>
        </p:txBody>
      </p:sp>
      <p:sp>
        <p:nvSpPr>
          <p:cNvPr id="32" name="TextBox 31">
            <a:extLst>
              <a:ext uri="{FF2B5EF4-FFF2-40B4-BE49-F238E27FC236}">
                <a16:creationId xmlns:a16="http://schemas.microsoft.com/office/drawing/2014/main" id="{4C5A2209-C957-F39D-B347-F2B28B87FF75}"/>
              </a:ext>
            </a:extLst>
          </p:cNvPr>
          <p:cNvSpPr txBox="1"/>
          <p:nvPr/>
        </p:nvSpPr>
        <p:spPr>
          <a:xfrm>
            <a:off x="7799831" y="5303520"/>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0x38000000   Output logits</a:t>
            </a:r>
          </a:p>
        </p:txBody>
      </p:sp>
      <p:sp>
        <p:nvSpPr>
          <p:cNvPr id="33" name="TextBox 32">
            <a:extLst>
              <a:ext uri="{FF2B5EF4-FFF2-40B4-BE49-F238E27FC236}">
                <a16:creationId xmlns:a16="http://schemas.microsoft.com/office/drawing/2014/main" id="{D11BACFD-A0B9-8C54-AC34-4533D0D2C2D8}"/>
              </a:ext>
            </a:extLst>
          </p:cNvPr>
          <p:cNvSpPr txBox="1"/>
          <p:nvPr/>
        </p:nvSpPr>
        <p:spPr>
          <a:xfrm>
            <a:off x="7799831" y="5715000"/>
            <a:ext cx="3657600" cy="338554"/>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rPr dirty="0"/>
              <a:t>Read path shown; results return through</a:t>
            </a:r>
            <a:r>
              <a:rPr lang="en-US" dirty="0"/>
              <a:t> </a:t>
            </a:r>
            <a:r>
              <a:rPr dirty="0"/>
              <a:t>SRAM and write DMA to DDR.</a:t>
            </a:r>
          </a:p>
        </p:txBody>
      </p:sp>
      <p:sp>
        <p:nvSpPr>
          <p:cNvPr id="35" name="TextBox 34">
            <a:extLst>
              <a:ext uri="{FF2B5EF4-FFF2-40B4-BE49-F238E27FC236}">
                <a16:creationId xmlns:a16="http://schemas.microsoft.com/office/drawing/2014/main" id="{4B210A99-DD3A-CBCF-34C9-4610D41B5591}"/>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013219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5E2AABD1-CC55-5F96-0ED0-6E61A0E9C2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C1D430-68B6-A5CF-A35E-C0CA4D2DF82E}"/>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dirty="0">
                <a:solidFill>
                  <a:srgbClr val="35DFC3"/>
                </a:solidFill>
              </a:rPr>
              <a:t>MEMORY + PRECISION</a:t>
            </a:r>
          </a:p>
        </p:txBody>
      </p:sp>
      <p:sp>
        <p:nvSpPr>
          <p:cNvPr id="5" name="TextBox 4">
            <a:extLst>
              <a:ext uri="{FF2B5EF4-FFF2-40B4-BE49-F238E27FC236}">
                <a16:creationId xmlns:a16="http://schemas.microsoft.com/office/drawing/2014/main" id="{CB15DEF5-A99E-328A-E6E3-07449FA205B0}"/>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lang="en-US" dirty="0">
                <a:solidFill>
                  <a:schemeClr val="bg1">
                    <a:lumMod val="95000"/>
                  </a:schemeClr>
                </a:solidFill>
              </a:rPr>
              <a:t>SRAM </a:t>
            </a:r>
            <a:r>
              <a:rPr dirty="0">
                <a:solidFill>
                  <a:schemeClr val="bg1">
                    <a:lumMod val="95000"/>
                  </a:schemeClr>
                </a:solidFill>
              </a:rPr>
              <a:t>Memory planning is central to scaling</a:t>
            </a:r>
          </a:p>
        </p:txBody>
      </p:sp>
      <p:sp>
        <p:nvSpPr>
          <p:cNvPr id="7" name="TextBox 6">
            <a:extLst>
              <a:ext uri="{FF2B5EF4-FFF2-40B4-BE49-F238E27FC236}">
                <a16:creationId xmlns:a16="http://schemas.microsoft.com/office/drawing/2014/main" id="{75894AAC-74AD-45F9-BF02-2958E1B7C33E}"/>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dirty="0">
                <a:solidFill>
                  <a:schemeClr val="bg1">
                    <a:lumMod val="95000"/>
                  </a:schemeClr>
                </a:solidFill>
              </a:rPr>
              <a:t>DDR stores large model assets; banked SRAM stages the active tensors and weight tiles.</a:t>
            </a:r>
          </a:p>
        </p:txBody>
      </p:sp>
      <p:sp>
        <p:nvSpPr>
          <p:cNvPr id="9" name="Rectangle 8">
            <a:extLst>
              <a:ext uri="{FF2B5EF4-FFF2-40B4-BE49-F238E27FC236}">
                <a16:creationId xmlns:a16="http://schemas.microsoft.com/office/drawing/2014/main" id="{C2F7C67C-E2C3-B931-35E4-4F8D6DDE4E34}"/>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24F2C13F-2EA2-AD05-C6D5-068FF85674DF}"/>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8</a:t>
            </a:r>
            <a:r>
              <a:rPr dirty="0">
                <a:solidFill>
                  <a:srgbClr val="35DFC3"/>
                </a:solidFill>
              </a:rPr>
              <a:t> / 1</a:t>
            </a:r>
            <a:r>
              <a:rPr lang="en-US" dirty="0">
                <a:solidFill>
                  <a:srgbClr val="35DFC3"/>
                </a:solidFill>
              </a:rPr>
              <a:t>1</a:t>
            </a:r>
            <a:endParaRPr dirty="0">
              <a:solidFill>
                <a:srgbClr val="35DFC3"/>
              </a:solidFill>
            </a:endParaRPr>
          </a:p>
        </p:txBody>
      </p:sp>
      <p:sp>
        <p:nvSpPr>
          <p:cNvPr id="17" name="Rectangle 16">
            <a:extLst>
              <a:ext uri="{FF2B5EF4-FFF2-40B4-BE49-F238E27FC236}">
                <a16:creationId xmlns:a16="http://schemas.microsoft.com/office/drawing/2014/main" id="{69F5D838-8299-8A90-E944-3C54B6A6FE05}"/>
              </a:ext>
            </a:extLst>
          </p:cNvPr>
          <p:cNvSpPr/>
          <p:nvPr/>
        </p:nvSpPr>
        <p:spPr>
          <a:xfrm>
            <a:off x="502920" y="2048256"/>
            <a:ext cx="11173968" cy="438912"/>
          </a:xfrm>
          <a:prstGeom prst="rect">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96868D18-D9C4-6373-461C-44AF4A6BED53}"/>
              </a:ext>
            </a:extLst>
          </p:cNvPr>
          <p:cNvSpPr txBox="1"/>
          <p:nvPr/>
        </p:nvSpPr>
        <p:spPr>
          <a:xfrm>
            <a:off x="621792" y="2148840"/>
            <a:ext cx="1847088"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CONFIGURATION</a:t>
            </a:r>
          </a:p>
        </p:txBody>
      </p:sp>
      <p:sp>
        <p:nvSpPr>
          <p:cNvPr id="21" name="TextBox 20">
            <a:extLst>
              <a:ext uri="{FF2B5EF4-FFF2-40B4-BE49-F238E27FC236}">
                <a16:creationId xmlns:a16="http://schemas.microsoft.com/office/drawing/2014/main" id="{DDA513AE-85BB-C3CA-22DA-6FF4EEDC175E}"/>
              </a:ext>
            </a:extLst>
          </p:cNvPr>
          <p:cNvSpPr txBox="1"/>
          <p:nvPr/>
        </p:nvSpPr>
        <p:spPr>
          <a:xfrm>
            <a:off x="2679191" y="2148840"/>
            <a:ext cx="4343400"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INT8 BUILD</a:t>
            </a:r>
          </a:p>
        </p:txBody>
      </p:sp>
      <p:sp>
        <p:nvSpPr>
          <p:cNvPr id="23" name="TextBox 22">
            <a:extLst>
              <a:ext uri="{FF2B5EF4-FFF2-40B4-BE49-F238E27FC236}">
                <a16:creationId xmlns:a16="http://schemas.microsoft.com/office/drawing/2014/main" id="{F8A15B31-870D-A4C5-97CC-4212604AD8E6}"/>
              </a:ext>
            </a:extLst>
          </p:cNvPr>
          <p:cNvSpPr txBox="1"/>
          <p:nvPr/>
        </p:nvSpPr>
        <p:spPr>
          <a:xfrm>
            <a:off x="7232904" y="2148840"/>
            <a:ext cx="4352544"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INT16 BUILD</a:t>
            </a:r>
          </a:p>
        </p:txBody>
      </p:sp>
      <p:sp>
        <p:nvSpPr>
          <p:cNvPr id="25" name="Rectangle 24">
            <a:extLst>
              <a:ext uri="{FF2B5EF4-FFF2-40B4-BE49-F238E27FC236}">
                <a16:creationId xmlns:a16="http://schemas.microsoft.com/office/drawing/2014/main" id="{F18052DB-74C9-86A0-B22A-3D7635094931}"/>
              </a:ext>
            </a:extLst>
          </p:cNvPr>
          <p:cNvSpPr/>
          <p:nvPr/>
        </p:nvSpPr>
        <p:spPr>
          <a:xfrm>
            <a:off x="502920" y="2487168"/>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565B026E-AC60-65E3-3B7B-397638724A57}"/>
              </a:ext>
            </a:extLst>
          </p:cNvPr>
          <p:cNvSpPr txBox="1"/>
          <p:nvPr/>
        </p:nvSpPr>
        <p:spPr>
          <a:xfrm>
            <a:off x="621792" y="2633472"/>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Arithmetic</a:t>
            </a:r>
          </a:p>
        </p:txBody>
      </p:sp>
      <p:sp>
        <p:nvSpPr>
          <p:cNvPr id="29" name="TextBox 28">
            <a:extLst>
              <a:ext uri="{FF2B5EF4-FFF2-40B4-BE49-F238E27FC236}">
                <a16:creationId xmlns:a16="http://schemas.microsoft.com/office/drawing/2014/main" id="{A1F9088D-6C82-9113-D1D5-8C37932C4493}"/>
              </a:ext>
            </a:extLst>
          </p:cNvPr>
          <p:cNvSpPr txBox="1"/>
          <p:nvPr/>
        </p:nvSpPr>
        <p:spPr>
          <a:xfrm>
            <a:off x="2679191" y="2633472"/>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8-bit inputs / weights; 32-bit sums</a:t>
            </a:r>
          </a:p>
        </p:txBody>
      </p:sp>
      <p:sp>
        <p:nvSpPr>
          <p:cNvPr id="31" name="TextBox 30">
            <a:extLst>
              <a:ext uri="{FF2B5EF4-FFF2-40B4-BE49-F238E27FC236}">
                <a16:creationId xmlns:a16="http://schemas.microsoft.com/office/drawing/2014/main" id="{82475958-56AC-0AFE-0079-86AA0E8AFA96}"/>
              </a:ext>
            </a:extLst>
          </p:cNvPr>
          <p:cNvSpPr txBox="1"/>
          <p:nvPr/>
        </p:nvSpPr>
        <p:spPr>
          <a:xfrm>
            <a:off x="7232904" y="2633472"/>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t>16-bit inputs / weights; 48-bit sums</a:t>
            </a:r>
          </a:p>
        </p:txBody>
      </p:sp>
      <p:sp>
        <p:nvSpPr>
          <p:cNvPr id="33" name="Rectangle 32">
            <a:extLst>
              <a:ext uri="{FF2B5EF4-FFF2-40B4-BE49-F238E27FC236}">
                <a16:creationId xmlns:a16="http://schemas.microsoft.com/office/drawing/2014/main" id="{5F4ADA92-5259-B807-D421-BD534F296EE3}"/>
              </a:ext>
            </a:extLst>
          </p:cNvPr>
          <p:cNvSpPr/>
          <p:nvPr/>
        </p:nvSpPr>
        <p:spPr>
          <a:xfrm>
            <a:off x="502920" y="3090672"/>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8D108E5C-8FBA-ECCA-12C2-74B811B980FD}"/>
              </a:ext>
            </a:extLst>
          </p:cNvPr>
          <p:cNvSpPr txBox="1"/>
          <p:nvPr/>
        </p:nvSpPr>
        <p:spPr>
          <a:xfrm>
            <a:off x="621792" y="3236976"/>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SRAM geometry</a:t>
            </a:r>
          </a:p>
        </p:txBody>
      </p:sp>
      <p:sp>
        <p:nvSpPr>
          <p:cNvPr id="37" name="TextBox 36">
            <a:extLst>
              <a:ext uri="{FF2B5EF4-FFF2-40B4-BE49-F238E27FC236}">
                <a16:creationId xmlns:a16="http://schemas.microsoft.com/office/drawing/2014/main" id="{D5CA9C91-C7AA-6A98-DD0E-9368BBAB1578}"/>
              </a:ext>
            </a:extLst>
          </p:cNvPr>
          <p:cNvSpPr txBox="1"/>
          <p:nvPr/>
        </p:nvSpPr>
        <p:spPr>
          <a:xfrm>
            <a:off x="2679191" y="3236976"/>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16 banks × 128 bits × 15,360 rows</a:t>
            </a:r>
          </a:p>
        </p:txBody>
      </p:sp>
      <p:sp>
        <p:nvSpPr>
          <p:cNvPr id="39" name="TextBox 38">
            <a:extLst>
              <a:ext uri="{FF2B5EF4-FFF2-40B4-BE49-F238E27FC236}">
                <a16:creationId xmlns:a16="http://schemas.microsoft.com/office/drawing/2014/main" id="{FB647FF7-7AB3-AD52-02F2-AB74D1D73DDE}"/>
              </a:ext>
            </a:extLst>
          </p:cNvPr>
          <p:cNvSpPr txBox="1"/>
          <p:nvPr/>
        </p:nvSpPr>
        <p:spPr>
          <a:xfrm>
            <a:off x="7232904" y="3236976"/>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32 banks × 128 bits × 4,096 rows</a:t>
            </a:r>
          </a:p>
        </p:txBody>
      </p:sp>
      <p:sp>
        <p:nvSpPr>
          <p:cNvPr id="41" name="Rectangle 40">
            <a:extLst>
              <a:ext uri="{FF2B5EF4-FFF2-40B4-BE49-F238E27FC236}">
                <a16:creationId xmlns:a16="http://schemas.microsoft.com/office/drawing/2014/main" id="{68C8279C-D477-8096-67A3-FFDF54D928B0}"/>
              </a:ext>
            </a:extLst>
          </p:cNvPr>
          <p:cNvSpPr/>
          <p:nvPr/>
        </p:nvSpPr>
        <p:spPr>
          <a:xfrm>
            <a:off x="502920" y="3694176"/>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31F2B523-267A-1F8B-E273-A36431F581CD}"/>
              </a:ext>
            </a:extLst>
          </p:cNvPr>
          <p:cNvSpPr txBox="1"/>
          <p:nvPr/>
        </p:nvSpPr>
        <p:spPr>
          <a:xfrm>
            <a:off x="621792" y="3840480"/>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Logical capacity</a:t>
            </a:r>
          </a:p>
        </p:txBody>
      </p:sp>
      <p:sp>
        <p:nvSpPr>
          <p:cNvPr id="45" name="TextBox 44">
            <a:extLst>
              <a:ext uri="{FF2B5EF4-FFF2-40B4-BE49-F238E27FC236}">
                <a16:creationId xmlns:a16="http://schemas.microsoft.com/office/drawing/2014/main" id="{DF2B2861-2AF6-5E1C-96F2-AA413B09B31C}"/>
              </a:ext>
            </a:extLst>
          </p:cNvPr>
          <p:cNvSpPr txBox="1"/>
          <p:nvPr/>
        </p:nvSpPr>
        <p:spPr>
          <a:xfrm>
            <a:off x="2679191" y="3840480"/>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3.93 MB (3.75 MiB)</a:t>
            </a:r>
          </a:p>
        </p:txBody>
      </p:sp>
      <p:sp>
        <p:nvSpPr>
          <p:cNvPr id="47" name="TextBox 46">
            <a:extLst>
              <a:ext uri="{FF2B5EF4-FFF2-40B4-BE49-F238E27FC236}">
                <a16:creationId xmlns:a16="http://schemas.microsoft.com/office/drawing/2014/main" id="{F0693698-07BA-56EF-3A17-ED846DA4A657}"/>
              </a:ext>
            </a:extLst>
          </p:cNvPr>
          <p:cNvSpPr txBox="1"/>
          <p:nvPr/>
        </p:nvSpPr>
        <p:spPr>
          <a:xfrm>
            <a:off x="7232904" y="3840480"/>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2.10 MB (2.00 MiB)</a:t>
            </a:r>
          </a:p>
        </p:txBody>
      </p:sp>
      <p:sp>
        <p:nvSpPr>
          <p:cNvPr id="49" name="Rectangle 48">
            <a:extLst>
              <a:ext uri="{FF2B5EF4-FFF2-40B4-BE49-F238E27FC236}">
                <a16:creationId xmlns:a16="http://schemas.microsoft.com/office/drawing/2014/main" id="{098100E7-8ABC-6EDD-3271-A10F5635E9F1}"/>
              </a:ext>
            </a:extLst>
          </p:cNvPr>
          <p:cNvSpPr/>
          <p:nvPr/>
        </p:nvSpPr>
        <p:spPr>
          <a:xfrm>
            <a:off x="502920" y="4297680"/>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32CB79C0-5C75-0226-96E5-89B2307B345A}"/>
              </a:ext>
            </a:extLst>
          </p:cNvPr>
          <p:cNvSpPr txBox="1"/>
          <p:nvPr/>
        </p:nvSpPr>
        <p:spPr>
          <a:xfrm>
            <a:off x="621792" y="4443984"/>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Instruction store</a:t>
            </a:r>
          </a:p>
        </p:txBody>
      </p:sp>
      <p:sp>
        <p:nvSpPr>
          <p:cNvPr id="53" name="TextBox 52">
            <a:extLst>
              <a:ext uri="{FF2B5EF4-FFF2-40B4-BE49-F238E27FC236}">
                <a16:creationId xmlns:a16="http://schemas.microsoft.com/office/drawing/2014/main" id="{C4893277-0268-B4FF-59FE-1A9160CC77BE}"/>
              </a:ext>
            </a:extLst>
          </p:cNvPr>
          <p:cNvSpPr txBox="1"/>
          <p:nvPr/>
        </p:nvSpPr>
        <p:spPr>
          <a:xfrm>
            <a:off x="2679191" y="4443984"/>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t>256 × 128-bit words</a:t>
            </a:r>
          </a:p>
        </p:txBody>
      </p:sp>
      <p:sp>
        <p:nvSpPr>
          <p:cNvPr id="55" name="TextBox 54">
            <a:extLst>
              <a:ext uri="{FF2B5EF4-FFF2-40B4-BE49-F238E27FC236}">
                <a16:creationId xmlns:a16="http://schemas.microsoft.com/office/drawing/2014/main" id="{D2F0AED0-4630-2B9B-4AB0-CD8F2D634EB3}"/>
              </a:ext>
            </a:extLst>
          </p:cNvPr>
          <p:cNvSpPr txBox="1"/>
          <p:nvPr/>
        </p:nvSpPr>
        <p:spPr>
          <a:xfrm>
            <a:off x="7232904" y="4443984"/>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t>256 × 128-bit words</a:t>
            </a:r>
          </a:p>
        </p:txBody>
      </p:sp>
      <p:sp>
        <p:nvSpPr>
          <p:cNvPr id="57" name="TextBox 56">
            <a:extLst>
              <a:ext uri="{FF2B5EF4-FFF2-40B4-BE49-F238E27FC236}">
                <a16:creationId xmlns:a16="http://schemas.microsoft.com/office/drawing/2014/main" id="{85C2B7BA-3D71-E34E-D2E2-5CC07DD42556}"/>
              </a:ext>
            </a:extLst>
          </p:cNvPr>
          <p:cNvSpPr txBox="1"/>
          <p:nvPr/>
        </p:nvSpPr>
        <p:spPr>
          <a:xfrm>
            <a:off x="548640" y="5056632"/>
            <a:ext cx="10972800" cy="276999"/>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dirty="0">
                <a:solidFill>
                  <a:schemeClr val="bg1">
                    <a:lumMod val="95000"/>
                  </a:schemeClr>
                </a:solidFill>
              </a:rPr>
              <a:t>Example: current ResNet-50 INT8 compiler allocation</a:t>
            </a:r>
            <a:r>
              <a:rPr lang="en-US" dirty="0">
                <a:solidFill>
                  <a:schemeClr val="bg1">
                    <a:lumMod val="95000"/>
                  </a:schemeClr>
                </a:solidFill>
              </a:rPr>
              <a:t> of SRAM rows</a:t>
            </a:r>
            <a:endParaRPr dirty="0">
              <a:solidFill>
                <a:schemeClr val="bg1">
                  <a:lumMod val="95000"/>
                </a:schemeClr>
              </a:solidFill>
            </a:endParaRPr>
          </a:p>
        </p:txBody>
      </p:sp>
      <p:sp>
        <p:nvSpPr>
          <p:cNvPr id="59" name="Rounded Rectangle 29">
            <a:extLst>
              <a:ext uri="{FF2B5EF4-FFF2-40B4-BE49-F238E27FC236}">
                <a16:creationId xmlns:a16="http://schemas.microsoft.com/office/drawing/2014/main" id="{C5AC800A-0D1E-1181-B37D-9731E1DA12E9}"/>
              </a:ext>
            </a:extLst>
          </p:cNvPr>
          <p:cNvSpPr/>
          <p:nvPr/>
        </p:nvSpPr>
        <p:spPr>
          <a:xfrm>
            <a:off x="548640" y="5513832"/>
            <a:ext cx="1480685" cy="530352"/>
          </a:xfrm>
          <a:prstGeom prst="roundRect">
            <a:avLst>
              <a:gd name="adj" fmla="val 12000"/>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CF007434-050C-1686-0BF7-B39BBC2EB63A}"/>
              </a:ext>
            </a:extLst>
          </p:cNvPr>
          <p:cNvSpPr txBox="1"/>
          <p:nvPr/>
        </p:nvSpPr>
        <p:spPr>
          <a:xfrm>
            <a:off x="585216" y="5568696"/>
            <a:ext cx="1412105"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Input +</a:t>
            </a:r>
          </a:p>
          <a:p>
            <a:pPr algn="ctr">
              <a:spcAft>
                <a:spcPts val="500"/>
              </a:spcAft>
              <a:defRPr sz="1100" b="1">
                <a:solidFill>
                  <a:srgbClr val="0B1224"/>
                </a:solidFill>
                <a:latin typeface="Aptos"/>
              </a:defRPr>
            </a:pPr>
            <a:r>
              <a:t>stage 0</a:t>
            </a:r>
          </a:p>
        </p:txBody>
      </p:sp>
      <p:sp>
        <p:nvSpPr>
          <p:cNvPr id="63" name="Rounded Rectangle 31">
            <a:extLst>
              <a:ext uri="{FF2B5EF4-FFF2-40B4-BE49-F238E27FC236}">
                <a16:creationId xmlns:a16="http://schemas.microsoft.com/office/drawing/2014/main" id="{9675D4C2-0A0A-A08D-02D5-9C1B1E0077CA}"/>
              </a:ext>
            </a:extLst>
          </p:cNvPr>
          <p:cNvSpPr/>
          <p:nvPr/>
        </p:nvSpPr>
        <p:spPr>
          <a:xfrm>
            <a:off x="2061329" y="5513832"/>
            <a:ext cx="2777275" cy="530352"/>
          </a:xfrm>
          <a:prstGeom prst="roundRect">
            <a:avLst>
              <a:gd name="adj" fmla="val 12000"/>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43568430-44EA-50E2-2A98-C6C20FEA74E1}"/>
              </a:ext>
            </a:extLst>
          </p:cNvPr>
          <p:cNvSpPr txBox="1"/>
          <p:nvPr/>
        </p:nvSpPr>
        <p:spPr>
          <a:xfrm>
            <a:off x="2097905" y="5568696"/>
            <a:ext cx="2708695"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Ping</a:t>
            </a:r>
          </a:p>
        </p:txBody>
      </p:sp>
      <p:sp>
        <p:nvSpPr>
          <p:cNvPr id="67" name="Rounded Rectangle 33">
            <a:extLst>
              <a:ext uri="{FF2B5EF4-FFF2-40B4-BE49-F238E27FC236}">
                <a16:creationId xmlns:a16="http://schemas.microsoft.com/office/drawing/2014/main" id="{0B1F60B0-8818-F0A4-169A-099B04B1318E}"/>
              </a:ext>
            </a:extLst>
          </p:cNvPr>
          <p:cNvSpPr/>
          <p:nvPr/>
        </p:nvSpPr>
        <p:spPr>
          <a:xfrm>
            <a:off x="4870608" y="5513832"/>
            <a:ext cx="2849308" cy="530352"/>
          </a:xfrm>
          <a:prstGeom prst="roundRect">
            <a:avLst>
              <a:gd name="adj" fmla="val 12000"/>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B18C993D-CD51-B10F-A1C0-E94A4BAA82F5}"/>
              </a:ext>
            </a:extLst>
          </p:cNvPr>
          <p:cNvSpPr txBox="1"/>
          <p:nvPr/>
        </p:nvSpPr>
        <p:spPr>
          <a:xfrm>
            <a:off x="4907184" y="5568696"/>
            <a:ext cx="2780728"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Pong</a:t>
            </a:r>
          </a:p>
        </p:txBody>
      </p:sp>
      <p:sp>
        <p:nvSpPr>
          <p:cNvPr id="71" name="Rounded Rectangle 35">
            <a:extLst>
              <a:ext uri="{FF2B5EF4-FFF2-40B4-BE49-F238E27FC236}">
                <a16:creationId xmlns:a16="http://schemas.microsoft.com/office/drawing/2014/main" id="{CDE32CD4-C959-2580-FBF9-D3FE14E85656}"/>
              </a:ext>
            </a:extLst>
          </p:cNvPr>
          <p:cNvSpPr/>
          <p:nvPr/>
        </p:nvSpPr>
        <p:spPr>
          <a:xfrm>
            <a:off x="7751921" y="5513832"/>
            <a:ext cx="2849308" cy="530352"/>
          </a:xfrm>
          <a:prstGeom prst="roundRect">
            <a:avLst>
              <a:gd name="adj" fmla="val 12000"/>
            </a:avLst>
          </a:prstGeom>
          <a:solidFill>
            <a:srgbClr val="D5AC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75CB6B5D-D521-0907-414E-5E2D4BE82533}"/>
              </a:ext>
            </a:extLst>
          </p:cNvPr>
          <p:cNvSpPr txBox="1"/>
          <p:nvPr/>
        </p:nvSpPr>
        <p:spPr>
          <a:xfrm>
            <a:off x="7788497" y="5568696"/>
            <a:ext cx="2780728"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Residual</a:t>
            </a:r>
          </a:p>
        </p:txBody>
      </p:sp>
      <p:sp>
        <p:nvSpPr>
          <p:cNvPr id="75" name="Rounded Rectangle 37">
            <a:extLst>
              <a:ext uri="{FF2B5EF4-FFF2-40B4-BE49-F238E27FC236}">
                <a16:creationId xmlns:a16="http://schemas.microsoft.com/office/drawing/2014/main" id="{60B281F1-9D85-2030-4D51-F467D204ED15}"/>
              </a:ext>
            </a:extLst>
          </p:cNvPr>
          <p:cNvSpPr/>
          <p:nvPr/>
        </p:nvSpPr>
        <p:spPr>
          <a:xfrm>
            <a:off x="10633233" y="5513832"/>
            <a:ext cx="947642" cy="530352"/>
          </a:xfrm>
          <a:prstGeom prst="roundRect">
            <a:avLst>
              <a:gd name="adj" fmla="val 12000"/>
            </a:avLst>
          </a:prstGeom>
          <a:solidFill>
            <a:srgbClr val="8BA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4F6A40B3-DBFA-4F25-9FF2-696C5766D610}"/>
              </a:ext>
            </a:extLst>
          </p:cNvPr>
          <p:cNvSpPr txBox="1"/>
          <p:nvPr/>
        </p:nvSpPr>
        <p:spPr>
          <a:xfrm>
            <a:off x="10669809" y="5568696"/>
            <a:ext cx="879062"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Weights</a:t>
            </a:r>
          </a:p>
        </p:txBody>
      </p:sp>
      <p:sp>
        <p:nvSpPr>
          <p:cNvPr id="79" name="TextBox 78">
            <a:extLst>
              <a:ext uri="{FF2B5EF4-FFF2-40B4-BE49-F238E27FC236}">
                <a16:creationId xmlns:a16="http://schemas.microsoft.com/office/drawing/2014/main" id="{85B323FD-F662-A8A8-9C5A-86A52CD3B0B7}"/>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140961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DD078E70-0721-1A5B-F442-73C107A756C5}"/>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7C811C1E-E004-53DB-DCED-1045EBF2AF71}"/>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dirty="0">
                <a:solidFill>
                  <a:schemeClr val="bg1">
                    <a:lumMod val="95000"/>
                  </a:schemeClr>
                </a:solidFill>
              </a:rPr>
              <a:t>An AI accelerator platform with four model integrations</a:t>
            </a:r>
          </a:p>
        </p:txBody>
      </p:sp>
      <p:sp>
        <p:nvSpPr>
          <p:cNvPr id="49" name="TextBox 48">
            <a:extLst>
              <a:ext uri="{FF2B5EF4-FFF2-40B4-BE49-F238E27FC236}">
                <a16:creationId xmlns:a16="http://schemas.microsoft.com/office/drawing/2014/main" id="{039E2350-D9E2-F323-DCB2-AF45F7BF425A}"/>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dirty="0">
                <a:solidFill>
                  <a:schemeClr val="bg1">
                    <a:lumMod val="95000"/>
                  </a:schemeClr>
                </a:solidFill>
              </a:rPr>
              <a:t>Current model support spans digit recognition and ImageNet vision workloads; validation maturity varies by model.</a:t>
            </a:r>
          </a:p>
        </p:txBody>
      </p:sp>
      <p:sp>
        <p:nvSpPr>
          <p:cNvPr id="51" name="Rectangle 50">
            <a:extLst>
              <a:ext uri="{FF2B5EF4-FFF2-40B4-BE49-F238E27FC236}">
                <a16:creationId xmlns:a16="http://schemas.microsoft.com/office/drawing/2014/main" id="{55801172-13E1-9691-004E-B668CF3ADE2D}"/>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EC5A7829-2488-7364-732D-09338A235F61}"/>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
        <p:nvSpPr>
          <p:cNvPr id="55" name="TextBox 54">
            <a:extLst>
              <a:ext uri="{FF2B5EF4-FFF2-40B4-BE49-F238E27FC236}">
                <a16:creationId xmlns:a16="http://schemas.microsoft.com/office/drawing/2014/main" id="{B8F9C115-7AC7-1D00-BD40-B499808CA922}"/>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9</a:t>
            </a:r>
            <a:r>
              <a:rPr dirty="0">
                <a:solidFill>
                  <a:srgbClr val="35DFC3"/>
                </a:solidFill>
              </a:rPr>
              <a:t> / 1</a:t>
            </a:r>
            <a:r>
              <a:rPr lang="en-US" dirty="0">
                <a:solidFill>
                  <a:srgbClr val="35DFC3"/>
                </a:solidFill>
              </a:rPr>
              <a:t>1</a:t>
            </a:r>
            <a:endParaRPr dirty="0">
              <a:solidFill>
                <a:srgbClr val="35DFC3"/>
              </a:solidFill>
            </a:endParaRPr>
          </a:p>
        </p:txBody>
      </p:sp>
      <p:sp>
        <p:nvSpPr>
          <p:cNvPr id="57" name="Rounded Rectangle 8">
            <a:extLst>
              <a:ext uri="{FF2B5EF4-FFF2-40B4-BE49-F238E27FC236}">
                <a16:creationId xmlns:a16="http://schemas.microsoft.com/office/drawing/2014/main" id="{6CD2A7E6-F7CC-F402-46C1-75D4C86ADCF0}"/>
              </a:ext>
            </a:extLst>
          </p:cNvPr>
          <p:cNvSpPr/>
          <p:nvPr/>
        </p:nvSpPr>
        <p:spPr>
          <a:xfrm>
            <a:off x="502920"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EDC34E1D-636C-3E8B-2068-045987E5B9A8}"/>
              </a:ext>
            </a:extLst>
          </p:cNvPr>
          <p:cNvSpPr txBox="1"/>
          <p:nvPr/>
        </p:nvSpPr>
        <p:spPr>
          <a:xfrm>
            <a:off x="685800" y="2103120"/>
            <a:ext cx="2231136" cy="502920"/>
          </a:xfrm>
          <a:prstGeom prst="rect">
            <a:avLst/>
          </a:prstGeom>
          <a:noFill/>
        </p:spPr>
        <p:txBody>
          <a:bodyPr wrap="square" lIns="13716" tIns="0" rIns="13716" bIns="0">
            <a:spAutoFit/>
          </a:bodyPr>
          <a:lstStyle/>
          <a:p>
            <a:pPr>
              <a:spcAft>
                <a:spcPts val="500"/>
              </a:spcAft>
              <a:defRPr sz="3100" b="1">
                <a:solidFill>
                  <a:srgbClr val="35DFC3"/>
                </a:solidFill>
                <a:latin typeface="Aptos Display"/>
              </a:defRPr>
            </a:pPr>
            <a:r>
              <a:rPr dirty="0"/>
              <a:t>256</a:t>
            </a:r>
          </a:p>
        </p:txBody>
      </p:sp>
      <p:sp>
        <p:nvSpPr>
          <p:cNvPr id="61" name="TextBox 60">
            <a:extLst>
              <a:ext uri="{FF2B5EF4-FFF2-40B4-BE49-F238E27FC236}">
                <a16:creationId xmlns:a16="http://schemas.microsoft.com/office/drawing/2014/main" id="{1A94B5DC-7381-37C3-59B7-3BA58250BBC5}"/>
              </a:ext>
            </a:extLst>
          </p:cNvPr>
          <p:cNvSpPr txBox="1"/>
          <p:nvPr/>
        </p:nvSpPr>
        <p:spPr>
          <a:xfrm>
            <a:off x="685800"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processing elements</a:t>
            </a:r>
          </a:p>
        </p:txBody>
      </p:sp>
      <p:sp>
        <p:nvSpPr>
          <p:cNvPr id="63" name="Rounded Rectangle 11">
            <a:extLst>
              <a:ext uri="{FF2B5EF4-FFF2-40B4-BE49-F238E27FC236}">
                <a16:creationId xmlns:a16="http://schemas.microsoft.com/office/drawing/2014/main" id="{0A53D7CC-4B8B-B397-CB6A-8785432874B8}"/>
              </a:ext>
            </a:extLst>
          </p:cNvPr>
          <p:cNvSpPr/>
          <p:nvPr/>
        </p:nvSpPr>
        <p:spPr>
          <a:xfrm>
            <a:off x="3364992"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BE541CBD-5B5B-10C3-5FE6-286DF2C0C3C4}"/>
              </a:ext>
            </a:extLst>
          </p:cNvPr>
          <p:cNvSpPr txBox="1"/>
          <p:nvPr/>
        </p:nvSpPr>
        <p:spPr>
          <a:xfrm>
            <a:off x="3547872" y="2103120"/>
            <a:ext cx="2231136" cy="502920"/>
          </a:xfrm>
          <a:prstGeom prst="rect">
            <a:avLst/>
          </a:prstGeom>
          <a:noFill/>
        </p:spPr>
        <p:txBody>
          <a:bodyPr wrap="square" lIns="13716" tIns="0" rIns="13716" bIns="0">
            <a:spAutoFit/>
          </a:bodyPr>
          <a:lstStyle/>
          <a:p>
            <a:pPr>
              <a:spcAft>
                <a:spcPts val="500"/>
              </a:spcAft>
              <a:defRPr sz="3100" b="1">
                <a:solidFill>
                  <a:srgbClr val="6BA6FF"/>
                </a:solidFill>
                <a:latin typeface="Aptos Display"/>
              </a:defRPr>
            </a:pPr>
            <a:r>
              <a:t>4</a:t>
            </a:r>
          </a:p>
        </p:txBody>
      </p:sp>
      <p:sp>
        <p:nvSpPr>
          <p:cNvPr id="67" name="TextBox 66">
            <a:extLst>
              <a:ext uri="{FF2B5EF4-FFF2-40B4-BE49-F238E27FC236}">
                <a16:creationId xmlns:a16="http://schemas.microsoft.com/office/drawing/2014/main" id="{2EE0FF92-87DE-09BF-BD24-D3BDBB93A982}"/>
              </a:ext>
            </a:extLst>
          </p:cNvPr>
          <p:cNvSpPr txBox="1"/>
          <p:nvPr/>
        </p:nvSpPr>
        <p:spPr>
          <a:xfrm>
            <a:off x="3547872"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model compiler flows</a:t>
            </a:r>
          </a:p>
        </p:txBody>
      </p:sp>
      <p:sp>
        <p:nvSpPr>
          <p:cNvPr id="69" name="Rounded Rectangle 14">
            <a:extLst>
              <a:ext uri="{FF2B5EF4-FFF2-40B4-BE49-F238E27FC236}">
                <a16:creationId xmlns:a16="http://schemas.microsoft.com/office/drawing/2014/main" id="{EBDA09C5-4FF7-3253-AEB8-C37431C476D8}"/>
              </a:ext>
            </a:extLst>
          </p:cNvPr>
          <p:cNvSpPr/>
          <p:nvPr/>
        </p:nvSpPr>
        <p:spPr>
          <a:xfrm>
            <a:off x="6227064"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D1D829FE-5D79-FD9B-9955-9AC0CA46BD30}"/>
              </a:ext>
            </a:extLst>
          </p:cNvPr>
          <p:cNvSpPr txBox="1"/>
          <p:nvPr/>
        </p:nvSpPr>
        <p:spPr>
          <a:xfrm>
            <a:off x="6409944" y="2103120"/>
            <a:ext cx="2231136" cy="502920"/>
          </a:xfrm>
          <a:prstGeom prst="rect">
            <a:avLst/>
          </a:prstGeom>
          <a:noFill/>
        </p:spPr>
        <p:txBody>
          <a:bodyPr wrap="square" lIns="13716" tIns="0" rIns="13716" bIns="0">
            <a:spAutoFit/>
          </a:bodyPr>
          <a:lstStyle/>
          <a:p>
            <a:pPr>
              <a:spcAft>
                <a:spcPts val="500"/>
              </a:spcAft>
              <a:defRPr sz="3100" b="1">
                <a:solidFill>
                  <a:srgbClr val="A69AFF"/>
                </a:solidFill>
                <a:latin typeface="Aptos Display"/>
              </a:defRPr>
            </a:pPr>
            <a:r>
              <a:t>2</a:t>
            </a:r>
          </a:p>
        </p:txBody>
      </p:sp>
      <p:sp>
        <p:nvSpPr>
          <p:cNvPr id="73" name="TextBox 72">
            <a:extLst>
              <a:ext uri="{FF2B5EF4-FFF2-40B4-BE49-F238E27FC236}">
                <a16:creationId xmlns:a16="http://schemas.microsoft.com/office/drawing/2014/main" id="{E20F981B-3BB3-5E6C-AF1A-F8AB16D4F493}"/>
              </a:ext>
            </a:extLst>
          </p:cNvPr>
          <p:cNvSpPr txBox="1"/>
          <p:nvPr/>
        </p:nvSpPr>
        <p:spPr>
          <a:xfrm>
            <a:off x="6409944"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precision builds</a:t>
            </a:r>
          </a:p>
        </p:txBody>
      </p:sp>
      <p:sp>
        <p:nvSpPr>
          <p:cNvPr id="75" name="Rounded Rectangle 17">
            <a:extLst>
              <a:ext uri="{FF2B5EF4-FFF2-40B4-BE49-F238E27FC236}">
                <a16:creationId xmlns:a16="http://schemas.microsoft.com/office/drawing/2014/main" id="{90B1DC74-53D1-F6F3-360F-A11B07FEA7FD}"/>
              </a:ext>
            </a:extLst>
          </p:cNvPr>
          <p:cNvSpPr/>
          <p:nvPr/>
        </p:nvSpPr>
        <p:spPr>
          <a:xfrm>
            <a:off x="9089136"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D2ABA9CC-6273-CDED-800E-EBAB103DFBF8}"/>
              </a:ext>
            </a:extLst>
          </p:cNvPr>
          <p:cNvSpPr txBox="1"/>
          <p:nvPr/>
        </p:nvSpPr>
        <p:spPr>
          <a:xfrm>
            <a:off x="9272015" y="2103120"/>
            <a:ext cx="2231136" cy="502920"/>
          </a:xfrm>
          <a:prstGeom prst="rect">
            <a:avLst/>
          </a:prstGeom>
          <a:noFill/>
        </p:spPr>
        <p:txBody>
          <a:bodyPr wrap="square" lIns="13716" tIns="0" rIns="13716" bIns="0">
            <a:spAutoFit/>
          </a:bodyPr>
          <a:lstStyle/>
          <a:p>
            <a:pPr>
              <a:spcAft>
                <a:spcPts val="500"/>
              </a:spcAft>
              <a:defRPr sz="3100" b="1">
                <a:solidFill>
                  <a:srgbClr val="FFC66D"/>
                </a:solidFill>
                <a:latin typeface="Aptos Display"/>
              </a:defRPr>
            </a:pPr>
            <a:r>
              <a:rPr dirty="0"/>
              <a:t>1,000</a:t>
            </a:r>
          </a:p>
        </p:txBody>
      </p:sp>
      <p:sp>
        <p:nvSpPr>
          <p:cNvPr id="79" name="TextBox 78">
            <a:extLst>
              <a:ext uri="{FF2B5EF4-FFF2-40B4-BE49-F238E27FC236}">
                <a16:creationId xmlns:a16="http://schemas.microsoft.com/office/drawing/2014/main" id="{1B740BC2-3D33-620E-1EE1-2AA7FA35BB08}"/>
              </a:ext>
            </a:extLst>
          </p:cNvPr>
          <p:cNvSpPr txBox="1"/>
          <p:nvPr/>
        </p:nvSpPr>
        <p:spPr>
          <a:xfrm>
            <a:off x="9272015"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ImageNet output classes</a:t>
            </a:r>
          </a:p>
        </p:txBody>
      </p:sp>
      <p:sp>
        <p:nvSpPr>
          <p:cNvPr id="81" name="Rounded Rectangle 20">
            <a:extLst>
              <a:ext uri="{FF2B5EF4-FFF2-40B4-BE49-F238E27FC236}">
                <a16:creationId xmlns:a16="http://schemas.microsoft.com/office/drawing/2014/main" id="{E5BE9C0D-D84D-6236-2427-80D40A66F837}"/>
              </a:ext>
            </a:extLst>
          </p:cNvPr>
          <p:cNvSpPr/>
          <p:nvPr/>
        </p:nvSpPr>
        <p:spPr>
          <a:xfrm>
            <a:off x="502920"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a:extLst>
              <a:ext uri="{FF2B5EF4-FFF2-40B4-BE49-F238E27FC236}">
                <a16:creationId xmlns:a16="http://schemas.microsoft.com/office/drawing/2014/main" id="{E0426A65-AE0C-C440-0F25-9745EB107AF8}"/>
              </a:ext>
            </a:extLst>
          </p:cNvPr>
          <p:cNvSpPr/>
          <p:nvPr/>
        </p:nvSpPr>
        <p:spPr>
          <a:xfrm>
            <a:off x="502920" y="3337560"/>
            <a:ext cx="41148" cy="1965960"/>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03767C5B-C625-6C27-C8E3-59A75D401FDA}"/>
              </a:ext>
            </a:extLst>
          </p:cNvPr>
          <p:cNvSpPr txBox="1"/>
          <p:nvPr/>
        </p:nvSpPr>
        <p:spPr>
          <a:xfrm>
            <a:off x="685800"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MNIST / LeNet-5</a:t>
            </a:r>
          </a:p>
        </p:txBody>
      </p:sp>
      <p:sp>
        <p:nvSpPr>
          <p:cNvPr id="87" name="TextBox 86">
            <a:extLst>
              <a:ext uri="{FF2B5EF4-FFF2-40B4-BE49-F238E27FC236}">
                <a16:creationId xmlns:a16="http://schemas.microsoft.com/office/drawing/2014/main" id="{F0FEF8DD-D37D-F7EC-9C50-8F71A6139C4F}"/>
              </a:ext>
            </a:extLst>
          </p:cNvPr>
          <p:cNvSpPr txBox="1"/>
          <p:nvPr/>
        </p:nvSpPr>
        <p:spPr>
          <a:xfrm>
            <a:off x="685800"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t>Digit recognition</a:t>
            </a:r>
          </a:p>
          <a:p>
            <a:pPr>
              <a:spcAft>
                <a:spcPts val="500"/>
              </a:spcAft>
              <a:defRPr sz="1500" b="0">
                <a:solidFill>
                  <a:srgbClr val="586980"/>
                </a:solidFill>
                <a:latin typeface="Aptos"/>
              </a:defRPr>
            </a:pPr>
            <a:r>
              <a:rPr dirty="0"/>
              <a:t>10 classes</a:t>
            </a:r>
          </a:p>
          <a:p>
            <a:pPr>
              <a:spcAft>
                <a:spcPts val="500"/>
              </a:spcAft>
              <a:defRPr sz="1500" b="0">
                <a:solidFill>
                  <a:srgbClr val="586980"/>
                </a:solidFill>
                <a:latin typeface="Aptos"/>
              </a:defRPr>
            </a:pPr>
            <a:r>
              <a:rPr dirty="0"/>
              <a:t>5 microcode words</a:t>
            </a:r>
          </a:p>
        </p:txBody>
      </p:sp>
      <p:sp>
        <p:nvSpPr>
          <p:cNvPr id="89" name="Rounded Rectangle 24">
            <a:extLst>
              <a:ext uri="{FF2B5EF4-FFF2-40B4-BE49-F238E27FC236}">
                <a16:creationId xmlns:a16="http://schemas.microsoft.com/office/drawing/2014/main" id="{C112CF52-F133-01F3-0559-32E25337D9A8}"/>
              </a:ext>
            </a:extLst>
          </p:cNvPr>
          <p:cNvSpPr/>
          <p:nvPr/>
        </p:nvSpPr>
        <p:spPr>
          <a:xfrm>
            <a:off x="3364991"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a:extLst>
              <a:ext uri="{FF2B5EF4-FFF2-40B4-BE49-F238E27FC236}">
                <a16:creationId xmlns:a16="http://schemas.microsoft.com/office/drawing/2014/main" id="{70CF6DF6-7E04-9640-A94D-74961BDF26DE}"/>
              </a:ext>
            </a:extLst>
          </p:cNvPr>
          <p:cNvSpPr/>
          <p:nvPr/>
        </p:nvSpPr>
        <p:spPr>
          <a:xfrm>
            <a:off x="3364991" y="3337560"/>
            <a:ext cx="41148" cy="1965960"/>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a:extLst>
              <a:ext uri="{FF2B5EF4-FFF2-40B4-BE49-F238E27FC236}">
                <a16:creationId xmlns:a16="http://schemas.microsoft.com/office/drawing/2014/main" id="{9E214072-B185-C0AE-9F37-D8E61CC9E469}"/>
              </a:ext>
            </a:extLst>
          </p:cNvPr>
          <p:cNvSpPr txBox="1"/>
          <p:nvPr/>
        </p:nvSpPr>
        <p:spPr>
          <a:xfrm>
            <a:off x="3547872"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ResNet-50</a:t>
            </a:r>
          </a:p>
        </p:txBody>
      </p:sp>
      <p:sp>
        <p:nvSpPr>
          <p:cNvPr id="95" name="TextBox 94">
            <a:extLst>
              <a:ext uri="{FF2B5EF4-FFF2-40B4-BE49-F238E27FC236}">
                <a16:creationId xmlns:a16="http://schemas.microsoft.com/office/drawing/2014/main" id="{9553C38C-AAC4-0478-6F22-0539E36D7CDD}"/>
              </a:ext>
            </a:extLst>
          </p:cNvPr>
          <p:cNvSpPr txBox="1"/>
          <p:nvPr/>
        </p:nvSpPr>
        <p:spPr>
          <a:xfrm>
            <a:off x="3547872"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t>Residual network</a:t>
            </a:r>
          </a:p>
          <a:p>
            <a:pPr>
              <a:spcAft>
                <a:spcPts val="500"/>
              </a:spcAft>
              <a:defRPr sz="1500" b="0">
                <a:solidFill>
                  <a:srgbClr val="586980"/>
                </a:solidFill>
                <a:latin typeface="Aptos"/>
              </a:defRPr>
            </a:pPr>
            <a:r>
              <a:rPr dirty="0"/>
              <a:t>1,000 classes</a:t>
            </a:r>
          </a:p>
          <a:p>
            <a:pPr>
              <a:spcAft>
                <a:spcPts val="500"/>
              </a:spcAft>
              <a:defRPr sz="1500" b="0">
                <a:solidFill>
                  <a:srgbClr val="586980"/>
                </a:solidFill>
                <a:latin typeface="Aptos"/>
              </a:defRPr>
            </a:pPr>
            <a:r>
              <a:rPr dirty="0"/>
              <a:t>57 microcode words</a:t>
            </a:r>
          </a:p>
        </p:txBody>
      </p:sp>
      <p:sp>
        <p:nvSpPr>
          <p:cNvPr id="97" name="Rounded Rectangle 28">
            <a:extLst>
              <a:ext uri="{FF2B5EF4-FFF2-40B4-BE49-F238E27FC236}">
                <a16:creationId xmlns:a16="http://schemas.microsoft.com/office/drawing/2014/main" id="{E86ED33C-51AF-B1C0-C925-01751189EA83}"/>
              </a:ext>
            </a:extLst>
          </p:cNvPr>
          <p:cNvSpPr/>
          <p:nvPr/>
        </p:nvSpPr>
        <p:spPr>
          <a:xfrm>
            <a:off x="6227064"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a:extLst>
              <a:ext uri="{FF2B5EF4-FFF2-40B4-BE49-F238E27FC236}">
                <a16:creationId xmlns:a16="http://schemas.microsoft.com/office/drawing/2014/main" id="{3DFA2C85-B3B1-10A3-D60C-49866776D06C}"/>
              </a:ext>
            </a:extLst>
          </p:cNvPr>
          <p:cNvSpPr/>
          <p:nvPr/>
        </p:nvSpPr>
        <p:spPr>
          <a:xfrm>
            <a:off x="6227064" y="3337560"/>
            <a:ext cx="41148" cy="1965960"/>
          </a:xfrm>
          <a:prstGeom prst="rect">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a:extLst>
              <a:ext uri="{FF2B5EF4-FFF2-40B4-BE49-F238E27FC236}">
                <a16:creationId xmlns:a16="http://schemas.microsoft.com/office/drawing/2014/main" id="{2371F9B6-904B-1C42-7D26-242FE94D513C}"/>
              </a:ext>
            </a:extLst>
          </p:cNvPr>
          <p:cNvSpPr txBox="1"/>
          <p:nvPr/>
        </p:nvSpPr>
        <p:spPr>
          <a:xfrm>
            <a:off x="6409944"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MobileNetV2</a:t>
            </a:r>
          </a:p>
        </p:txBody>
      </p:sp>
      <p:sp>
        <p:nvSpPr>
          <p:cNvPr id="103" name="TextBox 102">
            <a:extLst>
              <a:ext uri="{FF2B5EF4-FFF2-40B4-BE49-F238E27FC236}">
                <a16:creationId xmlns:a16="http://schemas.microsoft.com/office/drawing/2014/main" id="{8AF34A8C-B62F-EAEE-59D3-EFCE273B1597}"/>
              </a:ext>
            </a:extLst>
          </p:cNvPr>
          <p:cNvSpPr txBox="1"/>
          <p:nvPr/>
        </p:nvSpPr>
        <p:spPr>
          <a:xfrm>
            <a:off x="6409944"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err="1"/>
              <a:t>Depthwise</a:t>
            </a:r>
            <a:r>
              <a:rPr dirty="0"/>
              <a:t> convolution</a:t>
            </a:r>
          </a:p>
          <a:p>
            <a:pPr>
              <a:spcAft>
                <a:spcPts val="500"/>
              </a:spcAft>
              <a:defRPr sz="1500" b="0">
                <a:solidFill>
                  <a:srgbClr val="586980"/>
                </a:solidFill>
                <a:latin typeface="Aptos"/>
              </a:defRPr>
            </a:pPr>
            <a:r>
              <a:rPr dirty="0"/>
              <a:t>1,000 classes</a:t>
            </a:r>
          </a:p>
          <a:p>
            <a:pPr>
              <a:spcAft>
                <a:spcPts val="500"/>
              </a:spcAft>
              <a:defRPr sz="1500" b="0">
                <a:solidFill>
                  <a:srgbClr val="586980"/>
                </a:solidFill>
                <a:latin typeface="Aptos"/>
              </a:defRPr>
            </a:pPr>
            <a:r>
              <a:rPr dirty="0"/>
              <a:t>56 microcode words</a:t>
            </a:r>
          </a:p>
        </p:txBody>
      </p:sp>
      <p:sp>
        <p:nvSpPr>
          <p:cNvPr id="105" name="Rounded Rectangle 32">
            <a:extLst>
              <a:ext uri="{FF2B5EF4-FFF2-40B4-BE49-F238E27FC236}">
                <a16:creationId xmlns:a16="http://schemas.microsoft.com/office/drawing/2014/main" id="{D37117D9-D350-B945-D101-D8E33B9A230C}"/>
              </a:ext>
            </a:extLst>
          </p:cNvPr>
          <p:cNvSpPr/>
          <p:nvPr/>
        </p:nvSpPr>
        <p:spPr>
          <a:xfrm>
            <a:off x="9089136"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a:extLst>
              <a:ext uri="{FF2B5EF4-FFF2-40B4-BE49-F238E27FC236}">
                <a16:creationId xmlns:a16="http://schemas.microsoft.com/office/drawing/2014/main" id="{72A4CFF8-5E8F-0E3B-6222-49A9049C09F0}"/>
              </a:ext>
            </a:extLst>
          </p:cNvPr>
          <p:cNvSpPr/>
          <p:nvPr/>
        </p:nvSpPr>
        <p:spPr>
          <a:xfrm>
            <a:off x="9089136" y="3337560"/>
            <a:ext cx="41148" cy="1965960"/>
          </a:xfrm>
          <a:prstGeom prst="rect">
            <a:avLst/>
          </a:prstGeom>
          <a:solidFill>
            <a:srgbClr val="FFC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a:extLst>
              <a:ext uri="{FF2B5EF4-FFF2-40B4-BE49-F238E27FC236}">
                <a16:creationId xmlns:a16="http://schemas.microsoft.com/office/drawing/2014/main" id="{AB745889-66A7-57E8-D2FB-60F6C9603587}"/>
              </a:ext>
            </a:extLst>
          </p:cNvPr>
          <p:cNvSpPr txBox="1"/>
          <p:nvPr/>
        </p:nvSpPr>
        <p:spPr>
          <a:xfrm>
            <a:off x="9272016"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EfficientNet-B0</a:t>
            </a:r>
          </a:p>
        </p:txBody>
      </p:sp>
      <p:sp>
        <p:nvSpPr>
          <p:cNvPr id="111" name="TextBox 110">
            <a:extLst>
              <a:ext uri="{FF2B5EF4-FFF2-40B4-BE49-F238E27FC236}">
                <a16:creationId xmlns:a16="http://schemas.microsoft.com/office/drawing/2014/main" id="{6CD980B3-1055-AB44-F94F-98F9058022E7}"/>
              </a:ext>
            </a:extLst>
          </p:cNvPr>
          <p:cNvSpPr txBox="1"/>
          <p:nvPr/>
        </p:nvSpPr>
        <p:spPr>
          <a:xfrm>
            <a:off x="9272016"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err="1"/>
              <a:t>MBConv</a:t>
            </a:r>
            <a:r>
              <a:rPr dirty="0"/>
              <a:t> + Swish LUT</a:t>
            </a:r>
          </a:p>
          <a:p>
            <a:pPr>
              <a:spcAft>
                <a:spcPts val="500"/>
              </a:spcAft>
              <a:defRPr sz="1500" b="0">
                <a:solidFill>
                  <a:srgbClr val="586980"/>
                </a:solidFill>
                <a:latin typeface="Aptos"/>
              </a:defRPr>
            </a:pPr>
            <a:r>
              <a:rPr dirty="0"/>
              <a:t>1,000 classes</a:t>
            </a:r>
          </a:p>
          <a:p>
            <a:pPr>
              <a:spcAft>
                <a:spcPts val="500"/>
              </a:spcAft>
              <a:defRPr sz="1500" b="0">
                <a:solidFill>
                  <a:srgbClr val="586980"/>
                </a:solidFill>
                <a:latin typeface="Aptos"/>
              </a:defRPr>
            </a:pPr>
            <a:r>
              <a:rPr dirty="0"/>
              <a:t>53 microcode words</a:t>
            </a:r>
          </a:p>
        </p:txBody>
      </p:sp>
      <p:sp>
        <p:nvSpPr>
          <p:cNvPr id="113" name="TextBox 112">
            <a:extLst>
              <a:ext uri="{FF2B5EF4-FFF2-40B4-BE49-F238E27FC236}">
                <a16:creationId xmlns:a16="http://schemas.microsoft.com/office/drawing/2014/main" id="{3BE24198-2303-AE5F-351D-46A315721635}"/>
              </a:ext>
            </a:extLst>
          </p:cNvPr>
          <p:cNvSpPr txBox="1"/>
          <p:nvPr/>
        </p:nvSpPr>
        <p:spPr>
          <a:xfrm>
            <a:off x="594360" y="5650992"/>
            <a:ext cx="10972800" cy="521207"/>
          </a:xfrm>
          <a:prstGeom prst="rect">
            <a:avLst/>
          </a:prstGeom>
          <a:noFill/>
        </p:spPr>
        <p:txBody>
          <a:bodyPr wrap="square" lIns="13716" tIns="0" rIns="13716" bIns="0">
            <a:spAutoFit/>
          </a:bodyPr>
          <a:lstStyle/>
          <a:p>
            <a:pPr>
              <a:spcAft>
                <a:spcPts val="500"/>
              </a:spcAft>
              <a:defRPr sz="1700" b="0">
                <a:solidFill>
                  <a:srgbClr val="15233B"/>
                </a:solidFill>
                <a:latin typeface="Aptos"/>
              </a:defRPr>
            </a:pPr>
            <a:r>
              <a:rPr dirty="0">
                <a:solidFill>
                  <a:schemeClr val="bg1"/>
                </a:solidFill>
              </a:rPr>
              <a:t>Platform direction: </a:t>
            </a:r>
            <a:r>
              <a:rPr lang="en-US" dirty="0">
                <a:solidFill>
                  <a:schemeClr val="bg1"/>
                </a:solidFill>
              </a:rPr>
              <a:t>The</a:t>
            </a:r>
            <a:r>
              <a:rPr dirty="0">
                <a:solidFill>
                  <a:schemeClr val="bg1"/>
                </a:solidFill>
              </a:rPr>
              <a:t> model and operator coverage</a:t>
            </a:r>
            <a:r>
              <a:rPr lang="en-US" dirty="0">
                <a:solidFill>
                  <a:schemeClr val="bg1"/>
                </a:solidFill>
              </a:rPr>
              <a:t> can be</a:t>
            </a:r>
            <a:r>
              <a:rPr dirty="0">
                <a:solidFill>
                  <a:schemeClr val="bg1"/>
                </a:solidFill>
              </a:rPr>
              <a:t> </a:t>
            </a:r>
            <a:r>
              <a:rPr lang="en-US" dirty="0">
                <a:solidFill>
                  <a:schemeClr val="bg1"/>
                </a:solidFill>
              </a:rPr>
              <a:t>expanded using</a:t>
            </a:r>
            <a:r>
              <a:rPr dirty="0">
                <a:solidFill>
                  <a:schemeClr val="bg1"/>
                </a:solidFill>
              </a:rPr>
              <a:t> </a:t>
            </a:r>
            <a:r>
              <a:rPr lang="en-US" dirty="0">
                <a:solidFill>
                  <a:schemeClr val="bg1"/>
                </a:solidFill>
              </a:rPr>
              <a:t>python </a:t>
            </a:r>
            <a:r>
              <a:rPr dirty="0">
                <a:solidFill>
                  <a:schemeClr val="bg1"/>
                </a:solidFill>
              </a:rPr>
              <a:t>compiler, reusable RTL and systematic validation.</a:t>
            </a:r>
          </a:p>
        </p:txBody>
      </p:sp>
    </p:spTree>
    <p:extLst>
      <p:ext uri="{BB962C8B-B14F-4D97-AF65-F5344CB8AC3E}">
        <p14:creationId xmlns:p14="http://schemas.microsoft.com/office/powerpoint/2010/main" val="3395564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D0ADA3AC-C0E9-E34C-62EF-58CD44B25D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773294-3C8E-8530-CB9F-66B854F47914}"/>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a:solidFill>
                  <a:srgbClr val="35DFC3"/>
                </a:solidFill>
              </a:rPr>
              <a:t>RECORDED RESULTS</a:t>
            </a:r>
          </a:p>
        </p:txBody>
      </p:sp>
      <p:sp>
        <p:nvSpPr>
          <p:cNvPr id="5" name="TextBox 4">
            <a:extLst>
              <a:ext uri="{FF2B5EF4-FFF2-40B4-BE49-F238E27FC236}">
                <a16:creationId xmlns:a16="http://schemas.microsoft.com/office/drawing/2014/main" id="{574B3D9D-98C9-6893-1C71-AC4D729B8BE9}"/>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dirty="0">
                <a:solidFill>
                  <a:schemeClr val="bg1">
                    <a:lumMod val="95000"/>
                  </a:schemeClr>
                </a:solidFill>
              </a:rPr>
              <a:t>Recorded </a:t>
            </a:r>
            <a:r>
              <a:rPr lang="en-US" dirty="0">
                <a:solidFill>
                  <a:schemeClr val="bg1">
                    <a:lumMod val="95000"/>
                  </a:schemeClr>
                </a:solidFill>
              </a:rPr>
              <a:t>R</a:t>
            </a:r>
            <a:r>
              <a:rPr dirty="0">
                <a:solidFill>
                  <a:schemeClr val="bg1">
                    <a:lumMod val="95000"/>
                  </a:schemeClr>
                </a:solidFill>
              </a:rPr>
              <a:t>esults</a:t>
            </a:r>
            <a:r>
              <a:rPr lang="en-US" dirty="0">
                <a:solidFill>
                  <a:schemeClr val="bg1">
                    <a:lumMod val="95000"/>
                  </a:schemeClr>
                </a:solidFill>
              </a:rPr>
              <a:t> (Full end to end): Int8</a:t>
            </a:r>
            <a:endParaRPr dirty="0">
              <a:solidFill>
                <a:schemeClr val="bg1">
                  <a:lumMod val="95000"/>
                </a:schemeClr>
              </a:solidFill>
            </a:endParaRPr>
          </a:p>
        </p:txBody>
      </p:sp>
      <p:sp>
        <p:nvSpPr>
          <p:cNvPr id="7" name="TextBox 6">
            <a:extLst>
              <a:ext uri="{FF2B5EF4-FFF2-40B4-BE49-F238E27FC236}">
                <a16:creationId xmlns:a16="http://schemas.microsoft.com/office/drawing/2014/main" id="{B2CB7BC0-8A09-0B0D-0236-F42B520DA67B}"/>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lumMod val="95000"/>
                  </a:schemeClr>
                </a:solidFill>
              </a:rPr>
              <a:t>Saved INT8 logs show functional completion; elapsed hardware time below is calculated from cycles at 75 MHz.</a:t>
            </a:r>
          </a:p>
        </p:txBody>
      </p:sp>
      <p:sp>
        <p:nvSpPr>
          <p:cNvPr id="9" name="Rectangle 8">
            <a:extLst>
              <a:ext uri="{FF2B5EF4-FFF2-40B4-BE49-F238E27FC236}">
                <a16:creationId xmlns:a16="http://schemas.microsoft.com/office/drawing/2014/main" id="{4C33C3CC-E3FB-74DD-EFF9-B3184D54F31F}"/>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E85485E-DBF8-6905-7D6F-272A3C790036}"/>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1</a:t>
            </a:r>
            <a:r>
              <a:rPr lang="en-US" dirty="0">
                <a:solidFill>
                  <a:srgbClr val="35DFC3"/>
                </a:solidFill>
              </a:rPr>
              <a:t>0</a:t>
            </a:r>
            <a:r>
              <a:rPr dirty="0">
                <a:solidFill>
                  <a:srgbClr val="35DFC3"/>
                </a:solidFill>
              </a:rPr>
              <a:t> / 1</a:t>
            </a:r>
            <a:r>
              <a:rPr lang="en-US" dirty="0">
                <a:solidFill>
                  <a:srgbClr val="35DFC3"/>
                </a:solidFill>
              </a:rPr>
              <a:t>1</a:t>
            </a:r>
            <a:endParaRPr dirty="0">
              <a:solidFill>
                <a:srgbClr val="35DFC3"/>
              </a:solidFill>
            </a:endParaRPr>
          </a:p>
        </p:txBody>
      </p:sp>
      <p:sp>
        <p:nvSpPr>
          <p:cNvPr id="17" name="Rectangle 16">
            <a:extLst>
              <a:ext uri="{FF2B5EF4-FFF2-40B4-BE49-F238E27FC236}">
                <a16:creationId xmlns:a16="http://schemas.microsoft.com/office/drawing/2014/main" id="{E5324978-391B-FA2C-5EA6-E76E25DCFC7B}"/>
              </a:ext>
            </a:extLst>
          </p:cNvPr>
          <p:cNvSpPr/>
          <p:nvPr/>
        </p:nvSpPr>
        <p:spPr>
          <a:xfrm>
            <a:off x="502920" y="2048256"/>
            <a:ext cx="11173968" cy="438912"/>
          </a:xfrm>
          <a:prstGeom prst="rect">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7117B7E3-58F6-2E2D-A5C6-E2F29265E338}"/>
              </a:ext>
            </a:extLst>
          </p:cNvPr>
          <p:cNvSpPr txBox="1"/>
          <p:nvPr/>
        </p:nvSpPr>
        <p:spPr>
          <a:xfrm>
            <a:off x="621792" y="2148840"/>
            <a:ext cx="3538727" cy="169277"/>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rPr dirty="0"/>
              <a:t>MODEL / </a:t>
            </a:r>
            <a:r>
              <a:rPr lang="en-US" dirty="0"/>
              <a:t>Input Image</a:t>
            </a:r>
            <a:endParaRPr dirty="0"/>
          </a:p>
        </p:txBody>
      </p:sp>
      <p:sp>
        <p:nvSpPr>
          <p:cNvPr id="21" name="TextBox 20">
            <a:extLst>
              <a:ext uri="{FF2B5EF4-FFF2-40B4-BE49-F238E27FC236}">
                <a16:creationId xmlns:a16="http://schemas.microsoft.com/office/drawing/2014/main" id="{7D65133A-69E3-533B-79F9-15AB65A1976D}"/>
              </a:ext>
            </a:extLst>
          </p:cNvPr>
          <p:cNvSpPr txBox="1"/>
          <p:nvPr/>
        </p:nvSpPr>
        <p:spPr>
          <a:xfrm>
            <a:off x="4370831" y="2148840"/>
            <a:ext cx="1655064"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CYCLES</a:t>
            </a:r>
          </a:p>
        </p:txBody>
      </p:sp>
      <p:sp>
        <p:nvSpPr>
          <p:cNvPr id="23" name="TextBox 22">
            <a:extLst>
              <a:ext uri="{FF2B5EF4-FFF2-40B4-BE49-F238E27FC236}">
                <a16:creationId xmlns:a16="http://schemas.microsoft.com/office/drawing/2014/main" id="{D86937EE-83D1-FD21-8811-FBD0405A9593}"/>
              </a:ext>
            </a:extLst>
          </p:cNvPr>
          <p:cNvSpPr txBox="1"/>
          <p:nvPr/>
        </p:nvSpPr>
        <p:spPr>
          <a:xfrm>
            <a:off x="6236207" y="2148840"/>
            <a:ext cx="1618488"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TIME AT 75 MHz</a:t>
            </a:r>
          </a:p>
        </p:txBody>
      </p:sp>
      <p:sp>
        <p:nvSpPr>
          <p:cNvPr id="25" name="TextBox 24">
            <a:extLst>
              <a:ext uri="{FF2B5EF4-FFF2-40B4-BE49-F238E27FC236}">
                <a16:creationId xmlns:a16="http://schemas.microsoft.com/office/drawing/2014/main" id="{8E5C5F28-079F-CB70-32BB-B2D60A191CEE}"/>
              </a:ext>
            </a:extLst>
          </p:cNvPr>
          <p:cNvSpPr txBox="1"/>
          <p:nvPr/>
        </p:nvSpPr>
        <p:spPr>
          <a:xfrm>
            <a:off x="8065008" y="2148840"/>
            <a:ext cx="3520440"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RECORDED OUTCOME</a:t>
            </a:r>
          </a:p>
        </p:txBody>
      </p:sp>
      <p:sp>
        <p:nvSpPr>
          <p:cNvPr id="27" name="Rectangle 26">
            <a:extLst>
              <a:ext uri="{FF2B5EF4-FFF2-40B4-BE49-F238E27FC236}">
                <a16:creationId xmlns:a16="http://schemas.microsoft.com/office/drawing/2014/main" id="{0F254D6C-82A7-CB0D-BFC8-D5C084F42717}"/>
              </a:ext>
            </a:extLst>
          </p:cNvPr>
          <p:cNvSpPr/>
          <p:nvPr/>
        </p:nvSpPr>
        <p:spPr>
          <a:xfrm>
            <a:off x="502920" y="2487168"/>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B61B8B3B-FE83-D24E-1D69-4B5C90375E87}"/>
              </a:ext>
            </a:extLst>
          </p:cNvPr>
          <p:cNvSpPr txBox="1"/>
          <p:nvPr/>
        </p:nvSpPr>
        <p:spPr>
          <a:xfrm>
            <a:off x="621792" y="2633472"/>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MNIST / raw 8 × 32 </a:t>
            </a:r>
            <a:r>
              <a:rPr lang="en-US" dirty="0"/>
              <a:t>MNIST </a:t>
            </a:r>
            <a:r>
              <a:rPr dirty="0"/>
              <a:t>input</a:t>
            </a:r>
          </a:p>
        </p:txBody>
      </p:sp>
      <p:sp>
        <p:nvSpPr>
          <p:cNvPr id="31" name="TextBox 30">
            <a:extLst>
              <a:ext uri="{FF2B5EF4-FFF2-40B4-BE49-F238E27FC236}">
                <a16:creationId xmlns:a16="http://schemas.microsoft.com/office/drawing/2014/main" id="{2DF0B532-D16B-A039-3CF4-EA5197C891B2}"/>
              </a:ext>
            </a:extLst>
          </p:cNvPr>
          <p:cNvSpPr txBox="1"/>
          <p:nvPr/>
        </p:nvSpPr>
        <p:spPr>
          <a:xfrm>
            <a:off x="4370831" y="2633472"/>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3</a:t>
            </a:r>
            <a:r>
              <a:rPr lang="en-US" dirty="0"/>
              <a:t>50</a:t>
            </a:r>
            <a:endParaRPr dirty="0"/>
          </a:p>
        </p:txBody>
      </p:sp>
      <p:sp>
        <p:nvSpPr>
          <p:cNvPr id="33" name="TextBox 32">
            <a:extLst>
              <a:ext uri="{FF2B5EF4-FFF2-40B4-BE49-F238E27FC236}">
                <a16:creationId xmlns:a16="http://schemas.microsoft.com/office/drawing/2014/main" id="{708E2BF2-6116-BD86-5F9D-B625CFFDFEE2}"/>
              </a:ext>
            </a:extLst>
          </p:cNvPr>
          <p:cNvSpPr txBox="1"/>
          <p:nvPr/>
        </p:nvSpPr>
        <p:spPr>
          <a:xfrm>
            <a:off x="6236207" y="2633472"/>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4.</a:t>
            </a:r>
            <a:r>
              <a:rPr lang="en-US" dirty="0"/>
              <a:t>66</a:t>
            </a:r>
            <a:r>
              <a:rPr dirty="0"/>
              <a:t> µs</a:t>
            </a:r>
          </a:p>
        </p:txBody>
      </p:sp>
      <p:sp>
        <p:nvSpPr>
          <p:cNvPr id="35" name="TextBox 34">
            <a:extLst>
              <a:ext uri="{FF2B5EF4-FFF2-40B4-BE49-F238E27FC236}">
                <a16:creationId xmlns:a16="http://schemas.microsoft.com/office/drawing/2014/main" id="{CC647A49-18CE-131B-E672-7960AEF95310}"/>
              </a:ext>
            </a:extLst>
          </p:cNvPr>
          <p:cNvSpPr txBox="1"/>
          <p:nvPr/>
        </p:nvSpPr>
        <p:spPr>
          <a:xfrm>
            <a:off x="8065008" y="2633472"/>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PASS </a:t>
            </a:r>
            <a:r>
              <a:rPr lang="en-US" dirty="0"/>
              <a:t>(0/</a:t>
            </a:r>
            <a:r>
              <a:rPr dirty="0"/>
              <a:t>10 </a:t>
            </a:r>
            <a:r>
              <a:rPr lang="en-US" dirty="0"/>
              <a:t>mismatches)</a:t>
            </a:r>
            <a:endParaRPr dirty="0"/>
          </a:p>
        </p:txBody>
      </p:sp>
      <p:sp>
        <p:nvSpPr>
          <p:cNvPr id="37" name="Rectangle 36">
            <a:extLst>
              <a:ext uri="{FF2B5EF4-FFF2-40B4-BE49-F238E27FC236}">
                <a16:creationId xmlns:a16="http://schemas.microsoft.com/office/drawing/2014/main" id="{5F632993-B4BA-A312-3CF8-414E211B20D6}"/>
              </a:ext>
            </a:extLst>
          </p:cNvPr>
          <p:cNvSpPr/>
          <p:nvPr/>
        </p:nvSpPr>
        <p:spPr>
          <a:xfrm>
            <a:off x="502920" y="3090672"/>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45677E4E-EE80-C99C-53A1-B90004566359}"/>
              </a:ext>
            </a:extLst>
          </p:cNvPr>
          <p:cNvSpPr txBox="1"/>
          <p:nvPr/>
        </p:nvSpPr>
        <p:spPr>
          <a:xfrm>
            <a:off x="621792" y="3236976"/>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MobileNetV2 / full RGB </a:t>
            </a:r>
            <a:r>
              <a:rPr lang="en-US" dirty="0"/>
              <a:t>224x224x3</a:t>
            </a:r>
            <a:endParaRPr dirty="0"/>
          </a:p>
        </p:txBody>
      </p:sp>
      <p:sp>
        <p:nvSpPr>
          <p:cNvPr id="41" name="TextBox 40">
            <a:extLst>
              <a:ext uri="{FF2B5EF4-FFF2-40B4-BE49-F238E27FC236}">
                <a16:creationId xmlns:a16="http://schemas.microsoft.com/office/drawing/2014/main" id="{94E8110E-ECFB-6866-FF97-9121B9A99559}"/>
              </a:ext>
            </a:extLst>
          </p:cNvPr>
          <p:cNvSpPr txBox="1"/>
          <p:nvPr/>
        </p:nvSpPr>
        <p:spPr>
          <a:xfrm>
            <a:off x="4370831" y="3236976"/>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3,047,626</a:t>
            </a:r>
            <a:endParaRPr dirty="0"/>
          </a:p>
        </p:txBody>
      </p:sp>
      <p:sp>
        <p:nvSpPr>
          <p:cNvPr id="43" name="TextBox 42">
            <a:extLst>
              <a:ext uri="{FF2B5EF4-FFF2-40B4-BE49-F238E27FC236}">
                <a16:creationId xmlns:a16="http://schemas.microsoft.com/office/drawing/2014/main" id="{2D99B5E2-6AF4-7A49-0543-61C5F169A392}"/>
              </a:ext>
            </a:extLst>
          </p:cNvPr>
          <p:cNvSpPr txBox="1"/>
          <p:nvPr/>
        </p:nvSpPr>
        <p:spPr>
          <a:xfrm>
            <a:off x="6236207" y="3236976"/>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40.63</a:t>
            </a:r>
            <a:r>
              <a:rPr dirty="0"/>
              <a:t> </a:t>
            </a:r>
            <a:r>
              <a:rPr lang="en-US" dirty="0"/>
              <a:t>m</a:t>
            </a:r>
            <a:r>
              <a:rPr dirty="0"/>
              <a:t>s</a:t>
            </a:r>
            <a:r>
              <a:rPr lang="en-US" dirty="0"/>
              <a:t>ec</a:t>
            </a:r>
            <a:endParaRPr dirty="0"/>
          </a:p>
        </p:txBody>
      </p:sp>
      <p:sp>
        <p:nvSpPr>
          <p:cNvPr id="45" name="TextBox 44">
            <a:extLst>
              <a:ext uri="{FF2B5EF4-FFF2-40B4-BE49-F238E27FC236}">
                <a16:creationId xmlns:a16="http://schemas.microsoft.com/office/drawing/2014/main" id="{173E85FC-75B6-BDA8-7751-3F95E30258A4}"/>
              </a:ext>
            </a:extLst>
          </p:cNvPr>
          <p:cNvSpPr txBox="1"/>
          <p:nvPr/>
        </p:nvSpPr>
        <p:spPr>
          <a:xfrm>
            <a:off x="8065008" y="3236976"/>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PASS</a:t>
            </a:r>
            <a:r>
              <a:rPr lang="en-US" dirty="0"/>
              <a:t> (</a:t>
            </a:r>
            <a:r>
              <a:rPr dirty="0"/>
              <a:t>0 / 1,000 mismatches</a:t>
            </a:r>
            <a:r>
              <a:rPr lang="en-US" dirty="0"/>
              <a:t>)</a:t>
            </a:r>
            <a:endParaRPr dirty="0"/>
          </a:p>
        </p:txBody>
      </p:sp>
      <p:sp>
        <p:nvSpPr>
          <p:cNvPr id="47" name="Rectangle 46">
            <a:extLst>
              <a:ext uri="{FF2B5EF4-FFF2-40B4-BE49-F238E27FC236}">
                <a16:creationId xmlns:a16="http://schemas.microsoft.com/office/drawing/2014/main" id="{7881EDEB-E76B-8BDD-F8A6-736AD25A7C0A}"/>
              </a:ext>
            </a:extLst>
          </p:cNvPr>
          <p:cNvSpPr/>
          <p:nvPr/>
        </p:nvSpPr>
        <p:spPr>
          <a:xfrm>
            <a:off x="502920" y="3694176"/>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A33EFF40-A52E-5DE4-1170-14CC2C41EF06}"/>
              </a:ext>
            </a:extLst>
          </p:cNvPr>
          <p:cNvSpPr txBox="1"/>
          <p:nvPr/>
        </p:nvSpPr>
        <p:spPr>
          <a:xfrm>
            <a:off x="621792" y="3840480"/>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EfficientNet-B0 / full RGB </a:t>
            </a:r>
            <a:r>
              <a:rPr lang="en-US" dirty="0"/>
              <a:t>224x224x3</a:t>
            </a:r>
            <a:endParaRPr dirty="0"/>
          </a:p>
        </p:txBody>
      </p:sp>
      <p:sp>
        <p:nvSpPr>
          <p:cNvPr id="51" name="TextBox 50">
            <a:extLst>
              <a:ext uri="{FF2B5EF4-FFF2-40B4-BE49-F238E27FC236}">
                <a16:creationId xmlns:a16="http://schemas.microsoft.com/office/drawing/2014/main" id="{43A2F34D-5C5E-9AE7-D531-DD315CA2AF57}"/>
              </a:ext>
            </a:extLst>
          </p:cNvPr>
          <p:cNvSpPr txBox="1"/>
          <p:nvPr/>
        </p:nvSpPr>
        <p:spPr>
          <a:xfrm>
            <a:off x="4370831" y="3840480"/>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3,795,311</a:t>
            </a:r>
            <a:endParaRPr dirty="0"/>
          </a:p>
        </p:txBody>
      </p:sp>
      <p:sp>
        <p:nvSpPr>
          <p:cNvPr id="53" name="TextBox 52">
            <a:extLst>
              <a:ext uri="{FF2B5EF4-FFF2-40B4-BE49-F238E27FC236}">
                <a16:creationId xmlns:a16="http://schemas.microsoft.com/office/drawing/2014/main" id="{7F4716F7-A03A-FB0D-5D15-97E930542E4B}"/>
              </a:ext>
            </a:extLst>
          </p:cNvPr>
          <p:cNvSpPr txBox="1"/>
          <p:nvPr/>
        </p:nvSpPr>
        <p:spPr>
          <a:xfrm>
            <a:off x="6236207" y="3840480"/>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50.6 msec</a:t>
            </a:r>
            <a:endParaRPr dirty="0"/>
          </a:p>
        </p:txBody>
      </p:sp>
      <p:sp>
        <p:nvSpPr>
          <p:cNvPr id="55" name="TextBox 54">
            <a:extLst>
              <a:ext uri="{FF2B5EF4-FFF2-40B4-BE49-F238E27FC236}">
                <a16:creationId xmlns:a16="http://schemas.microsoft.com/office/drawing/2014/main" id="{EC0047C5-D850-EDB6-179B-26AD82323CA8}"/>
              </a:ext>
            </a:extLst>
          </p:cNvPr>
          <p:cNvSpPr txBox="1"/>
          <p:nvPr/>
        </p:nvSpPr>
        <p:spPr>
          <a:xfrm>
            <a:off x="8065008" y="3840480"/>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PASS </a:t>
            </a:r>
            <a:r>
              <a:rPr lang="en-US" dirty="0"/>
              <a:t>(</a:t>
            </a:r>
            <a:r>
              <a:rPr dirty="0"/>
              <a:t>0 / 1,000 mismatches</a:t>
            </a:r>
            <a:r>
              <a:rPr lang="en-US" dirty="0"/>
              <a:t>)</a:t>
            </a:r>
            <a:endParaRPr dirty="0"/>
          </a:p>
        </p:txBody>
      </p:sp>
      <p:sp>
        <p:nvSpPr>
          <p:cNvPr id="57" name="Rectangle 56">
            <a:extLst>
              <a:ext uri="{FF2B5EF4-FFF2-40B4-BE49-F238E27FC236}">
                <a16:creationId xmlns:a16="http://schemas.microsoft.com/office/drawing/2014/main" id="{C68C9854-6C8D-9AF9-8458-2B3E27B1B0A6}"/>
              </a:ext>
            </a:extLst>
          </p:cNvPr>
          <p:cNvSpPr/>
          <p:nvPr/>
        </p:nvSpPr>
        <p:spPr>
          <a:xfrm>
            <a:off x="502920" y="4297680"/>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25E51D42-7486-5BB4-0E81-1948DB36E06E}"/>
              </a:ext>
            </a:extLst>
          </p:cNvPr>
          <p:cNvSpPr txBox="1"/>
          <p:nvPr/>
        </p:nvSpPr>
        <p:spPr>
          <a:xfrm>
            <a:off x="621792" y="4443984"/>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ResNet-50 / full RGB </a:t>
            </a:r>
            <a:r>
              <a:rPr lang="en-US" dirty="0"/>
              <a:t>224x224x3</a:t>
            </a:r>
            <a:endParaRPr dirty="0"/>
          </a:p>
        </p:txBody>
      </p:sp>
      <p:sp>
        <p:nvSpPr>
          <p:cNvPr id="61" name="TextBox 60">
            <a:extLst>
              <a:ext uri="{FF2B5EF4-FFF2-40B4-BE49-F238E27FC236}">
                <a16:creationId xmlns:a16="http://schemas.microsoft.com/office/drawing/2014/main" id="{F186264E-F581-7B21-A639-CF753F3071BC}"/>
              </a:ext>
            </a:extLst>
          </p:cNvPr>
          <p:cNvSpPr txBox="1"/>
          <p:nvPr/>
        </p:nvSpPr>
        <p:spPr>
          <a:xfrm>
            <a:off x="4370831" y="4443984"/>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76,275,902</a:t>
            </a:r>
            <a:endParaRPr dirty="0"/>
          </a:p>
        </p:txBody>
      </p:sp>
      <p:sp>
        <p:nvSpPr>
          <p:cNvPr id="63" name="TextBox 62">
            <a:extLst>
              <a:ext uri="{FF2B5EF4-FFF2-40B4-BE49-F238E27FC236}">
                <a16:creationId xmlns:a16="http://schemas.microsoft.com/office/drawing/2014/main" id="{9B459C30-8802-7669-F226-369890355312}"/>
              </a:ext>
            </a:extLst>
          </p:cNvPr>
          <p:cNvSpPr txBox="1"/>
          <p:nvPr/>
        </p:nvSpPr>
        <p:spPr>
          <a:xfrm>
            <a:off x="6236207" y="4443984"/>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1017 msec</a:t>
            </a:r>
            <a:endParaRPr dirty="0"/>
          </a:p>
        </p:txBody>
      </p:sp>
      <p:sp>
        <p:nvSpPr>
          <p:cNvPr id="65" name="TextBox 64">
            <a:extLst>
              <a:ext uri="{FF2B5EF4-FFF2-40B4-BE49-F238E27FC236}">
                <a16:creationId xmlns:a16="http://schemas.microsoft.com/office/drawing/2014/main" id="{904C37F7-65E8-1698-DA79-85B036F4835C}"/>
              </a:ext>
            </a:extLst>
          </p:cNvPr>
          <p:cNvSpPr txBox="1"/>
          <p:nvPr/>
        </p:nvSpPr>
        <p:spPr>
          <a:xfrm>
            <a:off x="8065008" y="4443984"/>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PASS (0/1,000 mismatches) –In progress</a:t>
            </a:r>
            <a:endParaRPr dirty="0"/>
          </a:p>
        </p:txBody>
      </p:sp>
      <p:sp>
        <p:nvSpPr>
          <p:cNvPr id="67" name="Rounded Rectangle 33">
            <a:extLst>
              <a:ext uri="{FF2B5EF4-FFF2-40B4-BE49-F238E27FC236}">
                <a16:creationId xmlns:a16="http://schemas.microsoft.com/office/drawing/2014/main" id="{2216C8CB-C801-CF98-9F26-79F6AF3B377D}"/>
              </a:ext>
            </a:extLst>
          </p:cNvPr>
          <p:cNvSpPr/>
          <p:nvPr/>
        </p:nvSpPr>
        <p:spPr>
          <a:xfrm>
            <a:off x="502920" y="5166360"/>
            <a:ext cx="5422392" cy="8961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a:extLst>
              <a:ext uri="{FF2B5EF4-FFF2-40B4-BE49-F238E27FC236}">
                <a16:creationId xmlns:a16="http://schemas.microsoft.com/office/drawing/2014/main" id="{7E9769EF-BB9D-2170-D7E5-193F4195FC8D}"/>
              </a:ext>
            </a:extLst>
          </p:cNvPr>
          <p:cNvSpPr/>
          <p:nvPr/>
        </p:nvSpPr>
        <p:spPr>
          <a:xfrm>
            <a:off x="502920" y="5166360"/>
            <a:ext cx="41148" cy="89611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EEED44BA-251B-7226-1C6F-5F49C2B14CB3}"/>
              </a:ext>
            </a:extLst>
          </p:cNvPr>
          <p:cNvSpPr txBox="1"/>
          <p:nvPr/>
        </p:nvSpPr>
        <p:spPr>
          <a:xfrm>
            <a:off x="685800" y="5330952"/>
            <a:ext cx="5056631" cy="276999"/>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lang="en-US" dirty="0"/>
              <a:t>24.6</a:t>
            </a:r>
            <a:r>
              <a:rPr dirty="0"/>
              <a:t> FPS  /  MobileNetV2</a:t>
            </a:r>
          </a:p>
        </p:txBody>
      </p:sp>
      <p:sp>
        <p:nvSpPr>
          <p:cNvPr id="73" name="Rounded Rectangle 36">
            <a:extLst>
              <a:ext uri="{FF2B5EF4-FFF2-40B4-BE49-F238E27FC236}">
                <a16:creationId xmlns:a16="http://schemas.microsoft.com/office/drawing/2014/main" id="{7C36E5B5-76C0-F79D-FF8A-CC3001AC20C6}"/>
              </a:ext>
            </a:extLst>
          </p:cNvPr>
          <p:cNvSpPr/>
          <p:nvPr/>
        </p:nvSpPr>
        <p:spPr>
          <a:xfrm>
            <a:off x="6153912" y="5166360"/>
            <a:ext cx="5522976" cy="8961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a:extLst>
              <a:ext uri="{FF2B5EF4-FFF2-40B4-BE49-F238E27FC236}">
                <a16:creationId xmlns:a16="http://schemas.microsoft.com/office/drawing/2014/main" id="{0556E3EF-6301-3ABC-CF31-A73147C0B688}"/>
              </a:ext>
            </a:extLst>
          </p:cNvPr>
          <p:cNvSpPr/>
          <p:nvPr/>
        </p:nvSpPr>
        <p:spPr>
          <a:xfrm>
            <a:off x="6153912" y="5166360"/>
            <a:ext cx="41148" cy="896112"/>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40E3E6FC-AA15-96D9-E1B1-E1ECC0A98281}"/>
              </a:ext>
            </a:extLst>
          </p:cNvPr>
          <p:cNvSpPr txBox="1"/>
          <p:nvPr/>
        </p:nvSpPr>
        <p:spPr>
          <a:xfrm>
            <a:off x="6336792" y="5330952"/>
            <a:ext cx="5157216" cy="276999"/>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lang="en-US" dirty="0"/>
              <a:t>19.7</a:t>
            </a:r>
            <a:r>
              <a:rPr dirty="0"/>
              <a:t> FPS  /  EfficientNet-B0</a:t>
            </a:r>
          </a:p>
        </p:txBody>
      </p:sp>
      <p:sp>
        <p:nvSpPr>
          <p:cNvPr id="79" name="TextBox 78">
            <a:extLst>
              <a:ext uri="{FF2B5EF4-FFF2-40B4-BE49-F238E27FC236}">
                <a16:creationId xmlns:a16="http://schemas.microsoft.com/office/drawing/2014/main" id="{54BED970-754C-706A-A2BD-53637F9DD840}"/>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036844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210312"/>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RESULT INTERPRETATION</a:t>
            </a:r>
          </a:p>
        </p:txBody>
      </p:sp>
      <p:sp>
        <p:nvSpPr>
          <p:cNvPr id="3" name="TextBox 2"/>
          <p:cNvSpPr txBox="1"/>
          <p:nvPr/>
        </p:nvSpPr>
        <p:spPr>
          <a:xfrm>
            <a:off x="502920" y="713232"/>
            <a:ext cx="11155680" cy="640080"/>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r>
              <a:t>A correct top-1 example is only part of accuracy</a:t>
            </a:r>
          </a:p>
        </p:txBody>
      </p:sp>
      <p:sp>
        <p:nvSpPr>
          <p:cNvPr id="4" name="TextBox 3"/>
          <p:cNvSpPr txBox="1"/>
          <p:nvPr/>
        </p:nvSpPr>
        <p:spPr>
          <a:xfrm>
            <a:off x="512064" y="1426464"/>
            <a:ext cx="11109960" cy="502920"/>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t>The saved dog-image runs identify Samoyed, while the full distributions reveal quantization limits.</a:t>
            </a:r>
          </a:p>
        </p:txBody>
      </p:sp>
      <p:sp>
        <p:nvSpPr>
          <p:cNvPr id="5" name="Rectangle 4"/>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t>1</a:t>
            </a:r>
            <a:r>
              <a:rPr lang="en-US" dirty="0"/>
              <a:t>1</a:t>
            </a:r>
            <a:r>
              <a:rPr dirty="0"/>
              <a:t> / 1</a:t>
            </a:r>
            <a:r>
              <a:rPr lang="en-US" dirty="0"/>
              <a:t>1</a:t>
            </a:r>
            <a:endParaRPr dirty="0"/>
          </a:p>
        </p:txBody>
      </p:sp>
      <p:pic>
        <p:nvPicPr>
          <p:cNvPr id="9" name="Picture 8" descr="dog.jpg"/>
          <p:cNvPicPr>
            <a:picLocks noChangeAspect="1"/>
          </p:cNvPicPr>
          <p:nvPr/>
        </p:nvPicPr>
        <p:blipFill>
          <a:blip r:embed="rId3"/>
          <a:stretch>
            <a:fillRect/>
          </a:stretch>
        </p:blipFill>
        <p:spPr>
          <a:xfrm>
            <a:off x="502920" y="2112264"/>
            <a:ext cx="4160520" cy="3264408"/>
          </a:xfrm>
          <a:prstGeom prst="rect">
            <a:avLst/>
          </a:prstGeom>
        </p:spPr>
      </p:pic>
      <p:sp>
        <p:nvSpPr>
          <p:cNvPr id="10" name="Rounded Rectangle 9"/>
          <p:cNvSpPr/>
          <p:nvPr/>
        </p:nvSpPr>
        <p:spPr>
          <a:xfrm>
            <a:off x="658368" y="5550408"/>
            <a:ext cx="1920240"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5586984"/>
            <a:ext cx="1755648" cy="20116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TEST IMAGE: DOG.JPG</a:t>
            </a:r>
          </a:p>
        </p:txBody>
      </p:sp>
      <p:sp>
        <p:nvSpPr>
          <p:cNvPr id="12" name="Rounded Rectangle 11"/>
          <p:cNvSpPr/>
          <p:nvPr/>
        </p:nvSpPr>
        <p:spPr>
          <a:xfrm>
            <a:off x="4983480" y="2112264"/>
            <a:ext cx="6693408" cy="1042415"/>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983480" y="2112264"/>
            <a:ext cx="41148" cy="1042415"/>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66360" y="2276856"/>
            <a:ext cx="6327648"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MobileNetV2: Samoyed #258</a:t>
            </a:r>
          </a:p>
        </p:txBody>
      </p:sp>
      <p:sp>
        <p:nvSpPr>
          <p:cNvPr id="15" name="TextBox 14"/>
          <p:cNvSpPr txBox="1"/>
          <p:nvPr/>
        </p:nvSpPr>
        <p:spPr>
          <a:xfrm>
            <a:off x="5166360" y="2724912"/>
            <a:ext cx="6327648" cy="384047"/>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Logit 90; next recorded class is thunder snake (72).</a:t>
            </a:r>
          </a:p>
        </p:txBody>
      </p:sp>
      <p:sp>
        <p:nvSpPr>
          <p:cNvPr id="16" name="Rounded Rectangle 15"/>
          <p:cNvSpPr/>
          <p:nvPr/>
        </p:nvSpPr>
        <p:spPr>
          <a:xfrm>
            <a:off x="4983480" y="3364992"/>
            <a:ext cx="6693408" cy="1042415"/>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83480" y="3364992"/>
            <a:ext cx="41148" cy="1042415"/>
          </a:xfrm>
          <a:prstGeom prst="rect">
            <a:avLst/>
          </a:prstGeom>
          <a:solidFill>
            <a:srgbClr val="FFC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66360" y="3529584"/>
            <a:ext cx="6327648"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EfficientNet-B0: three-way top tie</a:t>
            </a:r>
          </a:p>
        </p:txBody>
      </p:sp>
      <p:sp>
        <p:nvSpPr>
          <p:cNvPr id="19" name="TextBox 18"/>
          <p:cNvSpPr txBox="1"/>
          <p:nvPr/>
        </p:nvSpPr>
        <p:spPr>
          <a:xfrm>
            <a:off x="5166360" y="3977640"/>
            <a:ext cx="6327648" cy="384047"/>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Samoyed, ibex and analog clock all saturate at 127.</a:t>
            </a:r>
          </a:p>
        </p:txBody>
      </p:sp>
      <p:sp>
        <p:nvSpPr>
          <p:cNvPr id="20" name="TextBox 19"/>
          <p:cNvSpPr txBox="1"/>
          <p:nvPr/>
        </p:nvSpPr>
        <p:spPr>
          <a:xfrm>
            <a:off x="5166360" y="4754880"/>
            <a:ext cx="5943600" cy="411480"/>
          </a:xfrm>
          <a:prstGeom prst="rect">
            <a:avLst/>
          </a:prstGeom>
          <a:noFill/>
        </p:spPr>
        <p:txBody>
          <a:bodyPr wrap="square" lIns="13716" tIns="0" rIns="13716" bIns="0">
            <a:spAutoFit/>
          </a:bodyPr>
          <a:lstStyle/>
          <a:p>
            <a:pPr>
              <a:spcAft>
                <a:spcPts val="500"/>
              </a:spcAft>
              <a:defRPr sz="2100" b="1">
                <a:solidFill>
                  <a:srgbClr val="FFFFFF"/>
                </a:solidFill>
                <a:latin typeface="Aptos"/>
              </a:defRPr>
            </a:pPr>
            <a:r>
              <a:t>What the evidence supports</a:t>
            </a:r>
          </a:p>
        </p:txBody>
      </p:sp>
      <p:sp>
        <p:nvSpPr>
          <p:cNvPr id="21" name="TextBox 20"/>
          <p:cNvSpPr txBox="1"/>
          <p:nvPr/>
        </p:nvSpPr>
        <p:spPr>
          <a:xfrm>
            <a:off x="5166360" y="5303520"/>
            <a:ext cx="6035040" cy="685800"/>
          </a:xfrm>
          <a:prstGeom prst="rect">
            <a:avLst/>
          </a:prstGeom>
          <a:noFill/>
        </p:spPr>
        <p:txBody>
          <a:bodyPr wrap="square" lIns="13716" tIns="0" rIns="13716" bIns="0">
            <a:spAutoFit/>
          </a:bodyPr>
          <a:lstStyle/>
          <a:p>
            <a:pPr>
              <a:spcAft>
                <a:spcPts val="500"/>
              </a:spcAft>
              <a:defRPr sz="1700" b="0">
                <a:solidFill>
                  <a:srgbClr val="A8B7CF"/>
                </a:solidFill>
                <a:latin typeface="Aptos"/>
              </a:defRPr>
            </a:pPr>
            <a:r>
              <a:t>Exact agreement with the logged quantized reference.</a:t>
            </a:r>
          </a:p>
          <a:p>
            <a:pPr>
              <a:spcAft>
                <a:spcPts val="500"/>
              </a:spcAft>
              <a:defRPr sz="1700" b="0">
                <a:solidFill>
                  <a:srgbClr val="A8B7CF"/>
                </a:solidFill>
                <a:latin typeface="Aptos"/>
              </a:defRPr>
            </a:pPr>
            <a:r>
              <a:t>A limited sample; held-out dataset accuracy remains open.</a:t>
            </a:r>
          </a:p>
        </p:txBody>
      </p:sp>
      <p:sp>
        <p:nvSpPr>
          <p:cNvPr id="23" name="TextBox 22">
            <a:extLst>
              <a:ext uri="{FF2B5EF4-FFF2-40B4-BE49-F238E27FC236}">
                <a16:creationId xmlns:a16="http://schemas.microsoft.com/office/drawing/2014/main" id="{0AD385F8-5447-74C7-216C-4AB3124E6179}"/>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4404</Words>
  <Application>Microsoft Office PowerPoint</Application>
  <PresentationFormat>Widescreen</PresentationFormat>
  <Paragraphs>326</Paragraphs>
  <Slides>11</Slides>
  <Notes>11</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Accelerator Design &amp; Development | Unified C-Engine</dc:title>
  <dc:subject>AMD ZCU106 neural accelerator — repository evidence review, 19 October 2026</dc:subject>
  <dc:creator>Unified C-Engine Project</dc:creator>
  <cp:keywords>ZCU106, FPGA, systolic array, INT8, INT16, implementation</cp:keywords>
  <dc:description>generated using python-pptx</dc:description>
  <cp:lastModifiedBy>m.usman</cp:lastModifiedBy>
  <cp:revision>6</cp:revision>
  <dcterms:created xsi:type="dcterms:W3CDTF">2013-01-27T09:14:16Z</dcterms:created>
  <dcterms:modified xsi:type="dcterms:W3CDTF">2026-10-20T07:59:49Z</dcterms:modified>
  <cp:category/>
</cp:coreProperties>
</file>